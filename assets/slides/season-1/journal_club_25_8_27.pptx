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85" r:id="rId3"/>
    <p:sldId id="276" r:id="rId4"/>
    <p:sldId id="274" r:id="rId5"/>
    <p:sldId id="275" r:id="rId6"/>
    <p:sldId id="277" r:id="rId7"/>
    <p:sldId id="281" r:id="rId8"/>
    <p:sldId id="287" r:id="rId9"/>
    <p:sldId id="289" r:id="rId10"/>
    <p:sldId id="282" r:id="rId11"/>
    <p:sldId id="278" r:id="rId12"/>
    <p:sldId id="279" r:id="rId13"/>
    <p:sldId id="288" r:id="rId14"/>
    <p:sldId id="283" r:id="rId15"/>
    <p:sldId id="284" r:id="rId16"/>
    <p:sldId id="28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38"/>
    <p:restoredTop sz="84286"/>
  </p:normalViewPr>
  <p:slideViewPr>
    <p:cSldViewPr snapToGrid="0">
      <p:cViewPr varScale="1">
        <p:scale>
          <a:sx n="114" d="100"/>
          <a:sy n="114" d="100"/>
        </p:scale>
        <p:origin x="600" y="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96A8E-5298-CD49-A4DA-59A63DB36980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E19849-7DB1-2B43-BB88-B41357F74C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950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no DFT expert, or even really a novice. However, one key point that the authors discuss is the idea of “tasks” and it is an important part of inference and training in this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19849-7DB1-2B43-BB88-B41357F74C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626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model that really comes close in performance to UMA-M is </a:t>
            </a:r>
            <a:r>
              <a:rPr lang="en-US" dirty="0" err="1"/>
              <a:t>eSEN</a:t>
            </a:r>
            <a:r>
              <a:rPr lang="en-US" dirty="0"/>
              <a:t>, which is much slower.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19849-7DB1-2B43-BB88-B41357F74C8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6955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three costs associated with the model that I am referencing when I talk about speed/resources.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Training data generation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Training</a:t>
            </a:r>
          </a:p>
          <a:p>
            <a:pPr marL="228600" indent="-228600">
              <a:buFont typeface="+mj-lt"/>
              <a:buAutoNum type="arabicPeriod"/>
            </a:pPr>
            <a:r>
              <a:rPr lang="en-US" dirty="0"/>
              <a:t>Inference</a:t>
            </a:r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0" indent="0">
              <a:buFont typeface="+mj-lt"/>
              <a:buNone/>
            </a:pPr>
            <a:r>
              <a:rPr lang="en-US" dirty="0"/>
              <a:t>One advantage is the centralization of resources. One person doing this for their own research almost definitely doesn’t make sense. At a certain scale, probably. Therefore, how many people have to use the model for it to make sense as an investment of resources?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E19849-7DB1-2B43-BB88-B41357F74C8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928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07DA6-0DDC-CEA9-047C-6B6B30B9A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B750BA-C639-1443-AD69-F5CCF97B2F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08031A-A1D8-1590-9DC2-BD88CFD5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D6EDA-7E10-C1E2-1BE5-F77B6A269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B30BE4-A627-F529-71C9-3F0EE7B49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55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97E52-7EAF-F92B-3448-687695925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E7F1A-22FF-88AB-CFF7-0BDD4AA26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927F2-7005-8518-A2BC-6116B5193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BF98A-20B7-3C07-3DED-72E781B1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EBFF2-6533-DE8C-EDB0-26CBAA784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44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E34D6-1B02-E1B2-974E-C3D71833F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F3BE7-F969-AFFC-701B-C05620E26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7D68F-FE98-06C6-2358-3934FB2AE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DF8B9-2604-7CB2-4C49-367B3AD12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50F5A-8AF9-3A79-E789-80B15F3B1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1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1493-0290-F922-DC7F-04958DBB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D7483-4630-D12D-B2D2-BAFC7A1685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E344F-DCB7-9335-6A80-44C3EF52AC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D11C32-0F69-B698-F224-1F73F4A59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23CC9-E872-11AC-FC3F-A947E5BCD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C744F6-851B-B54E-7BC8-491D8B73A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60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E8B06-71CE-3E73-F7F5-78718F9A1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44344-269C-F242-ADD4-6AA76C5E4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5B030D-038D-07BA-8FC2-0DB527F05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6C5D90-FE07-EFBD-8C32-386000A7A8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BFBBDB-8593-C29A-191F-7D81EE937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F5745-A6AA-3DD9-38FE-9A7CA20DF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59650B-3E7C-B684-CBE1-7E505E985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91BC1C-3C63-3A25-73E5-92E1DA94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91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08B21-21C1-BDCD-9DC5-9D9A11AA7E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DF7A43-1754-0D96-ACCF-13118AC5E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B510A0-2206-8140-6B9D-AD9028F5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D43A0-F5C9-AB0B-2BD2-597619D7C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85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9FDB84-69BC-6794-F1D8-E883E09F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72ADF5-C90D-FC3D-E242-FFED94F9E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3C44B-6FE5-1643-2B28-5A51856A4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12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E18DB-FD5A-DCD8-682A-505D2777B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02126-07A7-60A0-9D17-B64C53C5C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F17BAA-550A-2861-EAE1-69E37208EE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F3D61-6157-5F4C-66EB-1B7BC0A5A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387A7F-5B50-5404-6F60-7C2E7DC04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641EF-0589-BFBB-7B75-A4FE69E5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63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B11A6-3699-C2BE-A442-2BA1FD2B7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90B33C-6FCF-FCC9-2461-CA5ACD11A3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3088FF-DD9D-D78F-37F1-8E295C2A7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AB5B9-01A1-BA16-D38A-7023FB5F9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AD82D3-D74F-2894-90C6-42453A669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D6469-7FF8-DFA5-D778-4DED6746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700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0A43B-2997-BB21-5ED4-9805A34E8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872ABF-F512-6CC7-4D78-47D0C7C34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ED796-A2E9-F4C5-DC65-3DAFB97D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D6FBC-34E3-BCD3-D1C8-6469F73DE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AEC02-2FC5-DFF0-7458-46C04C40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45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DE64C3-02BF-2D08-F993-E8F475BC53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4963F4-81A3-5855-2204-441B85B7D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97F29-4FB9-4872-3044-257400F66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716808-B982-B71C-4F21-579A36062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125209-F647-5292-7093-201468168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659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0944AC-BFC7-BE24-17A5-0EAA7CDDC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2875B8-36ED-196F-BBCF-39BC53F2F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3EBB1-ACB5-A2B5-EB28-583655F884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ED058-5680-7846-B8F7-EFA61FD1F85A}" type="datetimeFigureOut">
              <a:rPr lang="en-US" smtClean="0"/>
              <a:t>8/24/25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4270D-5330-766F-1711-0881F3E075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EC0CA-A68D-AE99-1BDA-0A8860B8E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E6E1C-A412-A443-AF75-36493B8757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559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rosengroup.slite.page/p/aB9lJgMlWcVnsm/UMA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6EF69-6439-80A8-45C0-8ECFC3040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8483" y="1041400"/>
            <a:ext cx="10195034" cy="2387600"/>
          </a:xfrm>
        </p:spPr>
        <p:txBody>
          <a:bodyPr>
            <a:normAutofit/>
          </a:bodyPr>
          <a:lstStyle/>
          <a:p>
            <a:r>
              <a:rPr lang="en-US" sz="4800" dirty="0"/>
              <a:t>MLIP Journal Club: Foundation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6E5C7D-5F71-246D-40AF-C4015C911E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b="1" dirty="0"/>
              <a:t>8/27/25</a:t>
            </a:r>
          </a:p>
          <a:p>
            <a:r>
              <a:rPr lang="en-US" sz="2800" i="1" dirty="0"/>
              <a:t>Paper –</a:t>
            </a:r>
            <a:r>
              <a:rPr lang="en-US" sz="2800" dirty="0"/>
              <a:t> UMA: A Family of Universal Models for Atoms</a:t>
            </a:r>
          </a:p>
          <a:p>
            <a:r>
              <a:rPr lang="en-US" sz="2800" i="1" dirty="0"/>
              <a:t>Presentation –</a:t>
            </a:r>
            <a:r>
              <a:rPr lang="en-US" sz="2800" dirty="0"/>
              <a:t> Wesley Oliver</a:t>
            </a:r>
          </a:p>
        </p:txBody>
      </p:sp>
    </p:spTree>
    <p:extLst>
      <p:ext uri="{BB962C8B-B14F-4D97-AF65-F5344CB8AC3E}">
        <p14:creationId xmlns:p14="http://schemas.microsoft.com/office/powerpoint/2010/main" val="24555834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48751-681B-AA05-D167-5D6B714E9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1DE3C-8607-7454-ACDC-D0087CB3C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review of paper</a:t>
            </a:r>
          </a:p>
          <a:p>
            <a:r>
              <a:rPr lang="en-US" dirty="0"/>
              <a:t>Short demonstration</a:t>
            </a:r>
          </a:p>
          <a:p>
            <a:r>
              <a:rPr lang="en-US" dirty="0"/>
              <a:t>Further discussion</a:t>
            </a:r>
          </a:p>
        </p:txBody>
      </p:sp>
    </p:spTree>
    <p:extLst>
      <p:ext uri="{BB962C8B-B14F-4D97-AF65-F5344CB8AC3E}">
        <p14:creationId xmlns:p14="http://schemas.microsoft.com/office/powerpoint/2010/main" val="13523653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7AFFE-C5B7-35B9-157A-F28D2E5BA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Paper by Wood and FAIR team at Meta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173C45-3C38-E82E-AA3B-656734341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Brandon Wood - Research Scientist ...">
            <a:extLst>
              <a:ext uri="{FF2B5EF4-FFF2-40B4-BE49-F238E27FC236}">
                <a16:creationId xmlns:a16="http://schemas.microsoft.com/office/drawing/2014/main" id="{3277E40C-BB33-1ACB-AB0A-A1F6069AC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806" y="1812049"/>
            <a:ext cx="1689664" cy="1689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troducing Meta: A Social Technology ...">
            <a:extLst>
              <a:ext uri="{FF2B5EF4-FFF2-40B4-BE49-F238E27FC236}">
                <a16:creationId xmlns:a16="http://schemas.microsoft.com/office/drawing/2014/main" id="{687B960F-AC04-06A3-0827-1A253CD86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7079" y="1837229"/>
            <a:ext cx="2188115" cy="1638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F2597B-8590-0D23-EF00-62B6C52B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001294"/>
            <a:ext cx="12192000" cy="9801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599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A74A06-DBE8-FC9C-9A66-B31A50966D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396183"/>
            <a:ext cx="12192000" cy="98016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70C6F6-D05D-9C5E-4A31-90B633CE82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 models are extremely general purpose MLIPs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AC3FA-E914-6F76-4DE4-BC60E2860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model to rule them all</a:t>
            </a:r>
          </a:p>
          <a:p>
            <a:r>
              <a:rPr lang="en-US" dirty="0"/>
              <a:t>Capable of performing across different elements and “tasks” (ideally well, but this is hard)</a:t>
            </a:r>
          </a:p>
          <a:p>
            <a:pPr lvl="1"/>
            <a:r>
              <a:rPr lang="en-US" dirty="0"/>
              <a:t>Materials</a:t>
            </a:r>
          </a:p>
          <a:p>
            <a:pPr lvl="1"/>
            <a:r>
              <a:rPr lang="en-US" dirty="0"/>
              <a:t>Catalysts</a:t>
            </a:r>
          </a:p>
          <a:p>
            <a:pPr lvl="1"/>
            <a:r>
              <a:rPr lang="en-US" dirty="0"/>
              <a:t>Molecules</a:t>
            </a:r>
          </a:p>
          <a:p>
            <a:r>
              <a:rPr lang="en-US" dirty="0"/>
              <a:t>UMA is Meta’s attempt at creating a foundation model</a:t>
            </a:r>
          </a:p>
        </p:txBody>
      </p:sp>
    </p:spTree>
    <p:extLst>
      <p:ext uri="{BB962C8B-B14F-4D97-AF65-F5344CB8AC3E}">
        <p14:creationId xmlns:p14="http://schemas.microsoft.com/office/powerpoint/2010/main" val="2744823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F02B1-AE60-293C-ED7C-5774375C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 is trained on a large and diverse chemical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2DECA-3A1A-6D35-0A07-D2165C1F8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73609"/>
          </a:xfrm>
        </p:spPr>
        <p:txBody>
          <a:bodyPr/>
          <a:lstStyle/>
          <a:p>
            <a:r>
              <a:rPr lang="en-US" dirty="0"/>
              <a:t>Three model sizes</a:t>
            </a:r>
          </a:p>
          <a:p>
            <a:pPr lvl="1"/>
            <a:r>
              <a:rPr lang="en-US" dirty="0"/>
              <a:t>Small (S), medium (M), and large (L)</a:t>
            </a:r>
          </a:p>
          <a:p>
            <a:r>
              <a:rPr lang="en-US" dirty="0"/>
              <a:t>Training data containing ~500 million atomic systems across five “tasks”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1090893-40B3-08A3-F9DB-F3A1D2AB0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207350"/>
            <a:ext cx="7772400" cy="2376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25FA6F-DA5F-FF7D-BFD0-C4A3E0A5A224}"/>
              </a:ext>
            </a:extLst>
          </p:cNvPr>
          <p:cNvSpPr txBox="1"/>
          <p:nvPr/>
        </p:nvSpPr>
        <p:spPr>
          <a:xfrm>
            <a:off x="2231686" y="3503183"/>
            <a:ext cx="1220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omol</a:t>
            </a:r>
            <a:endParaRPr lang="en-US" i="1" dirty="0"/>
          </a:p>
          <a:p>
            <a:pPr algn="ctr"/>
            <a:r>
              <a:rPr lang="en-US" sz="1400" dirty="0"/>
              <a:t>Molecules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7DEED7-8B4B-8930-FE3C-4FFB0DF8E33F}"/>
              </a:ext>
            </a:extLst>
          </p:cNvPr>
          <p:cNvSpPr txBox="1"/>
          <p:nvPr/>
        </p:nvSpPr>
        <p:spPr>
          <a:xfrm>
            <a:off x="3452508" y="3503183"/>
            <a:ext cx="12208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omat</a:t>
            </a:r>
            <a:endParaRPr lang="en-US" i="1" dirty="0"/>
          </a:p>
          <a:p>
            <a:pPr algn="ctr"/>
            <a:r>
              <a:rPr lang="en-US" sz="1400" dirty="0"/>
              <a:t>Inorganic Materials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776738-A53E-E114-AA41-1C81A313A213}"/>
              </a:ext>
            </a:extLst>
          </p:cNvPr>
          <p:cNvSpPr txBox="1"/>
          <p:nvPr/>
        </p:nvSpPr>
        <p:spPr>
          <a:xfrm>
            <a:off x="4673330" y="3503183"/>
            <a:ext cx="1220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oc20</a:t>
            </a:r>
          </a:p>
          <a:p>
            <a:pPr algn="ctr"/>
            <a:r>
              <a:rPr lang="en-US" sz="1400" dirty="0"/>
              <a:t>Catalysis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DC6E066-F136-D07E-3E27-FEB33FC0F8CE}"/>
              </a:ext>
            </a:extLst>
          </p:cNvPr>
          <p:cNvSpPr txBox="1"/>
          <p:nvPr/>
        </p:nvSpPr>
        <p:spPr>
          <a:xfrm>
            <a:off x="5894152" y="3503183"/>
            <a:ext cx="122082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omc</a:t>
            </a:r>
            <a:endParaRPr lang="en-US" i="1" dirty="0"/>
          </a:p>
          <a:p>
            <a:pPr algn="ctr"/>
            <a:r>
              <a:rPr lang="en-US" sz="1400" dirty="0"/>
              <a:t>Molecular Crystals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D8FFCE-3A87-C57C-F347-9E068FDA4A1E}"/>
              </a:ext>
            </a:extLst>
          </p:cNvPr>
          <p:cNvSpPr txBox="1"/>
          <p:nvPr/>
        </p:nvSpPr>
        <p:spPr>
          <a:xfrm>
            <a:off x="7114974" y="3503183"/>
            <a:ext cx="12208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 err="1"/>
              <a:t>odac</a:t>
            </a:r>
            <a:endParaRPr lang="en-US" i="1" dirty="0"/>
          </a:p>
          <a:p>
            <a:pPr algn="ctr"/>
            <a:r>
              <a:rPr lang="en-US" sz="1400" dirty="0"/>
              <a:t>MOFs</a:t>
            </a:r>
          </a:p>
        </p:txBody>
      </p:sp>
    </p:spTree>
    <p:extLst>
      <p:ext uri="{BB962C8B-B14F-4D97-AF65-F5344CB8AC3E}">
        <p14:creationId xmlns:p14="http://schemas.microsoft.com/office/powerpoint/2010/main" val="19382299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10" grpId="0"/>
      <p:bldP spid="11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61295-8E23-033F-2EA0-F04EA63F4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 model architecture follows that of </a:t>
            </a:r>
            <a:r>
              <a:rPr lang="en-US" dirty="0" err="1"/>
              <a:t>eSEN</a:t>
            </a:r>
            <a:r>
              <a:rPr lang="en-US" dirty="0"/>
              <a:t> (graph-NN) with some key modifications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89C6C-7367-6C69-9ADB-C53339909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3653" y="1825625"/>
            <a:ext cx="5850147" cy="4667250"/>
          </a:xfrm>
        </p:spPr>
        <p:txBody>
          <a:bodyPr>
            <a:normAutofit fontScale="92500"/>
          </a:bodyPr>
          <a:lstStyle/>
          <a:p>
            <a:r>
              <a:rPr lang="en-US" dirty="0"/>
              <a:t>On top of </a:t>
            </a:r>
            <a:r>
              <a:rPr lang="en-US" dirty="0" err="1"/>
              <a:t>eSEN</a:t>
            </a:r>
            <a:r>
              <a:rPr lang="en-US" dirty="0"/>
              <a:t> inputs of positions and atomic numbers, UMA takes…</a:t>
            </a:r>
          </a:p>
          <a:p>
            <a:pPr lvl="1"/>
            <a:r>
              <a:rPr lang="en-US" dirty="0"/>
              <a:t>Charge</a:t>
            </a:r>
          </a:p>
          <a:p>
            <a:pPr lvl="1"/>
            <a:r>
              <a:rPr lang="en-US" dirty="0"/>
              <a:t>Spin</a:t>
            </a:r>
          </a:p>
          <a:p>
            <a:pPr lvl="1"/>
            <a:r>
              <a:rPr lang="en-US" dirty="0"/>
              <a:t>DFT “task”</a:t>
            </a:r>
          </a:p>
          <a:p>
            <a:r>
              <a:rPr lang="en-US" dirty="0"/>
              <a:t>Uses a Mixture of Linear Experts (</a:t>
            </a:r>
            <a:r>
              <a:rPr lang="en-US" dirty="0" err="1"/>
              <a:t>MoLE</a:t>
            </a:r>
            <a:r>
              <a:rPr lang="en-US" dirty="0"/>
              <a:t>)</a:t>
            </a:r>
          </a:p>
          <a:p>
            <a:pPr lvl="1"/>
            <a:r>
              <a:rPr lang="en-US" i="1" dirty="0"/>
              <a:t>Allows for scaling of parameters without scaling of inference cost</a:t>
            </a:r>
            <a:endParaRPr lang="en-US" dirty="0"/>
          </a:p>
          <a:p>
            <a:r>
              <a:rPr lang="en-US" dirty="0"/>
              <a:t>Two step training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Train on forces directly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Refine for on conserving forces for energy conservation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3953BA-3230-828B-0141-0E1B968837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094"/>
          <a:stretch>
            <a:fillRect/>
          </a:stretch>
        </p:blipFill>
        <p:spPr>
          <a:xfrm>
            <a:off x="575816" y="2352900"/>
            <a:ext cx="4699598" cy="32967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F5A98D-AFB8-28DA-2F0B-426271DEA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192084"/>
            <a:ext cx="7772400" cy="237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84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5B7C8-59DC-0F67-8C2F-D3DC85D755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2" y="1825625"/>
                <a:ext cx="10370388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experts have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In Mixture of Experts (</a:t>
                </a:r>
                <a:r>
                  <a:rPr lang="en-US" dirty="0" err="1"/>
                  <a:t>MoE</a:t>
                </a:r>
                <a:r>
                  <a:rPr lang="en-US" dirty="0"/>
                  <a:t>), output is a “sparse weighted combination” of weights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i="1" dirty="0"/>
                  <a:t>Potentially discontinuous</a:t>
                </a:r>
              </a:p>
              <a:p>
                <a:pPr lvl="1"/>
                <a:r>
                  <a:rPr lang="en-US" i="1" dirty="0"/>
                  <a:t>Does not preserve equivariance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85B7C8-59DC-0F67-8C2F-D3DC85D755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2" y="1825625"/>
                <a:ext cx="10370388" cy="4351338"/>
              </a:xfrm>
              <a:blipFill>
                <a:blip r:embed="rId2"/>
                <a:stretch>
                  <a:fillRect l="-978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565838A1-A8F6-1770-9C45-4ADECFA9D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 and Linear Experts (</a:t>
            </a:r>
            <a:r>
              <a:rPr lang="en-US" dirty="0" err="1"/>
              <a:t>MoE</a:t>
            </a:r>
            <a:r>
              <a:rPr lang="en-US" dirty="0"/>
              <a:t> and </a:t>
            </a:r>
            <a:r>
              <a:rPr lang="en-US" dirty="0" err="1"/>
              <a:t>MoLE</a:t>
            </a:r>
            <a:r>
              <a:rPr lang="en-US" dirty="0"/>
              <a:t>): A Hack Explanation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4BD7A-DBEA-3E3D-5A64-420C19EA91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94"/>
          <a:stretch>
            <a:fillRect/>
          </a:stretch>
        </p:blipFill>
        <p:spPr>
          <a:xfrm>
            <a:off x="-5523051" y="2352900"/>
            <a:ext cx="4699598" cy="329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339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9FE94-E67E-5DD1-9BC6-EEBFE9E21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0AF7BE-8A63-B08B-08AE-5CAA445C3F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83412" y="1825624"/>
                <a:ext cx="10370388" cy="512726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Mixture of Linear Experts (</a:t>
                </a:r>
                <a:r>
                  <a:rPr lang="en-US" dirty="0" err="1"/>
                  <a:t>MoLE</a:t>
                </a:r>
                <a:r>
                  <a:rPr lang="en-US" dirty="0"/>
                  <a:t>), output is based on linear combination of all experts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are computed based on invariant properties such as composition, task to precompute weights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Precomputed weights means less parameters, faster inference</a:t>
                </a:r>
              </a:p>
              <a:p>
                <a:r>
                  <a:rPr lang="en-US" i="1" dirty="0"/>
                  <a:t>Advantages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Continuous (conserve energy)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Equivariant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Faster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C0AF7BE-8A63-B08B-08AE-5CAA445C3F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83412" y="1825624"/>
                <a:ext cx="10370388" cy="5127267"/>
              </a:xfrm>
              <a:blipFill>
                <a:blip r:embed="rId2"/>
                <a:stretch>
                  <a:fillRect l="-978" t="-1975" r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1B6853F2-01F8-C8F6-467F-B3CC029BE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Mixture of Experts and Linear Experts (</a:t>
            </a:r>
            <a:r>
              <a:rPr lang="en-US" dirty="0" err="1"/>
              <a:t>MoE</a:t>
            </a:r>
            <a:r>
              <a:rPr lang="en-US" dirty="0"/>
              <a:t> and </a:t>
            </a:r>
            <a:r>
              <a:rPr lang="en-US" dirty="0" err="1"/>
              <a:t>MoLE</a:t>
            </a:r>
            <a:r>
              <a:rPr lang="en-US" dirty="0"/>
              <a:t>): A Hack Explanation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4D33C9-5FC1-5C70-7442-EB1C43920F01}"/>
                  </a:ext>
                </a:extLst>
              </p:cNvPr>
              <p:cNvSpPr txBox="1"/>
              <p:nvPr/>
            </p:nvSpPr>
            <p:spPr>
              <a:xfrm>
                <a:off x="4003194" y="3929866"/>
                <a:ext cx="9438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4D33C9-5FC1-5C70-7442-EB1C43920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194" y="3929866"/>
                <a:ext cx="943848" cy="276999"/>
              </a:xfrm>
              <a:prstGeom prst="rect">
                <a:avLst/>
              </a:prstGeom>
              <a:blipFill>
                <a:blip r:embed="rId3"/>
                <a:stretch>
                  <a:fillRect l="-5333" r="-2667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3B98FF-C631-57C3-52DA-BB2F08AD4156}"/>
                  </a:ext>
                </a:extLst>
              </p:cNvPr>
              <p:cNvSpPr txBox="1"/>
              <p:nvPr/>
            </p:nvSpPr>
            <p:spPr>
              <a:xfrm>
                <a:off x="6322398" y="3708750"/>
                <a:ext cx="1866408" cy="736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nary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E3B98FF-C631-57C3-52DA-BB2F08AD41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398" y="3708750"/>
                <a:ext cx="1866408" cy="736484"/>
              </a:xfrm>
              <a:prstGeom prst="rect">
                <a:avLst/>
              </a:prstGeom>
              <a:blipFill>
                <a:blip r:embed="rId4"/>
                <a:stretch>
                  <a:fillRect l="-3378" t="-123729" b="-183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6E9B84AB-A76B-9F0E-D809-AE77E167568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094"/>
          <a:stretch>
            <a:fillRect/>
          </a:stretch>
        </p:blipFill>
        <p:spPr>
          <a:xfrm>
            <a:off x="-5523051" y="2352900"/>
            <a:ext cx="4699598" cy="3296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994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3C8DC-0D56-1593-9644-FB40BB9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of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49D9F-80D9-3549-A496-B2072303B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994515" cy="4351338"/>
          </a:xfrm>
        </p:spPr>
        <p:txBody>
          <a:bodyPr/>
          <a:lstStyle/>
          <a:p>
            <a:r>
              <a:rPr lang="en-US" dirty="0"/>
              <a:t>How important is choice of “task”?</a:t>
            </a:r>
          </a:p>
          <a:p>
            <a:pPr lvl="1"/>
            <a:r>
              <a:rPr lang="en-US" dirty="0"/>
              <a:t>Between “tasks” only certain functionals are appropriate</a:t>
            </a:r>
          </a:p>
          <a:p>
            <a:pPr lvl="1"/>
            <a:r>
              <a:rPr lang="en-US" dirty="0"/>
              <a:t>Within a “task”, what are tradeoffs between functionals? </a:t>
            </a:r>
          </a:p>
          <a:p>
            <a:pPr lvl="1"/>
            <a:r>
              <a:rPr lang="en-US" dirty="0"/>
              <a:t>Prof. Rosen’s recent comment on LinkedIn</a:t>
            </a:r>
          </a:p>
          <a:p>
            <a:pPr lvl="1"/>
            <a:endParaRPr lang="en-US" dirty="0"/>
          </a:p>
          <a:p>
            <a:r>
              <a:rPr lang="en-US" dirty="0"/>
              <a:t>Property calculation</a:t>
            </a:r>
          </a:p>
          <a:p>
            <a:pPr lvl="1"/>
            <a:r>
              <a:rPr lang="en-US" dirty="0"/>
              <a:t>The ability to calculate other properties seems highly relevant and an advantage over classical MD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49A7CB-B8FD-4F7F-7FCE-585DC3867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2715" y="1690688"/>
            <a:ext cx="3275788" cy="368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803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80F6E-8DA0-EE1D-CBF7-EE32BABB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Multi-task training can offer benefits over single-task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F6429-A85B-CECD-BEF0-43FDC8C81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3849" y="1963198"/>
            <a:ext cx="4121989" cy="4351338"/>
          </a:xfrm>
        </p:spPr>
        <p:txBody>
          <a:bodyPr/>
          <a:lstStyle/>
          <a:p>
            <a:r>
              <a:rPr lang="en-US" dirty="0"/>
              <a:t>For UMA-S, multi-task training is worse for dense models, but better with </a:t>
            </a:r>
            <a:r>
              <a:rPr lang="en-US" dirty="0" err="1"/>
              <a:t>MoLE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52A6C-BFFC-569F-CBFE-BD11FE6C40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907" t="56652"/>
          <a:stretch>
            <a:fillRect/>
          </a:stretch>
        </p:blipFill>
        <p:spPr>
          <a:xfrm>
            <a:off x="7117702" y="3795480"/>
            <a:ext cx="3798905" cy="2792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C4D7F8-D8E1-79B4-EEC1-D36BD441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1907" b="44271"/>
          <a:stretch>
            <a:fillRect/>
          </a:stretch>
        </p:blipFill>
        <p:spPr>
          <a:xfrm>
            <a:off x="1558973" y="3659761"/>
            <a:ext cx="3176414" cy="3001618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707A1A5-3619-7257-3E44-D21DC653F17C}"/>
              </a:ext>
            </a:extLst>
          </p:cNvPr>
          <p:cNvSpPr txBox="1">
            <a:spLocks/>
          </p:cNvSpPr>
          <p:nvPr/>
        </p:nvSpPr>
        <p:spPr>
          <a:xfrm>
            <a:off x="7048690" y="1968649"/>
            <a:ext cx="412198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Improvement is limited beyond a certain number of “experts”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7518752-590C-D4B6-2D0B-1034AB7DF2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0326" y="1690688"/>
            <a:ext cx="3275788" cy="368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5853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AA32B-E8CA-6A7A-EC18-D8E1AF702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large models, multi-task training improves model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E16F5-4122-51AF-3CD5-4BFED38C26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Training UMA-L (large, dense model)</a:t>
            </a:r>
          </a:p>
          <a:p>
            <a:r>
              <a:rPr lang="en-US" dirty="0"/>
              <a:t>Improvement in mean absolute error (MAE) for energies during multi-task training over single-task training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A66740-4026-5CF4-2633-E6D544BBD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637" y="3857411"/>
            <a:ext cx="10060726" cy="26354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F3B9ED-CAFF-9A56-7583-1C17F229AB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907" t="56652"/>
          <a:stretch>
            <a:fillRect/>
          </a:stretch>
        </p:blipFill>
        <p:spPr>
          <a:xfrm>
            <a:off x="12751227" y="3795480"/>
            <a:ext cx="3798905" cy="27923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B2CE9E-EC61-8404-315E-6473B8EB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1907" b="44271"/>
          <a:stretch>
            <a:fillRect/>
          </a:stretch>
        </p:blipFill>
        <p:spPr>
          <a:xfrm>
            <a:off x="-3654140" y="3659761"/>
            <a:ext cx="3176414" cy="3001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6380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034EA-B473-45F0-8DEC-81D2459BD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 times are good compared to other models when factoring in accuracy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C74B0-DE27-B9C3-5E8B-18D2F2F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258347"/>
          </a:xfrm>
        </p:spPr>
        <p:txBody>
          <a:bodyPr>
            <a:normAutofit/>
          </a:bodyPr>
          <a:lstStyle/>
          <a:p>
            <a:r>
              <a:rPr lang="en-US" dirty="0"/>
              <a:t>Inference speeds shown (in steps per second) are for 6Å cutoff and ~50 neighbors within that cutoff on an H100 80GB GPU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more context, UMA-S is getting 1.4 ns/day with 1000 atoms</a:t>
            </a:r>
          </a:p>
          <a:p>
            <a:pPr lvl="1"/>
            <a:r>
              <a:rPr lang="en-US" dirty="0"/>
              <a:t>GROMACS simulation I ran got 190 ns/day with 33480 atoms on 32 </a:t>
            </a:r>
            <a:r>
              <a:rPr lang="en-US" dirty="0" err="1"/>
              <a:t>cpus</a:t>
            </a:r>
            <a:endParaRPr lang="en-US" dirty="0"/>
          </a:p>
          <a:p>
            <a:pPr lvl="1"/>
            <a:r>
              <a:rPr lang="en-US" dirty="0"/>
              <a:t>Claude says an AIMD simulation of 1000 atoms would get anywhere from 0.1-2 </a:t>
            </a:r>
            <a:r>
              <a:rPr lang="en-US" dirty="0" err="1"/>
              <a:t>ps</a:t>
            </a:r>
            <a:r>
              <a:rPr lang="en-US" dirty="0"/>
              <a:t>/day on a GPU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B595D3-2EAC-FD38-D36B-E1371AEE9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03829"/>
            <a:ext cx="7772400" cy="17779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C797E94-E8AB-17B6-6F75-B26C7953B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5637" y="7388876"/>
            <a:ext cx="10060726" cy="263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48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905E-E7D8-7CE9-8E49-466D858CB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 of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8085B-F97D-52A1-E664-5350F82B8A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Speed of models</a:t>
            </a:r>
          </a:p>
          <a:p>
            <a:pPr lvl="1"/>
            <a:r>
              <a:rPr lang="en-US" dirty="0"/>
              <a:t>What are the best use cases for these models given their speed?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Are these models really pushing the pareto front of speed/resources and accuracy?</a:t>
            </a:r>
          </a:p>
          <a:p>
            <a:pPr lvl="1"/>
            <a:r>
              <a:rPr lang="en-US" dirty="0"/>
              <a:t>Training budget uses equivalent 48 H100s (tiger3 capacity) for ~5 days</a:t>
            </a:r>
          </a:p>
          <a:p>
            <a:pPr lvl="1"/>
            <a:r>
              <a:rPr lang="en-US" dirty="0"/>
              <a:t>Training data is an additional cost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0046153-1BDE-8B46-5D13-D90075EAF0C7}"/>
              </a:ext>
            </a:extLst>
          </p:cNvPr>
          <p:cNvGrpSpPr/>
          <p:nvPr/>
        </p:nvGrpSpPr>
        <p:grpSpPr>
          <a:xfrm>
            <a:off x="4078071" y="4537494"/>
            <a:ext cx="2910610" cy="2140047"/>
            <a:chOff x="4078071" y="4537494"/>
            <a:chExt cx="2910610" cy="214004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BE05765-6DBD-5A56-C452-53B04042A148}"/>
                </a:ext>
              </a:extLst>
            </p:cNvPr>
            <p:cNvSpPr txBox="1"/>
            <p:nvPr/>
          </p:nvSpPr>
          <p:spPr>
            <a:xfrm>
              <a:off x="4078071" y="5090577"/>
              <a:ext cx="1125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Speed &amp; resources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E6906A-ACB6-7C91-7D04-5022195E5C70}"/>
                </a:ext>
              </a:extLst>
            </p:cNvPr>
            <p:cNvSpPr txBox="1"/>
            <p:nvPr/>
          </p:nvSpPr>
          <p:spPr>
            <a:xfrm>
              <a:off x="5585555" y="6308209"/>
              <a:ext cx="11135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Accuracy</a:t>
              </a:r>
            </a:p>
          </p:txBody>
        </p:sp>
        <p:sp>
          <p:nvSpPr>
            <p:cNvPr id="7" name="Up Arrow 6">
              <a:extLst>
                <a:ext uri="{FF2B5EF4-FFF2-40B4-BE49-F238E27FC236}">
                  <a16:creationId xmlns:a16="http://schemas.microsoft.com/office/drawing/2014/main" id="{CCA979E5-830F-8CEF-5D0B-0CBA41E333F3}"/>
                </a:ext>
              </a:extLst>
            </p:cNvPr>
            <p:cNvSpPr/>
            <p:nvPr/>
          </p:nvSpPr>
          <p:spPr>
            <a:xfrm>
              <a:off x="5203320" y="4537494"/>
              <a:ext cx="94928" cy="1752501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Up Arrow 8">
              <a:extLst>
                <a:ext uri="{FF2B5EF4-FFF2-40B4-BE49-F238E27FC236}">
                  <a16:creationId xmlns:a16="http://schemas.microsoft.com/office/drawing/2014/main" id="{E92D85A0-9551-02D7-A6DF-39045B164ED5}"/>
                </a:ext>
              </a:extLst>
            </p:cNvPr>
            <p:cNvSpPr/>
            <p:nvPr/>
          </p:nvSpPr>
          <p:spPr>
            <a:xfrm rot="5400000">
              <a:off x="6064967" y="5388186"/>
              <a:ext cx="94928" cy="1752501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Up-Down Arrow 14">
              <a:extLst>
                <a:ext uri="{FF2B5EF4-FFF2-40B4-BE49-F238E27FC236}">
                  <a16:creationId xmlns:a16="http://schemas.microsoft.com/office/drawing/2014/main" id="{5F1AB534-CF1E-08D8-283F-95FFFFCC6A79}"/>
                </a:ext>
              </a:extLst>
            </p:cNvPr>
            <p:cNvSpPr/>
            <p:nvPr/>
          </p:nvSpPr>
          <p:spPr>
            <a:xfrm rot="18900000">
              <a:off x="6056359" y="4537814"/>
              <a:ext cx="112144" cy="1751858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8B6F949-E143-7BEA-9C74-B12F78113E3D}"/>
              </a:ext>
            </a:extLst>
          </p:cNvPr>
          <p:cNvGrpSpPr/>
          <p:nvPr/>
        </p:nvGrpSpPr>
        <p:grpSpPr>
          <a:xfrm>
            <a:off x="5867419" y="4808346"/>
            <a:ext cx="924605" cy="721185"/>
            <a:chOff x="5867419" y="4808346"/>
            <a:chExt cx="924605" cy="721185"/>
          </a:xfrm>
        </p:grpSpPr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0CA20A9A-6FC1-1284-7498-DE80AF5E09E3}"/>
                </a:ext>
              </a:extLst>
            </p:cNvPr>
            <p:cNvSpPr/>
            <p:nvPr/>
          </p:nvSpPr>
          <p:spPr>
            <a:xfrm rot="18900000">
              <a:off x="5867419" y="5176517"/>
              <a:ext cx="552090" cy="353014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BAD126-8433-70C8-102E-BA884BC3A34B}"/>
                </a:ext>
              </a:extLst>
            </p:cNvPr>
            <p:cNvSpPr txBox="1"/>
            <p:nvPr/>
          </p:nvSpPr>
          <p:spPr>
            <a:xfrm>
              <a:off x="6096000" y="4808346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Good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B8D40C99-B1FA-2839-8267-65555AA83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-2166535"/>
            <a:ext cx="7772400" cy="1777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8816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2F57B-A0DC-2267-9A1B-F79A46B55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and training data are publicly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C905B-E8EF-69CF-B15B-7D9F5DEBD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/>
              <a:t>Models have different stated purposes</a:t>
            </a:r>
          </a:p>
          <a:p>
            <a:pPr lvl="1">
              <a:spcAft>
                <a:spcPts val="1200"/>
              </a:spcAft>
            </a:pPr>
            <a:r>
              <a:rPr lang="en-US" sz="2000" b="1" dirty="0"/>
              <a:t>UMA-S</a:t>
            </a:r>
            <a:r>
              <a:rPr lang="en-US" sz="2000" dirty="0"/>
              <a:t>: “aims to strike a balance between accuracy and efficiency and is suitable for computationally intensive applications such as long molecular dynamics simulations”</a:t>
            </a:r>
          </a:p>
          <a:p>
            <a:pPr lvl="1">
              <a:spcAft>
                <a:spcPts val="1200"/>
              </a:spcAft>
            </a:pPr>
            <a:r>
              <a:rPr lang="en-US" sz="2000" b="1" dirty="0"/>
              <a:t>UMA-M</a:t>
            </a:r>
            <a:r>
              <a:rPr lang="en-US" sz="2000" dirty="0"/>
              <a:t>: “most general-purpose model of the family” and “more accurate and can be used as a DFT surrogate for relaxations or vibrational analysis as well as for molecular dynamics”</a:t>
            </a:r>
          </a:p>
          <a:p>
            <a:pPr lvl="1">
              <a:spcAft>
                <a:spcPts val="1200"/>
              </a:spcAft>
            </a:pPr>
            <a:r>
              <a:rPr lang="en-US" sz="2000" b="1" dirty="0"/>
              <a:t>UMA-L</a:t>
            </a:r>
            <a:r>
              <a:rPr lang="en-US" sz="2000" dirty="0"/>
              <a:t>: “highly accurate DFT surrogate and is intended as a proof-of-principle to help understand scaling behavior and to demonstrate the limits of what is currently feasible”</a:t>
            </a:r>
            <a:endParaRPr lang="en-US" sz="2000" b="1" dirty="0"/>
          </a:p>
          <a:p>
            <a:pPr lvl="1">
              <a:spcAft>
                <a:spcPts val="1200"/>
              </a:spcAft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258197-ACF0-32BA-7F6D-634C43BF0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902709"/>
            <a:ext cx="7772400" cy="127425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3963AF7-7509-B2E4-C4C0-C9B55A3BBC58}"/>
              </a:ext>
            </a:extLst>
          </p:cNvPr>
          <p:cNvGrpSpPr/>
          <p:nvPr/>
        </p:nvGrpSpPr>
        <p:grpSpPr>
          <a:xfrm>
            <a:off x="4078071" y="7319612"/>
            <a:ext cx="2910610" cy="2140047"/>
            <a:chOff x="4078071" y="4537494"/>
            <a:chExt cx="2910610" cy="214004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490A609-A189-F601-82C3-73350DBC647F}"/>
                </a:ext>
              </a:extLst>
            </p:cNvPr>
            <p:cNvSpPr txBox="1"/>
            <p:nvPr/>
          </p:nvSpPr>
          <p:spPr>
            <a:xfrm>
              <a:off x="4078071" y="5090577"/>
              <a:ext cx="112524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Speed &amp; resources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149C200-8841-487F-5CC1-FCC6C0DDD774}"/>
                </a:ext>
              </a:extLst>
            </p:cNvPr>
            <p:cNvSpPr txBox="1"/>
            <p:nvPr/>
          </p:nvSpPr>
          <p:spPr>
            <a:xfrm>
              <a:off x="5585555" y="6308209"/>
              <a:ext cx="111352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Accuracy</a:t>
              </a:r>
            </a:p>
          </p:txBody>
        </p:sp>
        <p:sp>
          <p:nvSpPr>
            <p:cNvPr id="8" name="Up Arrow 7">
              <a:extLst>
                <a:ext uri="{FF2B5EF4-FFF2-40B4-BE49-F238E27FC236}">
                  <a16:creationId xmlns:a16="http://schemas.microsoft.com/office/drawing/2014/main" id="{849224F2-A7E6-F93B-BB01-5357A9154714}"/>
                </a:ext>
              </a:extLst>
            </p:cNvPr>
            <p:cNvSpPr/>
            <p:nvPr/>
          </p:nvSpPr>
          <p:spPr>
            <a:xfrm>
              <a:off x="5203320" y="4537494"/>
              <a:ext cx="94928" cy="1752501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Up Arrow 8">
              <a:extLst>
                <a:ext uri="{FF2B5EF4-FFF2-40B4-BE49-F238E27FC236}">
                  <a16:creationId xmlns:a16="http://schemas.microsoft.com/office/drawing/2014/main" id="{923AF664-DD13-B486-764A-DEB9F1BC6984}"/>
                </a:ext>
              </a:extLst>
            </p:cNvPr>
            <p:cNvSpPr/>
            <p:nvPr/>
          </p:nvSpPr>
          <p:spPr>
            <a:xfrm rot="5400000">
              <a:off x="6064967" y="5388186"/>
              <a:ext cx="94928" cy="1752501"/>
            </a:xfrm>
            <a:prstGeom prst="up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Up-Down Arrow 9">
              <a:extLst>
                <a:ext uri="{FF2B5EF4-FFF2-40B4-BE49-F238E27FC236}">
                  <a16:creationId xmlns:a16="http://schemas.microsoft.com/office/drawing/2014/main" id="{C3780686-0B04-FC36-314C-3F3B49FEC30A}"/>
                </a:ext>
              </a:extLst>
            </p:cNvPr>
            <p:cNvSpPr/>
            <p:nvPr/>
          </p:nvSpPr>
          <p:spPr>
            <a:xfrm rot="18900000">
              <a:off x="6056359" y="4537814"/>
              <a:ext cx="112144" cy="1751858"/>
            </a:xfrm>
            <a:prstGeom prst="upDownArrow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E8A1DB-403A-B829-802F-62CA9A98C891}"/>
              </a:ext>
            </a:extLst>
          </p:cNvPr>
          <p:cNvGrpSpPr/>
          <p:nvPr/>
        </p:nvGrpSpPr>
        <p:grpSpPr>
          <a:xfrm>
            <a:off x="5867419" y="7590464"/>
            <a:ext cx="924605" cy="721185"/>
            <a:chOff x="5867419" y="4808346"/>
            <a:chExt cx="924605" cy="721185"/>
          </a:xfrm>
        </p:grpSpPr>
        <p:sp>
          <p:nvSpPr>
            <p:cNvPr id="12" name="Right Arrow 11">
              <a:extLst>
                <a:ext uri="{FF2B5EF4-FFF2-40B4-BE49-F238E27FC236}">
                  <a16:creationId xmlns:a16="http://schemas.microsoft.com/office/drawing/2014/main" id="{37179F34-CE9B-63B9-B39D-D0A92BE0DE5C}"/>
                </a:ext>
              </a:extLst>
            </p:cNvPr>
            <p:cNvSpPr/>
            <p:nvPr/>
          </p:nvSpPr>
          <p:spPr>
            <a:xfrm rot="18900000">
              <a:off x="5867419" y="5176517"/>
              <a:ext cx="552090" cy="353014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6"/>
            </a:fillRef>
            <a:effectRef idx="1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29FE351-0559-9EC7-34BE-83EE59DEC733}"/>
                </a:ext>
              </a:extLst>
            </p:cNvPr>
            <p:cNvSpPr txBox="1"/>
            <p:nvPr/>
          </p:nvSpPr>
          <p:spPr>
            <a:xfrm>
              <a:off x="6096000" y="4808346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Good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17418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34C3A-30D4-0850-FAE4-2D42EEA3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demonstration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B9240-DCC6-3C6F-D9F4-34E1EB2F15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Andrew Rosen’s group website</a:t>
            </a:r>
            <a:r>
              <a:rPr lang="en-US" dirty="0"/>
              <a:t> has a great tutorial on how to get started with UMA</a:t>
            </a:r>
          </a:p>
          <a:p>
            <a:pPr lvl="1"/>
            <a:r>
              <a:rPr lang="en-US" sz="1800" i="1" dirty="0"/>
              <a:t>You will probably have to download some additional </a:t>
            </a:r>
            <a:r>
              <a:rPr lang="en-US" sz="1800" i="1" dirty="0" err="1"/>
              <a:t>PyTorch</a:t>
            </a:r>
            <a:r>
              <a:rPr lang="en-US" sz="1800" i="1" dirty="0"/>
              <a:t> related modules</a:t>
            </a:r>
          </a:p>
          <a:p>
            <a:endParaRPr lang="en-US" dirty="0"/>
          </a:p>
          <a:p>
            <a:r>
              <a:rPr lang="en-US" dirty="0"/>
              <a:t>1024 Si atoms for 1000 timesteps</a:t>
            </a:r>
          </a:p>
          <a:p>
            <a:pPr lvl="1"/>
            <a:r>
              <a:rPr lang="en-US" dirty="0"/>
              <a:t>Should take ~5 mins according to their table</a:t>
            </a:r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62592B-5716-CD27-372E-B2C1A425E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7392996"/>
            <a:ext cx="7772400" cy="127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95105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A5E54-F526-E92B-FEB7-C1BF8B16A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Points of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B9F1B8-2F64-1EDC-A084-EF4DDB98BE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Speed of models</a:t>
            </a:r>
          </a:p>
          <a:p>
            <a:pPr lvl="1"/>
            <a:r>
              <a:rPr lang="en-US" dirty="0"/>
              <a:t>Are these things ever going to be practical for MD use?</a:t>
            </a:r>
          </a:p>
          <a:p>
            <a:r>
              <a:rPr lang="en-US" dirty="0"/>
              <a:t>Property calculation</a:t>
            </a:r>
          </a:p>
          <a:p>
            <a:pPr lvl="1"/>
            <a:r>
              <a:rPr lang="en-US" dirty="0"/>
              <a:t>The ability to calculate other properties seems highly relevant and an advantage over classical MD</a:t>
            </a:r>
          </a:p>
          <a:p>
            <a:r>
              <a:rPr lang="en-US" dirty="0"/>
              <a:t>How important is choice of “task”?</a:t>
            </a:r>
          </a:p>
          <a:p>
            <a:pPr lvl="1"/>
            <a:r>
              <a:rPr lang="en-US" dirty="0"/>
              <a:t>Between “tasks” only certain functionals are appropriate?</a:t>
            </a:r>
          </a:p>
          <a:p>
            <a:pPr lvl="1"/>
            <a:r>
              <a:rPr lang="en-US" dirty="0"/>
              <a:t>Within a “task”, what are tradeoffs between functionals? (Prof. Rosen’s recent comments on LinkedIn)?</a:t>
            </a:r>
          </a:p>
          <a:p>
            <a:r>
              <a:rPr lang="en-US" dirty="0"/>
              <a:t>Are these models really pushing the pareto front of speed and accuracy?</a:t>
            </a:r>
          </a:p>
          <a:p>
            <a:pPr lvl="1"/>
            <a:r>
              <a:rPr lang="en-US" dirty="0"/>
              <a:t>Training budget alone uses resources equivalent to occupying all of tiger3 for 45 days</a:t>
            </a:r>
          </a:p>
        </p:txBody>
      </p:sp>
    </p:spTree>
    <p:extLst>
      <p:ext uri="{BB962C8B-B14F-4D97-AF65-F5344CB8AC3E}">
        <p14:creationId xmlns:p14="http://schemas.microsoft.com/office/powerpoint/2010/main" val="27554238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6163</TotalTime>
  <Words>973</Words>
  <Application>Microsoft Macintosh PowerPoint</Application>
  <PresentationFormat>Widescreen</PresentationFormat>
  <Paragraphs>125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Office Theme</vt:lpstr>
      <vt:lpstr>MLIP Journal Club: Foundation Models</vt:lpstr>
      <vt:lpstr>Agenda</vt:lpstr>
      <vt:lpstr>Paper by Wood and FAIR team at Meta</vt:lpstr>
      <vt:lpstr>Foundation models are extremely general purpose MLIPs</vt:lpstr>
      <vt:lpstr>UMA is trained on a large and diverse chemical dataset</vt:lpstr>
      <vt:lpstr>UMA model architecture follows that of eSEN (graph-NN) with some key modifications</vt:lpstr>
      <vt:lpstr>Mixture of Experts and Linear Experts (MoE and MoLE): A Hack Explanation</vt:lpstr>
      <vt:lpstr>Mixture of Experts and Linear Experts (MoE and MoLE): A Hack Explanation</vt:lpstr>
      <vt:lpstr>Point of discussion</vt:lpstr>
      <vt:lpstr>Multi-task training can offer benefits over single-task training</vt:lpstr>
      <vt:lpstr>For large models, multi-task training improves model accuracy</vt:lpstr>
      <vt:lpstr>Inference times are good compared to other models when factoring in accuracy</vt:lpstr>
      <vt:lpstr>Point of discussion</vt:lpstr>
      <vt:lpstr>Models and training data are publicly available</vt:lpstr>
      <vt:lpstr>Short demonstration</vt:lpstr>
      <vt:lpstr>Points of discussion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Wesley Oliver</dc:creator>
  <cp:lastModifiedBy>Wesley Oliver</cp:lastModifiedBy>
  <cp:revision>15</cp:revision>
  <dcterms:created xsi:type="dcterms:W3CDTF">2023-04-24T12:05:44Z</dcterms:created>
  <dcterms:modified xsi:type="dcterms:W3CDTF">2025-08-27T19:17:30Z</dcterms:modified>
</cp:coreProperties>
</file>