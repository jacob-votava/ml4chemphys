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2" r:id="rId3"/>
    <p:sldId id="257" r:id="rId4"/>
    <p:sldId id="258" r:id="rId5"/>
    <p:sldId id="259" r:id="rId6"/>
    <p:sldId id="263" r:id="rId7"/>
    <p:sldId id="260" r:id="rId8"/>
    <p:sldId id="268" r:id="rId9"/>
    <p:sldId id="270" r:id="rId10"/>
    <p:sldId id="265" r:id="rId11"/>
    <p:sldId id="266" r:id="rId12"/>
    <p:sldId id="267" r:id="rId13"/>
    <p:sldId id="264" r:id="rId14"/>
    <p:sldId id="272" r:id="rId15"/>
    <p:sldId id="273" r:id="rId16"/>
    <p:sldId id="274" r:id="rId17"/>
    <p:sldId id="275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2"/>
    <p:restoredTop sz="94834"/>
  </p:normalViewPr>
  <p:slideViewPr>
    <p:cSldViewPr snapToGrid="0">
      <p:cViewPr varScale="1">
        <p:scale>
          <a:sx n="126" d="100"/>
          <a:sy n="126" d="100"/>
        </p:scale>
        <p:origin x="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F5710-8596-FE4E-AE0D-9110692497DE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BD70F-9FE2-9440-B7D2-BA12B5BDA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71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0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53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99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20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75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8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30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89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70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04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845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i="0">
                    <a:latin typeface="Cambria Math" panose="02040503050406030204" pitchFamily="18" charset="0"/>
                  </a:rPr>
                  <a:t>𝑟_1^𝑥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25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35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BD70F-9FE2-9440-B7D2-BA12B5BDA36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66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94A5E-CF9F-08D5-AA1A-AB48AC0A3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1D5C9-E929-66AE-CC0A-138BBE571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4AE8B-C368-2F24-4E04-73927DB0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C289-F87C-F742-B7D1-B4EEB9053632}" type="datetime1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3F48D-24D5-EE1E-651D-E296741F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4C036-F248-0813-6A8B-6CCC07E3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7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2E48-42D8-5E10-0BE2-E8071A0C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FC103-5804-A1FB-A2D4-D2E847F9A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36621-ED37-1D5B-B204-9336E43EB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21158-DD9E-3848-8F06-89792A8AC3A7}" type="datetime1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387A4-9A9B-A84A-39FF-01FFFC2B8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C70B1-94DF-62BB-ED23-63734B47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D502-B339-4F3C-76F2-F140BC1F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04D14-8F50-B8F3-D84E-C07989548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08A5E-2870-3FB8-F0D3-F192E661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9146-06B2-7040-BA7D-61E71255DDA7}" type="datetime1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2FD02-C504-EDE3-6678-F8BA3C39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A28DE-4045-C289-6E27-84B20868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9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60C2-EBBC-8409-D6D3-614989BD8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E9FF9-4E89-D7F0-7BFF-0666FB74E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4DE3B-51A0-FA92-38C3-1579C640D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14497-EEA0-9486-3408-20431103C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F44FE-AF07-0B41-8777-49E782255270}" type="datetime1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66F9B-3E5E-CC72-28DE-D1576019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0671D-19C6-6214-108A-F51E3EE2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6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F4003-7971-29CB-39FD-D83109879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C3FEA-BACA-1729-7D84-05CD9C3F9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2E437-3CA4-C82C-03E3-360C51CFE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F1B37-0A2C-ECE4-1D2B-197B51045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B82252-6E8A-C15E-874D-14BDE2207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E0030-DE3E-79C3-B126-912A3DF45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3F7E-B5EE-1143-88F1-C2E65CCC621E}" type="datetime1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02AC7-086E-5FEE-69F2-387612B7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52FCF7-C881-67C5-7494-74E99641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87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20C8-D350-61DD-9BF2-C3219E7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3A87E2-DC59-B473-1876-BBE3A08EE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8965-FA6D-8047-9843-F43FC363E7DC}" type="datetime1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D2B40-5A55-3965-B23D-3A1CA0A5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567A1-C42F-93A0-F86E-30AE5BA0C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71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DB1A-EB33-7EBC-4ACD-88E88857B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9CA8-C5D5-DE40-B610-5214D950DADA}" type="datetime1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EA720F-6245-AA65-BD38-47173AEF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E8993-C690-E88F-71B0-A3DC0FFF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48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8EB80-846A-2873-2C32-692F9BA15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D7CF6-FA2B-D0B9-9211-411988782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05BA0-E9C0-D476-0133-06589B7AB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333CC-8920-3885-DA3E-3A34520D6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CD035-2114-C342-A73E-0109C92E5725}" type="datetime1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100E5-8D9C-125A-53F7-D8B8FAF8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BE2F7-C5D9-407B-BC6C-46178482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7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48F1A-0B9E-C43D-3263-7F407E2A0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99D4E9-75A3-3D90-6FB8-4BED38293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0ABEE-E44E-9A2A-1E75-11CE023B8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DDF9A-962B-D436-54D3-FA873224A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756F-0C17-0648-9CD4-85D7D0A57D7B}" type="datetime1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CCA3-B634-054F-4BBB-81DBD1CC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D9620-5A0A-F3E7-616D-C6E1CB4D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26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72362-5805-C257-F517-92DE1EB7C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88AED-83A8-08A0-32B7-C056873EE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43EFC-B7D0-87FE-8D09-C5D812C23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1582-0803-3847-BC58-56114B457299}" type="datetime1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5AAE3-5065-5D26-4F02-974E9FE8E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AD9A9-19D8-BE3F-2600-183B4E203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2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ECED7A-7316-AA13-5CCD-F21C7108FC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FDC8E-F469-8F6E-2D2F-4919F16AD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7D19-3497-DEC2-DD71-57949C0C1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4AE9-25DF-4340-A1A5-D95D787FAC70}" type="datetime1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A9787-8726-451B-9429-4B2DD43AD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00EAE-BFA4-2944-2313-ABABAF2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76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B2185-7C06-1AC3-091D-BF087DA34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CF08C-4CC4-44C7-02A6-94895F7F8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08D6A-6EB1-92A8-BB9D-7FCF1199C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F361C-DD0A-ED42-90A2-0431B7D9171D}" type="datetime1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C7354-1EAD-6E7A-E51B-3BA08FEAA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1792-32F2-CD29-C7BA-FC9286D6D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A8C4A-3364-AF4B-A283-FA389248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14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110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32.png"/><Relationship Id="rId26" Type="http://schemas.openxmlformats.org/officeDocument/2006/relationships/image" Target="../media/image29.png"/><Relationship Id="rId3" Type="http://schemas.openxmlformats.org/officeDocument/2006/relationships/image" Target="../media/image19.png"/><Relationship Id="rId21" Type="http://schemas.openxmlformats.org/officeDocument/2006/relationships/image" Target="../media/image24.png"/><Relationship Id="rId34" Type="http://schemas.openxmlformats.org/officeDocument/2006/relationships/image" Target="../media/image4.png"/><Relationship Id="rId25" Type="http://schemas.openxmlformats.org/officeDocument/2006/relationships/image" Target="../media/image28.png"/><Relationship Id="rId3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20" Type="http://schemas.openxmlformats.org/officeDocument/2006/relationships/image" Target="../media/image23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7.png"/><Relationship Id="rId32" Type="http://schemas.openxmlformats.org/officeDocument/2006/relationships/image" Target="../media/image36.png"/><Relationship Id="rId5" Type="http://schemas.openxmlformats.org/officeDocument/2006/relationships/image" Target="../media/image21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19" Type="http://schemas.openxmlformats.org/officeDocument/2006/relationships/image" Target="../media/image22.png"/><Relationship Id="rId31" Type="http://schemas.openxmlformats.org/officeDocument/2006/relationships/image" Target="../media/image35.png"/><Relationship Id="rId4" Type="http://schemas.openxmlformats.org/officeDocument/2006/relationships/image" Target="../media/image20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4.png"/><Relationship Id="rId35" Type="http://schemas.openxmlformats.org/officeDocument/2006/relationships/image" Target="../media/image37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70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57.png"/><Relationship Id="rId3" Type="http://schemas.openxmlformats.org/officeDocument/2006/relationships/image" Target="../media/image51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4.png"/><Relationship Id="rId10" Type="http://schemas.openxmlformats.org/officeDocument/2006/relationships/image" Target="../media/image53.png"/><Relationship Id="rId9" Type="http://schemas.openxmlformats.org/officeDocument/2006/relationships/image" Target="../media/image52.png"/><Relationship Id="rId14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40.png"/><Relationship Id="rId5" Type="http://schemas.openxmlformats.org/officeDocument/2006/relationships/image" Target="../media/image38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9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77.png"/><Relationship Id="rId5" Type="http://schemas.openxmlformats.org/officeDocument/2006/relationships/image" Target="../media/image750.png"/><Relationship Id="rId4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7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4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8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C5EDBD2-96CB-7034-E27F-E67C23C2E727}"/>
              </a:ext>
            </a:extLst>
          </p:cNvPr>
          <p:cNvSpPr/>
          <p:nvPr/>
        </p:nvSpPr>
        <p:spPr>
          <a:xfrm>
            <a:off x="341586" y="272075"/>
            <a:ext cx="11508828" cy="166645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Generative Models in Chemical Physics:</a:t>
            </a:r>
          </a:p>
          <a:p>
            <a:pPr algn="ctr"/>
            <a:r>
              <a:rPr lang="en-US" sz="3000" i="1" dirty="0">
                <a:solidFill>
                  <a:schemeClr val="tx1"/>
                </a:solidFill>
              </a:rPr>
              <a:t>Normalizing Flows and Boltzmann Generators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DBCDFA8-5DC8-EB36-FB23-00B8E3C9D42D}"/>
              </a:ext>
            </a:extLst>
          </p:cNvPr>
          <p:cNvSpPr/>
          <p:nvPr/>
        </p:nvSpPr>
        <p:spPr>
          <a:xfrm>
            <a:off x="3512925" y="5102437"/>
            <a:ext cx="5166150" cy="149134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Philippe Baron 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G4, Panagiotopoulos Group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March 3</a:t>
            </a:r>
            <a:r>
              <a:rPr lang="en-US" sz="2400" baseline="30000" dirty="0">
                <a:solidFill>
                  <a:schemeClr val="tx1"/>
                </a:solidFill>
              </a:rPr>
              <a:t>rd</a:t>
            </a:r>
            <a:r>
              <a:rPr lang="en-US" sz="2400" dirty="0">
                <a:solidFill>
                  <a:schemeClr val="tx1"/>
                </a:solidFill>
              </a:rPr>
              <a:t>, 2026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2B381EA-EC81-B022-0D51-ACD6B5BB527E}"/>
              </a:ext>
            </a:extLst>
          </p:cNvPr>
          <p:cNvGrpSpPr>
            <a:grpSpLocks noChangeAspect="1"/>
          </p:cNvGrpSpPr>
          <p:nvPr/>
        </p:nvGrpSpPr>
        <p:grpSpPr>
          <a:xfrm>
            <a:off x="1047176" y="2511178"/>
            <a:ext cx="5048824" cy="1828800"/>
            <a:chOff x="1002054" y="2593475"/>
            <a:chExt cx="4194530" cy="151935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BB0921E-CCA3-5C7E-2BBA-2D6252BDB2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2054" y="2786739"/>
              <a:ext cx="847942" cy="847942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1FE5818-9A78-68E2-A461-3DCC9A7292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70164" y="3181599"/>
              <a:ext cx="847942" cy="84794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09E1E81-0F0C-0292-742C-587725A1AE83}"/>
                </a:ext>
              </a:extLst>
            </p:cNvPr>
            <p:cNvSpPr/>
            <p:nvPr/>
          </p:nvSpPr>
          <p:spPr>
            <a:xfrm rot="954228">
              <a:off x="4236575" y="2640293"/>
              <a:ext cx="960009" cy="879692"/>
            </a:xfrm>
            <a:custGeom>
              <a:avLst/>
              <a:gdLst>
                <a:gd name="connsiteX0" fmla="*/ 81023 w 2338086"/>
                <a:gd name="connsiteY0" fmla="*/ 1030146 h 1967696"/>
                <a:gd name="connsiteX1" fmla="*/ 81023 w 2338086"/>
                <a:gd name="connsiteY1" fmla="*/ 1030146 h 1967696"/>
                <a:gd name="connsiteX2" fmla="*/ 23149 w 2338086"/>
                <a:gd name="connsiteY2" fmla="*/ 1122744 h 1967696"/>
                <a:gd name="connsiteX3" fmla="*/ 0 w 2338086"/>
                <a:gd name="connsiteY3" fmla="*/ 1192192 h 1967696"/>
                <a:gd name="connsiteX4" fmla="*/ 23149 w 2338086"/>
                <a:gd name="connsiteY4" fmla="*/ 1400536 h 1967696"/>
                <a:gd name="connsiteX5" fmla="*/ 34724 w 2338086"/>
                <a:gd name="connsiteY5" fmla="*/ 1435260 h 1967696"/>
                <a:gd name="connsiteX6" fmla="*/ 57873 w 2338086"/>
                <a:gd name="connsiteY6" fmla="*/ 1458410 h 1967696"/>
                <a:gd name="connsiteX7" fmla="*/ 69448 w 2338086"/>
                <a:gd name="connsiteY7" fmla="*/ 1493134 h 1967696"/>
                <a:gd name="connsiteX8" fmla="*/ 127322 w 2338086"/>
                <a:gd name="connsiteY8" fmla="*/ 1551007 h 1967696"/>
                <a:gd name="connsiteX9" fmla="*/ 162046 w 2338086"/>
                <a:gd name="connsiteY9" fmla="*/ 1608881 h 1967696"/>
                <a:gd name="connsiteX10" fmla="*/ 219919 w 2338086"/>
                <a:gd name="connsiteY10" fmla="*/ 1678329 h 1967696"/>
                <a:gd name="connsiteX11" fmla="*/ 254643 w 2338086"/>
                <a:gd name="connsiteY11" fmla="*/ 1689903 h 1967696"/>
                <a:gd name="connsiteX12" fmla="*/ 370390 w 2338086"/>
                <a:gd name="connsiteY12" fmla="*/ 1782501 h 1967696"/>
                <a:gd name="connsiteX13" fmla="*/ 405114 w 2338086"/>
                <a:gd name="connsiteY13" fmla="*/ 1794076 h 1967696"/>
                <a:gd name="connsiteX14" fmla="*/ 439838 w 2338086"/>
                <a:gd name="connsiteY14" fmla="*/ 1817225 h 1967696"/>
                <a:gd name="connsiteX15" fmla="*/ 486137 w 2338086"/>
                <a:gd name="connsiteY15" fmla="*/ 1828800 h 1967696"/>
                <a:gd name="connsiteX16" fmla="*/ 532435 w 2338086"/>
                <a:gd name="connsiteY16" fmla="*/ 1851949 h 1967696"/>
                <a:gd name="connsiteX17" fmla="*/ 578734 w 2338086"/>
                <a:gd name="connsiteY17" fmla="*/ 1863524 h 1967696"/>
                <a:gd name="connsiteX18" fmla="*/ 625033 w 2338086"/>
                <a:gd name="connsiteY18" fmla="*/ 1886673 h 1967696"/>
                <a:gd name="connsiteX19" fmla="*/ 671332 w 2338086"/>
                <a:gd name="connsiteY19" fmla="*/ 1898248 h 1967696"/>
                <a:gd name="connsiteX20" fmla="*/ 810228 w 2338086"/>
                <a:gd name="connsiteY20" fmla="*/ 1921397 h 1967696"/>
                <a:gd name="connsiteX21" fmla="*/ 925975 w 2338086"/>
                <a:gd name="connsiteY21" fmla="*/ 1944546 h 1967696"/>
                <a:gd name="connsiteX22" fmla="*/ 983848 w 2338086"/>
                <a:gd name="connsiteY22" fmla="*/ 1956121 h 1967696"/>
                <a:gd name="connsiteX23" fmla="*/ 1030147 w 2338086"/>
                <a:gd name="connsiteY23" fmla="*/ 1967696 h 1967696"/>
                <a:gd name="connsiteX24" fmla="*/ 1296365 w 2338086"/>
                <a:gd name="connsiteY24" fmla="*/ 1956121 h 1967696"/>
                <a:gd name="connsiteX25" fmla="*/ 1412111 w 2338086"/>
                <a:gd name="connsiteY25" fmla="*/ 1909822 h 1967696"/>
                <a:gd name="connsiteX26" fmla="*/ 1446835 w 2338086"/>
                <a:gd name="connsiteY26" fmla="*/ 1898248 h 1967696"/>
                <a:gd name="connsiteX27" fmla="*/ 1469985 w 2338086"/>
                <a:gd name="connsiteY27" fmla="*/ 1875098 h 1967696"/>
                <a:gd name="connsiteX28" fmla="*/ 1504709 w 2338086"/>
                <a:gd name="connsiteY28" fmla="*/ 1851949 h 1967696"/>
                <a:gd name="connsiteX29" fmla="*/ 1527858 w 2338086"/>
                <a:gd name="connsiteY29" fmla="*/ 1817225 h 1967696"/>
                <a:gd name="connsiteX30" fmla="*/ 1562582 w 2338086"/>
                <a:gd name="connsiteY30" fmla="*/ 1794076 h 1967696"/>
                <a:gd name="connsiteX31" fmla="*/ 1585732 w 2338086"/>
                <a:gd name="connsiteY31" fmla="*/ 1770926 h 1967696"/>
                <a:gd name="connsiteX32" fmla="*/ 1655180 w 2338086"/>
                <a:gd name="connsiteY32" fmla="*/ 1713053 h 1967696"/>
                <a:gd name="connsiteX33" fmla="*/ 1666754 w 2338086"/>
                <a:gd name="connsiteY33" fmla="*/ 1678329 h 1967696"/>
                <a:gd name="connsiteX34" fmla="*/ 1794076 w 2338086"/>
                <a:gd name="connsiteY34" fmla="*/ 1597306 h 1967696"/>
                <a:gd name="connsiteX35" fmla="*/ 1851949 w 2338086"/>
                <a:gd name="connsiteY35" fmla="*/ 1527858 h 1967696"/>
                <a:gd name="connsiteX36" fmla="*/ 1875099 w 2338086"/>
                <a:gd name="connsiteY36" fmla="*/ 1504708 h 1967696"/>
                <a:gd name="connsiteX37" fmla="*/ 1886673 w 2338086"/>
                <a:gd name="connsiteY37" fmla="*/ 1469984 h 1967696"/>
                <a:gd name="connsiteX38" fmla="*/ 1944547 w 2338086"/>
                <a:gd name="connsiteY38" fmla="*/ 1388962 h 1967696"/>
                <a:gd name="connsiteX39" fmla="*/ 1956122 w 2338086"/>
                <a:gd name="connsiteY39" fmla="*/ 1354238 h 1967696"/>
                <a:gd name="connsiteX40" fmla="*/ 1932972 w 2338086"/>
                <a:gd name="connsiteY40" fmla="*/ 1041721 h 1967696"/>
                <a:gd name="connsiteX41" fmla="*/ 1944547 w 2338086"/>
                <a:gd name="connsiteY41" fmla="*/ 914400 h 1967696"/>
                <a:gd name="connsiteX42" fmla="*/ 2037144 w 2338086"/>
                <a:gd name="connsiteY42" fmla="*/ 810227 h 1967696"/>
                <a:gd name="connsiteX43" fmla="*/ 2106592 w 2338086"/>
                <a:gd name="connsiteY43" fmla="*/ 763929 h 1967696"/>
                <a:gd name="connsiteX44" fmla="*/ 2187615 w 2338086"/>
                <a:gd name="connsiteY44" fmla="*/ 729205 h 1967696"/>
                <a:gd name="connsiteX45" fmla="*/ 2280213 w 2338086"/>
                <a:gd name="connsiteY45" fmla="*/ 671331 h 1967696"/>
                <a:gd name="connsiteX46" fmla="*/ 2326511 w 2338086"/>
                <a:gd name="connsiteY46" fmla="*/ 590308 h 1967696"/>
                <a:gd name="connsiteX47" fmla="*/ 2338086 w 2338086"/>
                <a:gd name="connsiteY47" fmla="*/ 462987 h 1967696"/>
                <a:gd name="connsiteX48" fmla="*/ 2314937 w 2338086"/>
                <a:gd name="connsiteY48" fmla="*/ 381964 h 1967696"/>
                <a:gd name="connsiteX49" fmla="*/ 2303362 w 2338086"/>
                <a:gd name="connsiteY49" fmla="*/ 347240 h 1967696"/>
                <a:gd name="connsiteX50" fmla="*/ 2257063 w 2338086"/>
                <a:gd name="connsiteY50" fmla="*/ 277792 h 1967696"/>
                <a:gd name="connsiteX51" fmla="*/ 2233914 w 2338086"/>
                <a:gd name="connsiteY51" fmla="*/ 231493 h 1967696"/>
                <a:gd name="connsiteX52" fmla="*/ 2071868 w 2338086"/>
                <a:gd name="connsiteY52" fmla="*/ 138896 h 1967696"/>
                <a:gd name="connsiteX53" fmla="*/ 2013995 w 2338086"/>
                <a:gd name="connsiteY53" fmla="*/ 115746 h 1967696"/>
                <a:gd name="connsiteX54" fmla="*/ 1967696 w 2338086"/>
                <a:gd name="connsiteY54" fmla="*/ 92597 h 1967696"/>
                <a:gd name="connsiteX55" fmla="*/ 1851949 w 2338086"/>
                <a:gd name="connsiteY55" fmla="*/ 69448 h 1967696"/>
                <a:gd name="connsiteX56" fmla="*/ 1759352 w 2338086"/>
                <a:gd name="connsiteY56" fmla="*/ 46298 h 1967696"/>
                <a:gd name="connsiteX57" fmla="*/ 1643605 w 2338086"/>
                <a:gd name="connsiteY57" fmla="*/ 23149 h 1967696"/>
                <a:gd name="connsiteX58" fmla="*/ 1388962 w 2338086"/>
                <a:gd name="connsiteY58" fmla="*/ 0 h 1967696"/>
                <a:gd name="connsiteX59" fmla="*/ 729205 w 2338086"/>
                <a:gd name="connsiteY59" fmla="*/ 23149 h 1967696"/>
                <a:gd name="connsiteX60" fmla="*/ 590309 w 2338086"/>
                <a:gd name="connsiteY60" fmla="*/ 57873 h 1967696"/>
                <a:gd name="connsiteX61" fmla="*/ 520861 w 2338086"/>
                <a:gd name="connsiteY61" fmla="*/ 81022 h 1967696"/>
                <a:gd name="connsiteX62" fmla="*/ 486137 w 2338086"/>
                <a:gd name="connsiteY62" fmla="*/ 92597 h 1967696"/>
                <a:gd name="connsiteX63" fmla="*/ 439838 w 2338086"/>
                <a:gd name="connsiteY63" fmla="*/ 104172 h 1967696"/>
                <a:gd name="connsiteX64" fmla="*/ 162046 w 2338086"/>
                <a:gd name="connsiteY64" fmla="*/ 104172 h 1967696"/>
                <a:gd name="connsiteX65" fmla="*/ 115747 w 2338086"/>
                <a:gd name="connsiteY65" fmla="*/ 127321 h 1967696"/>
                <a:gd name="connsiteX66" fmla="*/ 92598 w 2338086"/>
                <a:gd name="connsiteY66" fmla="*/ 162045 h 1967696"/>
                <a:gd name="connsiteX67" fmla="*/ 69448 w 2338086"/>
                <a:gd name="connsiteY67" fmla="*/ 185194 h 1967696"/>
                <a:gd name="connsiteX68" fmla="*/ 57873 w 2338086"/>
                <a:gd name="connsiteY68" fmla="*/ 219919 h 1967696"/>
                <a:gd name="connsiteX69" fmla="*/ 46299 w 2338086"/>
                <a:gd name="connsiteY69" fmla="*/ 347240 h 1967696"/>
                <a:gd name="connsiteX70" fmla="*/ 46299 w 2338086"/>
                <a:gd name="connsiteY70" fmla="*/ 671331 h 1967696"/>
                <a:gd name="connsiteX71" fmla="*/ 46299 w 2338086"/>
                <a:gd name="connsiteY71" fmla="*/ 879676 h 1967696"/>
                <a:gd name="connsiteX72" fmla="*/ 57873 w 2338086"/>
                <a:gd name="connsiteY72" fmla="*/ 937549 h 1967696"/>
                <a:gd name="connsiteX73" fmla="*/ 81023 w 2338086"/>
                <a:gd name="connsiteY73" fmla="*/ 1030146 h 196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338086" h="1967696">
                  <a:moveTo>
                    <a:pt x="81023" y="1030146"/>
                  </a:moveTo>
                  <a:lnTo>
                    <a:pt x="81023" y="1030146"/>
                  </a:lnTo>
                  <a:cubicBezTo>
                    <a:pt x="61732" y="1061012"/>
                    <a:pt x="39427" y="1090188"/>
                    <a:pt x="23149" y="1122744"/>
                  </a:cubicBezTo>
                  <a:cubicBezTo>
                    <a:pt x="12236" y="1144569"/>
                    <a:pt x="0" y="1192192"/>
                    <a:pt x="0" y="1192192"/>
                  </a:cubicBezTo>
                  <a:cubicBezTo>
                    <a:pt x="6991" y="1283073"/>
                    <a:pt x="4093" y="1324310"/>
                    <a:pt x="23149" y="1400536"/>
                  </a:cubicBezTo>
                  <a:cubicBezTo>
                    <a:pt x="26108" y="1412373"/>
                    <a:pt x="28447" y="1424798"/>
                    <a:pt x="34724" y="1435260"/>
                  </a:cubicBezTo>
                  <a:cubicBezTo>
                    <a:pt x="40339" y="1444618"/>
                    <a:pt x="50157" y="1450693"/>
                    <a:pt x="57873" y="1458410"/>
                  </a:cubicBezTo>
                  <a:cubicBezTo>
                    <a:pt x="61731" y="1469985"/>
                    <a:pt x="62127" y="1483373"/>
                    <a:pt x="69448" y="1493134"/>
                  </a:cubicBezTo>
                  <a:cubicBezTo>
                    <a:pt x="85817" y="1514959"/>
                    <a:pt x="127322" y="1551007"/>
                    <a:pt x="127322" y="1551007"/>
                  </a:cubicBezTo>
                  <a:cubicBezTo>
                    <a:pt x="147422" y="1611310"/>
                    <a:pt x="125730" y="1563485"/>
                    <a:pt x="162046" y="1608881"/>
                  </a:cubicBezTo>
                  <a:cubicBezTo>
                    <a:pt x="186448" y="1639384"/>
                    <a:pt x="184568" y="1654762"/>
                    <a:pt x="219919" y="1678329"/>
                  </a:cubicBezTo>
                  <a:cubicBezTo>
                    <a:pt x="230071" y="1685097"/>
                    <a:pt x="243068" y="1686045"/>
                    <a:pt x="254643" y="1689903"/>
                  </a:cubicBezTo>
                  <a:cubicBezTo>
                    <a:pt x="286252" y="1721512"/>
                    <a:pt x="326586" y="1767899"/>
                    <a:pt x="370390" y="1782501"/>
                  </a:cubicBezTo>
                  <a:cubicBezTo>
                    <a:pt x="381965" y="1786359"/>
                    <a:pt x="394201" y="1788620"/>
                    <a:pt x="405114" y="1794076"/>
                  </a:cubicBezTo>
                  <a:cubicBezTo>
                    <a:pt x="417556" y="1800297"/>
                    <a:pt x="427052" y="1811745"/>
                    <a:pt x="439838" y="1817225"/>
                  </a:cubicBezTo>
                  <a:cubicBezTo>
                    <a:pt x="454460" y="1823491"/>
                    <a:pt x="471242" y="1823214"/>
                    <a:pt x="486137" y="1828800"/>
                  </a:cubicBezTo>
                  <a:cubicBezTo>
                    <a:pt x="502293" y="1834858"/>
                    <a:pt x="516279" y="1845891"/>
                    <a:pt x="532435" y="1851949"/>
                  </a:cubicBezTo>
                  <a:cubicBezTo>
                    <a:pt x="547330" y="1857535"/>
                    <a:pt x="563839" y="1857938"/>
                    <a:pt x="578734" y="1863524"/>
                  </a:cubicBezTo>
                  <a:cubicBezTo>
                    <a:pt x="594890" y="1869582"/>
                    <a:pt x="608877" y="1880615"/>
                    <a:pt x="625033" y="1886673"/>
                  </a:cubicBezTo>
                  <a:cubicBezTo>
                    <a:pt x="639928" y="1892259"/>
                    <a:pt x="655696" y="1895316"/>
                    <a:pt x="671332" y="1898248"/>
                  </a:cubicBezTo>
                  <a:cubicBezTo>
                    <a:pt x="717465" y="1906898"/>
                    <a:pt x="764202" y="1912192"/>
                    <a:pt x="810228" y="1921397"/>
                  </a:cubicBezTo>
                  <a:lnTo>
                    <a:pt x="925975" y="1944546"/>
                  </a:lnTo>
                  <a:cubicBezTo>
                    <a:pt x="945266" y="1948404"/>
                    <a:pt x="964762" y="1951349"/>
                    <a:pt x="983848" y="1956121"/>
                  </a:cubicBezTo>
                  <a:lnTo>
                    <a:pt x="1030147" y="1967696"/>
                  </a:lnTo>
                  <a:cubicBezTo>
                    <a:pt x="1118886" y="1963838"/>
                    <a:pt x="1208013" y="1965261"/>
                    <a:pt x="1296365" y="1956121"/>
                  </a:cubicBezTo>
                  <a:cubicBezTo>
                    <a:pt x="1342676" y="1951330"/>
                    <a:pt x="1371923" y="1927046"/>
                    <a:pt x="1412111" y="1909822"/>
                  </a:cubicBezTo>
                  <a:cubicBezTo>
                    <a:pt x="1423325" y="1905016"/>
                    <a:pt x="1435260" y="1902106"/>
                    <a:pt x="1446835" y="1898248"/>
                  </a:cubicBezTo>
                  <a:cubicBezTo>
                    <a:pt x="1454552" y="1890531"/>
                    <a:pt x="1461463" y="1881915"/>
                    <a:pt x="1469985" y="1875098"/>
                  </a:cubicBezTo>
                  <a:cubicBezTo>
                    <a:pt x="1480848" y="1866408"/>
                    <a:pt x="1494872" y="1861786"/>
                    <a:pt x="1504709" y="1851949"/>
                  </a:cubicBezTo>
                  <a:cubicBezTo>
                    <a:pt x="1514546" y="1842112"/>
                    <a:pt x="1518021" y="1827062"/>
                    <a:pt x="1527858" y="1817225"/>
                  </a:cubicBezTo>
                  <a:cubicBezTo>
                    <a:pt x="1537695" y="1807388"/>
                    <a:pt x="1551719" y="1802766"/>
                    <a:pt x="1562582" y="1794076"/>
                  </a:cubicBezTo>
                  <a:cubicBezTo>
                    <a:pt x="1571104" y="1787259"/>
                    <a:pt x="1577348" y="1777912"/>
                    <a:pt x="1585732" y="1770926"/>
                  </a:cubicBezTo>
                  <a:cubicBezTo>
                    <a:pt x="1668283" y="1702133"/>
                    <a:pt x="1602820" y="1765411"/>
                    <a:pt x="1655180" y="1713053"/>
                  </a:cubicBezTo>
                  <a:cubicBezTo>
                    <a:pt x="1659038" y="1701478"/>
                    <a:pt x="1657635" y="1686435"/>
                    <a:pt x="1666754" y="1678329"/>
                  </a:cubicBezTo>
                  <a:cubicBezTo>
                    <a:pt x="1785583" y="1572703"/>
                    <a:pt x="1723550" y="1656078"/>
                    <a:pt x="1794076" y="1597306"/>
                  </a:cubicBezTo>
                  <a:cubicBezTo>
                    <a:pt x="1843567" y="1556063"/>
                    <a:pt x="1815530" y="1573382"/>
                    <a:pt x="1851949" y="1527858"/>
                  </a:cubicBezTo>
                  <a:cubicBezTo>
                    <a:pt x="1858766" y="1519336"/>
                    <a:pt x="1867382" y="1512425"/>
                    <a:pt x="1875099" y="1504708"/>
                  </a:cubicBezTo>
                  <a:cubicBezTo>
                    <a:pt x="1878957" y="1493133"/>
                    <a:pt x="1881217" y="1480897"/>
                    <a:pt x="1886673" y="1469984"/>
                  </a:cubicBezTo>
                  <a:cubicBezTo>
                    <a:pt x="1895134" y="1453061"/>
                    <a:pt x="1936685" y="1399445"/>
                    <a:pt x="1944547" y="1388962"/>
                  </a:cubicBezTo>
                  <a:cubicBezTo>
                    <a:pt x="1948405" y="1377387"/>
                    <a:pt x="1956122" y="1366439"/>
                    <a:pt x="1956122" y="1354238"/>
                  </a:cubicBezTo>
                  <a:cubicBezTo>
                    <a:pt x="1956122" y="1121190"/>
                    <a:pt x="1963893" y="1165404"/>
                    <a:pt x="1932972" y="1041721"/>
                  </a:cubicBezTo>
                  <a:cubicBezTo>
                    <a:pt x="1936830" y="999281"/>
                    <a:pt x="1932522" y="955284"/>
                    <a:pt x="1944547" y="914400"/>
                  </a:cubicBezTo>
                  <a:cubicBezTo>
                    <a:pt x="1959605" y="863204"/>
                    <a:pt x="1997669" y="837859"/>
                    <a:pt x="2037144" y="810227"/>
                  </a:cubicBezTo>
                  <a:cubicBezTo>
                    <a:pt x="2059937" y="794272"/>
                    <a:pt x="2080198" y="772727"/>
                    <a:pt x="2106592" y="763929"/>
                  </a:cubicBezTo>
                  <a:cubicBezTo>
                    <a:pt x="2140348" y="752677"/>
                    <a:pt x="2154923" y="749638"/>
                    <a:pt x="2187615" y="729205"/>
                  </a:cubicBezTo>
                  <a:cubicBezTo>
                    <a:pt x="2307824" y="654074"/>
                    <a:pt x="2162898" y="729990"/>
                    <a:pt x="2280213" y="671331"/>
                  </a:cubicBezTo>
                  <a:cubicBezTo>
                    <a:pt x="2292637" y="652695"/>
                    <a:pt x="2322315" y="611288"/>
                    <a:pt x="2326511" y="590308"/>
                  </a:cubicBezTo>
                  <a:cubicBezTo>
                    <a:pt x="2334869" y="548520"/>
                    <a:pt x="2334228" y="505427"/>
                    <a:pt x="2338086" y="462987"/>
                  </a:cubicBezTo>
                  <a:cubicBezTo>
                    <a:pt x="2310333" y="379731"/>
                    <a:pt x="2344004" y="483701"/>
                    <a:pt x="2314937" y="381964"/>
                  </a:cubicBezTo>
                  <a:cubicBezTo>
                    <a:pt x="2311585" y="370233"/>
                    <a:pt x="2309287" y="357905"/>
                    <a:pt x="2303362" y="347240"/>
                  </a:cubicBezTo>
                  <a:cubicBezTo>
                    <a:pt x="2289850" y="322919"/>
                    <a:pt x="2269505" y="302677"/>
                    <a:pt x="2257063" y="277792"/>
                  </a:cubicBezTo>
                  <a:cubicBezTo>
                    <a:pt x="2249347" y="262359"/>
                    <a:pt x="2246115" y="243694"/>
                    <a:pt x="2233914" y="231493"/>
                  </a:cubicBezTo>
                  <a:cubicBezTo>
                    <a:pt x="2206071" y="203649"/>
                    <a:pt x="2102132" y="151002"/>
                    <a:pt x="2071868" y="138896"/>
                  </a:cubicBezTo>
                  <a:cubicBezTo>
                    <a:pt x="2052577" y="131179"/>
                    <a:pt x="2032981" y="124184"/>
                    <a:pt x="2013995" y="115746"/>
                  </a:cubicBezTo>
                  <a:cubicBezTo>
                    <a:pt x="1998228" y="108738"/>
                    <a:pt x="1983852" y="98655"/>
                    <a:pt x="1967696" y="92597"/>
                  </a:cubicBezTo>
                  <a:cubicBezTo>
                    <a:pt x="1935240" y="80426"/>
                    <a:pt x="1883077" y="76118"/>
                    <a:pt x="1851949" y="69448"/>
                  </a:cubicBezTo>
                  <a:cubicBezTo>
                    <a:pt x="1820840" y="62782"/>
                    <a:pt x="1790550" y="52537"/>
                    <a:pt x="1759352" y="46298"/>
                  </a:cubicBezTo>
                  <a:cubicBezTo>
                    <a:pt x="1720770" y="38582"/>
                    <a:pt x="1682790" y="26711"/>
                    <a:pt x="1643605" y="23149"/>
                  </a:cubicBezTo>
                  <a:lnTo>
                    <a:pt x="1388962" y="0"/>
                  </a:lnTo>
                  <a:cubicBezTo>
                    <a:pt x="1128705" y="52049"/>
                    <a:pt x="1408038" y="-260"/>
                    <a:pt x="729205" y="23149"/>
                  </a:cubicBezTo>
                  <a:cubicBezTo>
                    <a:pt x="677054" y="24947"/>
                    <a:pt x="639011" y="41639"/>
                    <a:pt x="590309" y="57873"/>
                  </a:cubicBezTo>
                  <a:lnTo>
                    <a:pt x="520861" y="81022"/>
                  </a:lnTo>
                  <a:cubicBezTo>
                    <a:pt x="509286" y="84880"/>
                    <a:pt x="497974" y="89638"/>
                    <a:pt x="486137" y="92597"/>
                  </a:cubicBezTo>
                  <a:lnTo>
                    <a:pt x="439838" y="104172"/>
                  </a:lnTo>
                  <a:cubicBezTo>
                    <a:pt x="339429" y="97478"/>
                    <a:pt x="258768" y="81852"/>
                    <a:pt x="162046" y="104172"/>
                  </a:cubicBezTo>
                  <a:cubicBezTo>
                    <a:pt x="145233" y="108052"/>
                    <a:pt x="131180" y="119605"/>
                    <a:pt x="115747" y="127321"/>
                  </a:cubicBezTo>
                  <a:cubicBezTo>
                    <a:pt x="108031" y="138896"/>
                    <a:pt x="101288" y="151182"/>
                    <a:pt x="92598" y="162045"/>
                  </a:cubicBezTo>
                  <a:cubicBezTo>
                    <a:pt x="85781" y="170566"/>
                    <a:pt x="75063" y="175836"/>
                    <a:pt x="69448" y="185194"/>
                  </a:cubicBezTo>
                  <a:cubicBezTo>
                    <a:pt x="63170" y="195656"/>
                    <a:pt x="61731" y="208344"/>
                    <a:pt x="57873" y="219919"/>
                  </a:cubicBezTo>
                  <a:cubicBezTo>
                    <a:pt x="54015" y="262359"/>
                    <a:pt x="48663" y="304690"/>
                    <a:pt x="46299" y="347240"/>
                  </a:cubicBezTo>
                  <a:cubicBezTo>
                    <a:pt x="30216" y="636737"/>
                    <a:pt x="4705" y="546553"/>
                    <a:pt x="46299" y="671331"/>
                  </a:cubicBezTo>
                  <a:cubicBezTo>
                    <a:pt x="26426" y="969412"/>
                    <a:pt x="17957" y="766305"/>
                    <a:pt x="46299" y="879676"/>
                  </a:cubicBezTo>
                  <a:cubicBezTo>
                    <a:pt x="51070" y="898762"/>
                    <a:pt x="54354" y="918193"/>
                    <a:pt x="57873" y="937549"/>
                  </a:cubicBezTo>
                  <a:cubicBezTo>
                    <a:pt x="62071" y="960639"/>
                    <a:pt x="77165" y="1014713"/>
                    <a:pt x="81023" y="1030146"/>
                  </a:cubicBezTo>
                  <a:close/>
                </a:path>
              </a:pathLst>
            </a:custGeom>
            <a:noFill/>
            <a:ln w="38100">
              <a:solidFill>
                <a:schemeClr val="tx2">
                  <a:lumMod val="25000"/>
                  <a:lumOff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69D7D02C-E5C0-61EE-F054-4F95DA60F661}"/>
                </a:ext>
              </a:extLst>
            </p:cNvPr>
            <p:cNvSpPr/>
            <p:nvPr/>
          </p:nvSpPr>
          <p:spPr>
            <a:xfrm rot="12952711">
              <a:off x="1088112" y="3176406"/>
              <a:ext cx="960009" cy="879692"/>
            </a:xfrm>
            <a:custGeom>
              <a:avLst/>
              <a:gdLst>
                <a:gd name="connsiteX0" fmla="*/ 81023 w 2338086"/>
                <a:gd name="connsiteY0" fmla="*/ 1030146 h 1967696"/>
                <a:gd name="connsiteX1" fmla="*/ 81023 w 2338086"/>
                <a:gd name="connsiteY1" fmla="*/ 1030146 h 1967696"/>
                <a:gd name="connsiteX2" fmla="*/ 23149 w 2338086"/>
                <a:gd name="connsiteY2" fmla="*/ 1122744 h 1967696"/>
                <a:gd name="connsiteX3" fmla="*/ 0 w 2338086"/>
                <a:gd name="connsiteY3" fmla="*/ 1192192 h 1967696"/>
                <a:gd name="connsiteX4" fmla="*/ 23149 w 2338086"/>
                <a:gd name="connsiteY4" fmla="*/ 1400536 h 1967696"/>
                <a:gd name="connsiteX5" fmla="*/ 34724 w 2338086"/>
                <a:gd name="connsiteY5" fmla="*/ 1435260 h 1967696"/>
                <a:gd name="connsiteX6" fmla="*/ 57873 w 2338086"/>
                <a:gd name="connsiteY6" fmla="*/ 1458410 h 1967696"/>
                <a:gd name="connsiteX7" fmla="*/ 69448 w 2338086"/>
                <a:gd name="connsiteY7" fmla="*/ 1493134 h 1967696"/>
                <a:gd name="connsiteX8" fmla="*/ 127322 w 2338086"/>
                <a:gd name="connsiteY8" fmla="*/ 1551007 h 1967696"/>
                <a:gd name="connsiteX9" fmla="*/ 162046 w 2338086"/>
                <a:gd name="connsiteY9" fmla="*/ 1608881 h 1967696"/>
                <a:gd name="connsiteX10" fmla="*/ 219919 w 2338086"/>
                <a:gd name="connsiteY10" fmla="*/ 1678329 h 1967696"/>
                <a:gd name="connsiteX11" fmla="*/ 254643 w 2338086"/>
                <a:gd name="connsiteY11" fmla="*/ 1689903 h 1967696"/>
                <a:gd name="connsiteX12" fmla="*/ 370390 w 2338086"/>
                <a:gd name="connsiteY12" fmla="*/ 1782501 h 1967696"/>
                <a:gd name="connsiteX13" fmla="*/ 405114 w 2338086"/>
                <a:gd name="connsiteY13" fmla="*/ 1794076 h 1967696"/>
                <a:gd name="connsiteX14" fmla="*/ 439838 w 2338086"/>
                <a:gd name="connsiteY14" fmla="*/ 1817225 h 1967696"/>
                <a:gd name="connsiteX15" fmla="*/ 486137 w 2338086"/>
                <a:gd name="connsiteY15" fmla="*/ 1828800 h 1967696"/>
                <a:gd name="connsiteX16" fmla="*/ 532435 w 2338086"/>
                <a:gd name="connsiteY16" fmla="*/ 1851949 h 1967696"/>
                <a:gd name="connsiteX17" fmla="*/ 578734 w 2338086"/>
                <a:gd name="connsiteY17" fmla="*/ 1863524 h 1967696"/>
                <a:gd name="connsiteX18" fmla="*/ 625033 w 2338086"/>
                <a:gd name="connsiteY18" fmla="*/ 1886673 h 1967696"/>
                <a:gd name="connsiteX19" fmla="*/ 671332 w 2338086"/>
                <a:gd name="connsiteY19" fmla="*/ 1898248 h 1967696"/>
                <a:gd name="connsiteX20" fmla="*/ 810228 w 2338086"/>
                <a:gd name="connsiteY20" fmla="*/ 1921397 h 1967696"/>
                <a:gd name="connsiteX21" fmla="*/ 925975 w 2338086"/>
                <a:gd name="connsiteY21" fmla="*/ 1944546 h 1967696"/>
                <a:gd name="connsiteX22" fmla="*/ 983848 w 2338086"/>
                <a:gd name="connsiteY22" fmla="*/ 1956121 h 1967696"/>
                <a:gd name="connsiteX23" fmla="*/ 1030147 w 2338086"/>
                <a:gd name="connsiteY23" fmla="*/ 1967696 h 1967696"/>
                <a:gd name="connsiteX24" fmla="*/ 1296365 w 2338086"/>
                <a:gd name="connsiteY24" fmla="*/ 1956121 h 1967696"/>
                <a:gd name="connsiteX25" fmla="*/ 1412111 w 2338086"/>
                <a:gd name="connsiteY25" fmla="*/ 1909822 h 1967696"/>
                <a:gd name="connsiteX26" fmla="*/ 1446835 w 2338086"/>
                <a:gd name="connsiteY26" fmla="*/ 1898248 h 1967696"/>
                <a:gd name="connsiteX27" fmla="*/ 1469985 w 2338086"/>
                <a:gd name="connsiteY27" fmla="*/ 1875098 h 1967696"/>
                <a:gd name="connsiteX28" fmla="*/ 1504709 w 2338086"/>
                <a:gd name="connsiteY28" fmla="*/ 1851949 h 1967696"/>
                <a:gd name="connsiteX29" fmla="*/ 1527858 w 2338086"/>
                <a:gd name="connsiteY29" fmla="*/ 1817225 h 1967696"/>
                <a:gd name="connsiteX30" fmla="*/ 1562582 w 2338086"/>
                <a:gd name="connsiteY30" fmla="*/ 1794076 h 1967696"/>
                <a:gd name="connsiteX31" fmla="*/ 1585732 w 2338086"/>
                <a:gd name="connsiteY31" fmla="*/ 1770926 h 1967696"/>
                <a:gd name="connsiteX32" fmla="*/ 1655180 w 2338086"/>
                <a:gd name="connsiteY32" fmla="*/ 1713053 h 1967696"/>
                <a:gd name="connsiteX33" fmla="*/ 1666754 w 2338086"/>
                <a:gd name="connsiteY33" fmla="*/ 1678329 h 1967696"/>
                <a:gd name="connsiteX34" fmla="*/ 1794076 w 2338086"/>
                <a:gd name="connsiteY34" fmla="*/ 1597306 h 1967696"/>
                <a:gd name="connsiteX35" fmla="*/ 1851949 w 2338086"/>
                <a:gd name="connsiteY35" fmla="*/ 1527858 h 1967696"/>
                <a:gd name="connsiteX36" fmla="*/ 1875099 w 2338086"/>
                <a:gd name="connsiteY36" fmla="*/ 1504708 h 1967696"/>
                <a:gd name="connsiteX37" fmla="*/ 1886673 w 2338086"/>
                <a:gd name="connsiteY37" fmla="*/ 1469984 h 1967696"/>
                <a:gd name="connsiteX38" fmla="*/ 1944547 w 2338086"/>
                <a:gd name="connsiteY38" fmla="*/ 1388962 h 1967696"/>
                <a:gd name="connsiteX39" fmla="*/ 1956122 w 2338086"/>
                <a:gd name="connsiteY39" fmla="*/ 1354238 h 1967696"/>
                <a:gd name="connsiteX40" fmla="*/ 1932972 w 2338086"/>
                <a:gd name="connsiteY40" fmla="*/ 1041721 h 1967696"/>
                <a:gd name="connsiteX41" fmla="*/ 1944547 w 2338086"/>
                <a:gd name="connsiteY41" fmla="*/ 914400 h 1967696"/>
                <a:gd name="connsiteX42" fmla="*/ 2037144 w 2338086"/>
                <a:gd name="connsiteY42" fmla="*/ 810227 h 1967696"/>
                <a:gd name="connsiteX43" fmla="*/ 2106592 w 2338086"/>
                <a:gd name="connsiteY43" fmla="*/ 763929 h 1967696"/>
                <a:gd name="connsiteX44" fmla="*/ 2187615 w 2338086"/>
                <a:gd name="connsiteY44" fmla="*/ 729205 h 1967696"/>
                <a:gd name="connsiteX45" fmla="*/ 2280213 w 2338086"/>
                <a:gd name="connsiteY45" fmla="*/ 671331 h 1967696"/>
                <a:gd name="connsiteX46" fmla="*/ 2326511 w 2338086"/>
                <a:gd name="connsiteY46" fmla="*/ 590308 h 1967696"/>
                <a:gd name="connsiteX47" fmla="*/ 2338086 w 2338086"/>
                <a:gd name="connsiteY47" fmla="*/ 462987 h 1967696"/>
                <a:gd name="connsiteX48" fmla="*/ 2314937 w 2338086"/>
                <a:gd name="connsiteY48" fmla="*/ 381964 h 1967696"/>
                <a:gd name="connsiteX49" fmla="*/ 2303362 w 2338086"/>
                <a:gd name="connsiteY49" fmla="*/ 347240 h 1967696"/>
                <a:gd name="connsiteX50" fmla="*/ 2257063 w 2338086"/>
                <a:gd name="connsiteY50" fmla="*/ 277792 h 1967696"/>
                <a:gd name="connsiteX51" fmla="*/ 2233914 w 2338086"/>
                <a:gd name="connsiteY51" fmla="*/ 231493 h 1967696"/>
                <a:gd name="connsiteX52" fmla="*/ 2071868 w 2338086"/>
                <a:gd name="connsiteY52" fmla="*/ 138896 h 1967696"/>
                <a:gd name="connsiteX53" fmla="*/ 2013995 w 2338086"/>
                <a:gd name="connsiteY53" fmla="*/ 115746 h 1967696"/>
                <a:gd name="connsiteX54" fmla="*/ 1967696 w 2338086"/>
                <a:gd name="connsiteY54" fmla="*/ 92597 h 1967696"/>
                <a:gd name="connsiteX55" fmla="*/ 1851949 w 2338086"/>
                <a:gd name="connsiteY55" fmla="*/ 69448 h 1967696"/>
                <a:gd name="connsiteX56" fmla="*/ 1759352 w 2338086"/>
                <a:gd name="connsiteY56" fmla="*/ 46298 h 1967696"/>
                <a:gd name="connsiteX57" fmla="*/ 1643605 w 2338086"/>
                <a:gd name="connsiteY57" fmla="*/ 23149 h 1967696"/>
                <a:gd name="connsiteX58" fmla="*/ 1388962 w 2338086"/>
                <a:gd name="connsiteY58" fmla="*/ 0 h 1967696"/>
                <a:gd name="connsiteX59" fmla="*/ 729205 w 2338086"/>
                <a:gd name="connsiteY59" fmla="*/ 23149 h 1967696"/>
                <a:gd name="connsiteX60" fmla="*/ 590309 w 2338086"/>
                <a:gd name="connsiteY60" fmla="*/ 57873 h 1967696"/>
                <a:gd name="connsiteX61" fmla="*/ 520861 w 2338086"/>
                <a:gd name="connsiteY61" fmla="*/ 81022 h 1967696"/>
                <a:gd name="connsiteX62" fmla="*/ 486137 w 2338086"/>
                <a:gd name="connsiteY62" fmla="*/ 92597 h 1967696"/>
                <a:gd name="connsiteX63" fmla="*/ 439838 w 2338086"/>
                <a:gd name="connsiteY63" fmla="*/ 104172 h 1967696"/>
                <a:gd name="connsiteX64" fmla="*/ 162046 w 2338086"/>
                <a:gd name="connsiteY64" fmla="*/ 104172 h 1967696"/>
                <a:gd name="connsiteX65" fmla="*/ 115747 w 2338086"/>
                <a:gd name="connsiteY65" fmla="*/ 127321 h 1967696"/>
                <a:gd name="connsiteX66" fmla="*/ 92598 w 2338086"/>
                <a:gd name="connsiteY66" fmla="*/ 162045 h 1967696"/>
                <a:gd name="connsiteX67" fmla="*/ 69448 w 2338086"/>
                <a:gd name="connsiteY67" fmla="*/ 185194 h 1967696"/>
                <a:gd name="connsiteX68" fmla="*/ 57873 w 2338086"/>
                <a:gd name="connsiteY68" fmla="*/ 219919 h 1967696"/>
                <a:gd name="connsiteX69" fmla="*/ 46299 w 2338086"/>
                <a:gd name="connsiteY69" fmla="*/ 347240 h 1967696"/>
                <a:gd name="connsiteX70" fmla="*/ 46299 w 2338086"/>
                <a:gd name="connsiteY70" fmla="*/ 671331 h 1967696"/>
                <a:gd name="connsiteX71" fmla="*/ 46299 w 2338086"/>
                <a:gd name="connsiteY71" fmla="*/ 879676 h 1967696"/>
                <a:gd name="connsiteX72" fmla="*/ 57873 w 2338086"/>
                <a:gd name="connsiteY72" fmla="*/ 937549 h 1967696"/>
                <a:gd name="connsiteX73" fmla="*/ 81023 w 2338086"/>
                <a:gd name="connsiteY73" fmla="*/ 1030146 h 196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338086" h="1967696">
                  <a:moveTo>
                    <a:pt x="81023" y="1030146"/>
                  </a:moveTo>
                  <a:lnTo>
                    <a:pt x="81023" y="1030146"/>
                  </a:lnTo>
                  <a:cubicBezTo>
                    <a:pt x="61732" y="1061012"/>
                    <a:pt x="39427" y="1090188"/>
                    <a:pt x="23149" y="1122744"/>
                  </a:cubicBezTo>
                  <a:cubicBezTo>
                    <a:pt x="12236" y="1144569"/>
                    <a:pt x="0" y="1192192"/>
                    <a:pt x="0" y="1192192"/>
                  </a:cubicBezTo>
                  <a:cubicBezTo>
                    <a:pt x="6991" y="1283073"/>
                    <a:pt x="4093" y="1324310"/>
                    <a:pt x="23149" y="1400536"/>
                  </a:cubicBezTo>
                  <a:cubicBezTo>
                    <a:pt x="26108" y="1412373"/>
                    <a:pt x="28447" y="1424798"/>
                    <a:pt x="34724" y="1435260"/>
                  </a:cubicBezTo>
                  <a:cubicBezTo>
                    <a:pt x="40339" y="1444618"/>
                    <a:pt x="50157" y="1450693"/>
                    <a:pt x="57873" y="1458410"/>
                  </a:cubicBezTo>
                  <a:cubicBezTo>
                    <a:pt x="61731" y="1469985"/>
                    <a:pt x="62127" y="1483373"/>
                    <a:pt x="69448" y="1493134"/>
                  </a:cubicBezTo>
                  <a:cubicBezTo>
                    <a:pt x="85817" y="1514959"/>
                    <a:pt x="127322" y="1551007"/>
                    <a:pt x="127322" y="1551007"/>
                  </a:cubicBezTo>
                  <a:cubicBezTo>
                    <a:pt x="147422" y="1611310"/>
                    <a:pt x="125730" y="1563485"/>
                    <a:pt x="162046" y="1608881"/>
                  </a:cubicBezTo>
                  <a:cubicBezTo>
                    <a:pt x="186448" y="1639384"/>
                    <a:pt x="184568" y="1654762"/>
                    <a:pt x="219919" y="1678329"/>
                  </a:cubicBezTo>
                  <a:cubicBezTo>
                    <a:pt x="230071" y="1685097"/>
                    <a:pt x="243068" y="1686045"/>
                    <a:pt x="254643" y="1689903"/>
                  </a:cubicBezTo>
                  <a:cubicBezTo>
                    <a:pt x="286252" y="1721512"/>
                    <a:pt x="326586" y="1767899"/>
                    <a:pt x="370390" y="1782501"/>
                  </a:cubicBezTo>
                  <a:cubicBezTo>
                    <a:pt x="381965" y="1786359"/>
                    <a:pt x="394201" y="1788620"/>
                    <a:pt x="405114" y="1794076"/>
                  </a:cubicBezTo>
                  <a:cubicBezTo>
                    <a:pt x="417556" y="1800297"/>
                    <a:pt x="427052" y="1811745"/>
                    <a:pt x="439838" y="1817225"/>
                  </a:cubicBezTo>
                  <a:cubicBezTo>
                    <a:pt x="454460" y="1823491"/>
                    <a:pt x="471242" y="1823214"/>
                    <a:pt x="486137" y="1828800"/>
                  </a:cubicBezTo>
                  <a:cubicBezTo>
                    <a:pt x="502293" y="1834858"/>
                    <a:pt x="516279" y="1845891"/>
                    <a:pt x="532435" y="1851949"/>
                  </a:cubicBezTo>
                  <a:cubicBezTo>
                    <a:pt x="547330" y="1857535"/>
                    <a:pt x="563839" y="1857938"/>
                    <a:pt x="578734" y="1863524"/>
                  </a:cubicBezTo>
                  <a:cubicBezTo>
                    <a:pt x="594890" y="1869582"/>
                    <a:pt x="608877" y="1880615"/>
                    <a:pt x="625033" y="1886673"/>
                  </a:cubicBezTo>
                  <a:cubicBezTo>
                    <a:pt x="639928" y="1892259"/>
                    <a:pt x="655696" y="1895316"/>
                    <a:pt x="671332" y="1898248"/>
                  </a:cubicBezTo>
                  <a:cubicBezTo>
                    <a:pt x="717465" y="1906898"/>
                    <a:pt x="764202" y="1912192"/>
                    <a:pt x="810228" y="1921397"/>
                  </a:cubicBezTo>
                  <a:lnTo>
                    <a:pt x="925975" y="1944546"/>
                  </a:lnTo>
                  <a:cubicBezTo>
                    <a:pt x="945266" y="1948404"/>
                    <a:pt x="964762" y="1951349"/>
                    <a:pt x="983848" y="1956121"/>
                  </a:cubicBezTo>
                  <a:lnTo>
                    <a:pt x="1030147" y="1967696"/>
                  </a:lnTo>
                  <a:cubicBezTo>
                    <a:pt x="1118886" y="1963838"/>
                    <a:pt x="1208013" y="1965261"/>
                    <a:pt x="1296365" y="1956121"/>
                  </a:cubicBezTo>
                  <a:cubicBezTo>
                    <a:pt x="1342676" y="1951330"/>
                    <a:pt x="1371923" y="1927046"/>
                    <a:pt x="1412111" y="1909822"/>
                  </a:cubicBezTo>
                  <a:cubicBezTo>
                    <a:pt x="1423325" y="1905016"/>
                    <a:pt x="1435260" y="1902106"/>
                    <a:pt x="1446835" y="1898248"/>
                  </a:cubicBezTo>
                  <a:cubicBezTo>
                    <a:pt x="1454552" y="1890531"/>
                    <a:pt x="1461463" y="1881915"/>
                    <a:pt x="1469985" y="1875098"/>
                  </a:cubicBezTo>
                  <a:cubicBezTo>
                    <a:pt x="1480848" y="1866408"/>
                    <a:pt x="1494872" y="1861786"/>
                    <a:pt x="1504709" y="1851949"/>
                  </a:cubicBezTo>
                  <a:cubicBezTo>
                    <a:pt x="1514546" y="1842112"/>
                    <a:pt x="1518021" y="1827062"/>
                    <a:pt x="1527858" y="1817225"/>
                  </a:cubicBezTo>
                  <a:cubicBezTo>
                    <a:pt x="1537695" y="1807388"/>
                    <a:pt x="1551719" y="1802766"/>
                    <a:pt x="1562582" y="1794076"/>
                  </a:cubicBezTo>
                  <a:cubicBezTo>
                    <a:pt x="1571104" y="1787259"/>
                    <a:pt x="1577348" y="1777912"/>
                    <a:pt x="1585732" y="1770926"/>
                  </a:cubicBezTo>
                  <a:cubicBezTo>
                    <a:pt x="1668283" y="1702133"/>
                    <a:pt x="1602820" y="1765411"/>
                    <a:pt x="1655180" y="1713053"/>
                  </a:cubicBezTo>
                  <a:cubicBezTo>
                    <a:pt x="1659038" y="1701478"/>
                    <a:pt x="1657635" y="1686435"/>
                    <a:pt x="1666754" y="1678329"/>
                  </a:cubicBezTo>
                  <a:cubicBezTo>
                    <a:pt x="1785583" y="1572703"/>
                    <a:pt x="1723550" y="1656078"/>
                    <a:pt x="1794076" y="1597306"/>
                  </a:cubicBezTo>
                  <a:cubicBezTo>
                    <a:pt x="1843567" y="1556063"/>
                    <a:pt x="1815530" y="1573382"/>
                    <a:pt x="1851949" y="1527858"/>
                  </a:cubicBezTo>
                  <a:cubicBezTo>
                    <a:pt x="1858766" y="1519336"/>
                    <a:pt x="1867382" y="1512425"/>
                    <a:pt x="1875099" y="1504708"/>
                  </a:cubicBezTo>
                  <a:cubicBezTo>
                    <a:pt x="1878957" y="1493133"/>
                    <a:pt x="1881217" y="1480897"/>
                    <a:pt x="1886673" y="1469984"/>
                  </a:cubicBezTo>
                  <a:cubicBezTo>
                    <a:pt x="1895134" y="1453061"/>
                    <a:pt x="1936685" y="1399445"/>
                    <a:pt x="1944547" y="1388962"/>
                  </a:cubicBezTo>
                  <a:cubicBezTo>
                    <a:pt x="1948405" y="1377387"/>
                    <a:pt x="1956122" y="1366439"/>
                    <a:pt x="1956122" y="1354238"/>
                  </a:cubicBezTo>
                  <a:cubicBezTo>
                    <a:pt x="1956122" y="1121190"/>
                    <a:pt x="1963893" y="1165404"/>
                    <a:pt x="1932972" y="1041721"/>
                  </a:cubicBezTo>
                  <a:cubicBezTo>
                    <a:pt x="1936830" y="999281"/>
                    <a:pt x="1932522" y="955284"/>
                    <a:pt x="1944547" y="914400"/>
                  </a:cubicBezTo>
                  <a:cubicBezTo>
                    <a:pt x="1959605" y="863204"/>
                    <a:pt x="1997669" y="837859"/>
                    <a:pt x="2037144" y="810227"/>
                  </a:cubicBezTo>
                  <a:cubicBezTo>
                    <a:pt x="2059937" y="794272"/>
                    <a:pt x="2080198" y="772727"/>
                    <a:pt x="2106592" y="763929"/>
                  </a:cubicBezTo>
                  <a:cubicBezTo>
                    <a:pt x="2140348" y="752677"/>
                    <a:pt x="2154923" y="749638"/>
                    <a:pt x="2187615" y="729205"/>
                  </a:cubicBezTo>
                  <a:cubicBezTo>
                    <a:pt x="2307824" y="654074"/>
                    <a:pt x="2162898" y="729990"/>
                    <a:pt x="2280213" y="671331"/>
                  </a:cubicBezTo>
                  <a:cubicBezTo>
                    <a:pt x="2292637" y="652695"/>
                    <a:pt x="2322315" y="611288"/>
                    <a:pt x="2326511" y="590308"/>
                  </a:cubicBezTo>
                  <a:cubicBezTo>
                    <a:pt x="2334869" y="548520"/>
                    <a:pt x="2334228" y="505427"/>
                    <a:pt x="2338086" y="462987"/>
                  </a:cubicBezTo>
                  <a:cubicBezTo>
                    <a:pt x="2310333" y="379731"/>
                    <a:pt x="2344004" y="483701"/>
                    <a:pt x="2314937" y="381964"/>
                  </a:cubicBezTo>
                  <a:cubicBezTo>
                    <a:pt x="2311585" y="370233"/>
                    <a:pt x="2309287" y="357905"/>
                    <a:pt x="2303362" y="347240"/>
                  </a:cubicBezTo>
                  <a:cubicBezTo>
                    <a:pt x="2289850" y="322919"/>
                    <a:pt x="2269505" y="302677"/>
                    <a:pt x="2257063" y="277792"/>
                  </a:cubicBezTo>
                  <a:cubicBezTo>
                    <a:pt x="2249347" y="262359"/>
                    <a:pt x="2246115" y="243694"/>
                    <a:pt x="2233914" y="231493"/>
                  </a:cubicBezTo>
                  <a:cubicBezTo>
                    <a:pt x="2206071" y="203649"/>
                    <a:pt x="2102132" y="151002"/>
                    <a:pt x="2071868" y="138896"/>
                  </a:cubicBezTo>
                  <a:cubicBezTo>
                    <a:pt x="2052577" y="131179"/>
                    <a:pt x="2032981" y="124184"/>
                    <a:pt x="2013995" y="115746"/>
                  </a:cubicBezTo>
                  <a:cubicBezTo>
                    <a:pt x="1998228" y="108738"/>
                    <a:pt x="1983852" y="98655"/>
                    <a:pt x="1967696" y="92597"/>
                  </a:cubicBezTo>
                  <a:cubicBezTo>
                    <a:pt x="1935240" y="80426"/>
                    <a:pt x="1883077" y="76118"/>
                    <a:pt x="1851949" y="69448"/>
                  </a:cubicBezTo>
                  <a:cubicBezTo>
                    <a:pt x="1820840" y="62782"/>
                    <a:pt x="1790550" y="52537"/>
                    <a:pt x="1759352" y="46298"/>
                  </a:cubicBezTo>
                  <a:cubicBezTo>
                    <a:pt x="1720770" y="38582"/>
                    <a:pt x="1682790" y="26711"/>
                    <a:pt x="1643605" y="23149"/>
                  </a:cubicBezTo>
                  <a:lnTo>
                    <a:pt x="1388962" y="0"/>
                  </a:lnTo>
                  <a:cubicBezTo>
                    <a:pt x="1128705" y="52049"/>
                    <a:pt x="1408038" y="-260"/>
                    <a:pt x="729205" y="23149"/>
                  </a:cubicBezTo>
                  <a:cubicBezTo>
                    <a:pt x="677054" y="24947"/>
                    <a:pt x="639011" y="41639"/>
                    <a:pt x="590309" y="57873"/>
                  </a:cubicBezTo>
                  <a:lnTo>
                    <a:pt x="520861" y="81022"/>
                  </a:lnTo>
                  <a:cubicBezTo>
                    <a:pt x="509286" y="84880"/>
                    <a:pt x="497974" y="89638"/>
                    <a:pt x="486137" y="92597"/>
                  </a:cubicBezTo>
                  <a:lnTo>
                    <a:pt x="439838" y="104172"/>
                  </a:lnTo>
                  <a:cubicBezTo>
                    <a:pt x="339429" y="97478"/>
                    <a:pt x="258768" y="81852"/>
                    <a:pt x="162046" y="104172"/>
                  </a:cubicBezTo>
                  <a:cubicBezTo>
                    <a:pt x="145233" y="108052"/>
                    <a:pt x="131180" y="119605"/>
                    <a:pt x="115747" y="127321"/>
                  </a:cubicBezTo>
                  <a:cubicBezTo>
                    <a:pt x="108031" y="138896"/>
                    <a:pt x="101288" y="151182"/>
                    <a:pt x="92598" y="162045"/>
                  </a:cubicBezTo>
                  <a:cubicBezTo>
                    <a:pt x="85781" y="170566"/>
                    <a:pt x="75063" y="175836"/>
                    <a:pt x="69448" y="185194"/>
                  </a:cubicBezTo>
                  <a:cubicBezTo>
                    <a:pt x="63170" y="195656"/>
                    <a:pt x="61731" y="208344"/>
                    <a:pt x="57873" y="219919"/>
                  </a:cubicBezTo>
                  <a:cubicBezTo>
                    <a:pt x="54015" y="262359"/>
                    <a:pt x="48663" y="304690"/>
                    <a:pt x="46299" y="347240"/>
                  </a:cubicBezTo>
                  <a:cubicBezTo>
                    <a:pt x="30216" y="636737"/>
                    <a:pt x="4705" y="546553"/>
                    <a:pt x="46299" y="671331"/>
                  </a:cubicBezTo>
                  <a:cubicBezTo>
                    <a:pt x="26426" y="969412"/>
                    <a:pt x="17957" y="766305"/>
                    <a:pt x="46299" y="879676"/>
                  </a:cubicBezTo>
                  <a:cubicBezTo>
                    <a:pt x="51070" y="898762"/>
                    <a:pt x="54354" y="918193"/>
                    <a:pt x="57873" y="937549"/>
                  </a:cubicBezTo>
                  <a:cubicBezTo>
                    <a:pt x="62071" y="960639"/>
                    <a:pt x="77165" y="1014713"/>
                    <a:pt x="81023" y="1030146"/>
                  </a:cubicBezTo>
                  <a:close/>
                </a:path>
              </a:pathLst>
            </a:custGeom>
            <a:noFill/>
            <a:ln w="38100">
              <a:solidFill>
                <a:schemeClr val="accent2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82E75E81-F39B-7D08-E0C8-7F5814D2F9B9}"/>
                </a:ext>
              </a:extLst>
            </p:cNvPr>
            <p:cNvSpPr/>
            <p:nvPr/>
          </p:nvSpPr>
          <p:spPr>
            <a:xfrm>
              <a:off x="1613589" y="2593475"/>
              <a:ext cx="2955851" cy="435944"/>
            </a:xfrm>
            <a:custGeom>
              <a:avLst/>
              <a:gdLst>
                <a:gd name="csX0" fmla="*/ 0 w 2955851"/>
                <a:gd name="csY0" fmla="*/ 425312 h 435944"/>
                <a:gd name="csX1" fmla="*/ 1594883 w 2955851"/>
                <a:gd name="csY1" fmla="*/ 10 h 435944"/>
                <a:gd name="csX2" fmla="*/ 2955851 w 2955851"/>
                <a:gd name="csY2" fmla="*/ 435944 h 435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955851" h="435944">
                  <a:moveTo>
                    <a:pt x="0" y="425312"/>
                  </a:moveTo>
                  <a:cubicBezTo>
                    <a:pt x="551120" y="211775"/>
                    <a:pt x="1102241" y="-1762"/>
                    <a:pt x="1594883" y="10"/>
                  </a:cubicBezTo>
                  <a:cubicBezTo>
                    <a:pt x="2087525" y="1782"/>
                    <a:pt x="2512828" y="281772"/>
                    <a:pt x="2955851" y="435944"/>
                  </a:cubicBezTo>
                </a:path>
              </a:pathLst>
            </a:custGeom>
            <a:noFill/>
            <a:ln w="38100"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233B2A9-2997-387A-B06A-D3B740F8A8DE}"/>
                </a:ext>
              </a:extLst>
            </p:cNvPr>
            <p:cNvSpPr/>
            <p:nvPr/>
          </p:nvSpPr>
          <p:spPr>
            <a:xfrm flipV="1">
              <a:off x="1595551" y="3676886"/>
              <a:ext cx="2955851" cy="435944"/>
            </a:xfrm>
            <a:custGeom>
              <a:avLst/>
              <a:gdLst>
                <a:gd name="csX0" fmla="*/ 0 w 2955851"/>
                <a:gd name="csY0" fmla="*/ 425312 h 435944"/>
                <a:gd name="csX1" fmla="*/ 1594883 w 2955851"/>
                <a:gd name="csY1" fmla="*/ 10 h 435944"/>
                <a:gd name="csX2" fmla="*/ 2955851 w 2955851"/>
                <a:gd name="csY2" fmla="*/ 435944 h 435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955851" h="435944">
                  <a:moveTo>
                    <a:pt x="0" y="425312"/>
                  </a:moveTo>
                  <a:cubicBezTo>
                    <a:pt x="551120" y="211775"/>
                    <a:pt x="1102241" y="-1762"/>
                    <a:pt x="1594883" y="10"/>
                  </a:cubicBezTo>
                  <a:cubicBezTo>
                    <a:pt x="2087525" y="1782"/>
                    <a:pt x="2512828" y="281772"/>
                    <a:pt x="2955851" y="435944"/>
                  </a:cubicBezTo>
                </a:path>
              </a:pathLst>
            </a:custGeom>
            <a:noFill/>
            <a:ln w="38100">
              <a:headEnd type="arrow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771AC59-25F6-BC18-14F3-1F1F9CD77709}"/>
                    </a:ext>
                  </a:extLst>
                </p:cNvPr>
                <p:cNvSpPr txBox="1"/>
                <p:nvPr/>
              </p:nvSpPr>
              <p:spPr>
                <a:xfrm>
                  <a:off x="2928313" y="2659892"/>
                  <a:ext cx="505198" cy="3835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771AC59-25F6-BC18-14F3-1F1F9CD777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8313" y="2659892"/>
                  <a:ext cx="505198" cy="38354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12976E5-2613-9027-9219-328C69A08F61}"/>
                    </a:ext>
                  </a:extLst>
                </p:cNvPr>
                <p:cNvSpPr txBox="1"/>
                <p:nvPr/>
              </p:nvSpPr>
              <p:spPr>
                <a:xfrm>
                  <a:off x="2922024" y="3620066"/>
                  <a:ext cx="505198" cy="3904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12976E5-2613-9027-9219-328C69A08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2024" y="3620066"/>
                  <a:ext cx="505198" cy="390473"/>
                </a:xfrm>
                <a:prstGeom prst="rect">
                  <a:avLst/>
                </a:prstGeom>
                <a:blipFill>
                  <a:blip r:embed="rId3"/>
                  <a:stretch>
                    <a:fillRect l="-2041" r="-81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2" name="Picture 51" descr="A diagram of a liquid&#10;&#10;AI-generated content may be incorrect.">
            <a:extLst>
              <a:ext uri="{FF2B5EF4-FFF2-40B4-BE49-F238E27FC236}">
                <a16:creationId xmlns:a16="http://schemas.microsoft.com/office/drawing/2014/main" id="{0DA3C7FA-8132-5E20-35DC-298E115AB4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00" r="42289"/>
          <a:stretch>
            <a:fillRect/>
          </a:stretch>
        </p:blipFill>
        <p:spPr>
          <a:xfrm>
            <a:off x="6529136" y="2310798"/>
            <a:ext cx="4842293" cy="254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779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2CAF9CB-8C1A-3DCA-8A58-E2C6EDACE9E9}"/>
              </a:ext>
            </a:extLst>
          </p:cNvPr>
          <p:cNvSpPr/>
          <p:nvPr/>
        </p:nvSpPr>
        <p:spPr>
          <a:xfrm>
            <a:off x="341586" y="1336876"/>
            <a:ext cx="11508828" cy="418424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ysClr val="windowText" lastClr="000000"/>
                </a:solidFill>
              </a:rPr>
              <a:t>Part I</a:t>
            </a:r>
          </a:p>
          <a:p>
            <a:pPr algn="ctr"/>
            <a:r>
              <a:rPr lang="en-US" sz="3600" dirty="0">
                <a:solidFill>
                  <a:sysClr val="windowText" lastClr="000000"/>
                </a:solidFill>
              </a:rPr>
              <a:t>What are Normalizing Flows and how are they Constructed?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1F3723-68B8-B8F5-3E3F-F8189EEE6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50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EC4FD5-CC79-D252-28CB-2BD1DD572B4F}"/>
              </a:ext>
            </a:extLst>
          </p:cNvPr>
          <p:cNvSpPr txBox="1">
            <a:spLocks/>
          </p:cNvSpPr>
          <p:nvPr/>
        </p:nvSpPr>
        <p:spPr>
          <a:xfrm>
            <a:off x="341586" y="182944"/>
            <a:ext cx="8450317" cy="613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What is a Normalizing Flow?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F7D0BB-5A05-A350-75ED-EFEA9B75C8AE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E3041A99-3B73-66D8-1905-BFF716E09EBF}"/>
                  </a:ext>
                </a:extLst>
              </p:cNvPr>
              <p:cNvSpPr/>
              <p:nvPr/>
            </p:nvSpPr>
            <p:spPr>
              <a:xfrm>
                <a:off x="341586" y="1087840"/>
                <a:ext cx="11508828" cy="1185861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u="sng" dirty="0">
                    <a:solidFill>
                      <a:sysClr val="windowText" lastClr="000000"/>
                    </a:solidFill>
                  </a:rPr>
                  <a:t>Definition</a:t>
                </a:r>
                <a:r>
                  <a:rPr lang="en-US" sz="2000" dirty="0">
                    <a:solidFill>
                      <a:sysClr val="windowText" lastClr="000000"/>
                    </a:solidFill>
                  </a:rPr>
                  <a:t>: A </a:t>
                </a:r>
                <a:r>
                  <a:rPr lang="en-US" sz="2000" b="1" i="1" dirty="0">
                    <a:solidFill>
                      <a:sysClr val="windowText" lastClr="000000"/>
                    </a:solidFill>
                  </a:rPr>
                  <a:t>normalizing flow </a:t>
                </a:r>
                <a:r>
                  <a:rPr lang="en-US" sz="2000" dirty="0">
                    <a:solidFill>
                      <a:sysClr val="windowText" lastClr="000000"/>
                    </a:solidFill>
                  </a:rPr>
                  <a:t>is a function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ysClr val="windowText" lastClr="000000"/>
                    </a:solidFill>
                  </a:rPr>
                  <a:t>) that warps a base probability distribution (hence a “flow”) into a new distribution, with an analytically known density (hence “normalizing)”, that attempts to match some target distribution. </a:t>
                </a:r>
                <a:endParaRPr lang="en-US" sz="2000" i="1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E3041A99-3B73-66D8-1905-BFF716E09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86" y="1087840"/>
                <a:ext cx="11508828" cy="1185861"/>
              </a:xfrm>
              <a:prstGeom prst="roundRect">
                <a:avLst/>
              </a:prstGeom>
              <a:blipFill>
                <a:blip r:embed="rId3"/>
                <a:stretch>
                  <a:fillRect b="-104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A6BB6FC5-C6D6-A405-C4AF-DA0362AB5CDD}"/>
              </a:ext>
            </a:extLst>
          </p:cNvPr>
          <p:cNvGrpSpPr/>
          <p:nvPr/>
        </p:nvGrpSpPr>
        <p:grpSpPr>
          <a:xfrm>
            <a:off x="1524000" y="2882108"/>
            <a:ext cx="2117282" cy="1839903"/>
            <a:chOff x="1728788" y="2422680"/>
            <a:chExt cx="1782806" cy="1549246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4CFA18DE-B05E-3AE2-554B-2CF3E91BC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54" t="36654" r="84167" b="23649"/>
            <a:stretch>
              <a:fillRect/>
            </a:stretch>
          </p:blipFill>
          <p:spPr bwMode="auto">
            <a:xfrm>
              <a:off x="1890659" y="2514926"/>
              <a:ext cx="1460500" cy="145700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36DA905-1A57-2149-DDF6-B5026E9AB3D3}"/>
                </a:ext>
              </a:extLst>
            </p:cNvPr>
            <p:cNvSpPr/>
            <p:nvPr/>
          </p:nvSpPr>
          <p:spPr>
            <a:xfrm>
              <a:off x="1728788" y="2422680"/>
              <a:ext cx="1782806" cy="14569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898F062-0664-F4A2-6402-055A36AE17BA}"/>
              </a:ext>
            </a:extLst>
          </p:cNvPr>
          <p:cNvGrpSpPr/>
          <p:nvPr/>
        </p:nvGrpSpPr>
        <p:grpSpPr>
          <a:xfrm>
            <a:off x="8550718" y="2882108"/>
            <a:ext cx="2117282" cy="1889048"/>
            <a:chOff x="5533633" y="2448189"/>
            <a:chExt cx="1782806" cy="1590627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334ADD4B-C8CF-CE98-AE73-CEB8B6157E7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919" t="36012" r="4688" b="21774"/>
            <a:stretch>
              <a:fillRect/>
            </a:stretch>
          </p:blipFill>
          <p:spPr bwMode="auto">
            <a:xfrm>
              <a:off x="5608607" y="2489417"/>
              <a:ext cx="1632858" cy="1549399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492C785-B951-6454-74BF-BEE8E92EC658}"/>
                </a:ext>
              </a:extLst>
            </p:cNvPr>
            <p:cNvSpPr/>
            <p:nvPr/>
          </p:nvSpPr>
          <p:spPr>
            <a:xfrm>
              <a:off x="5533633" y="2448189"/>
              <a:ext cx="1782806" cy="14569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231C6B5-5D4E-ED98-7FD8-BF39BB512496}"/>
                  </a:ext>
                </a:extLst>
              </p:cNvPr>
              <p:cNvSpPr txBox="1"/>
              <p:nvPr/>
            </p:nvSpPr>
            <p:spPr>
              <a:xfrm>
                <a:off x="2116423" y="2411834"/>
                <a:ext cx="9324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231C6B5-5D4E-ED98-7FD8-BF39BB512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423" y="2411834"/>
                <a:ext cx="932435" cy="276999"/>
              </a:xfrm>
              <a:prstGeom prst="rect">
                <a:avLst/>
              </a:prstGeom>
              <a:blipFill>
                <a:blip r:embed="rId5"/>
                <a:stretch>
                  <a:fillRect l="-2667" t="-4545" r="-8000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732E262-6452-C95E-9C88-F3113FA47031}"/>
                  </a:ext>
                </a:extLst>
              </p:cNvPr>
              <p:cNvSpPr txBox="1"/>
              <p:nvPr/>
            </p:nvSpPr>
            <p:spPr>
              <a:xfrm>
                <a:off x="8758870" y="2411833"/>
                <a:ext cx="17640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)~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732E262-6452-C95E-9C88-F3113FA47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870" y="2411833"/>
                <a:ext cx="1764009" cy="276999"/>
              </a:xfrm>
              <a:prstGeom prst="rect">
                <a:avLst/>
              </a:prstGeom>
              <a:blipFill>
                <a:blip r:embed="rId6"/>
                <a:stretch>
                  <a:fillRect l="-2143" t="-4545" r="-3571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139A5C9E-6CEB-721A-6984-ADF192047016}"/>
              </a:ext>
            </a:extLst>
          </p:cNvPr>
          <p:cNvGrpSpPr/>
          <p:nvPr/>
        </p:nvGrpSpPr>
        <p:grpSpPr>
          <a:xfrm>
            <a:off x="3658264" y="2632437"/>
            <a:ext cx="4835881" cy="481534"/>
            <a:chOff x="3658264" y="2632437"/>
            <a:chExt cx="4835881" cy="481534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DA0B980-3B70-5A4F-0773-F4BDB255E938}"/>
                </a:ext>
              </a:extLst>
            </p:cNvPr>
            <p:cNvCxnSpPr/>
            <p:nvPr/>
          </p:nvCxnSpPr>
          <p:spPr>
            <a:xfrm>
              <a:off x="3658264" y="3113971"/>
              <a:ext cx="483588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7E7C90F-496C-4A45-DB9D-09311F994D8C}"/>
                    </a:ext>
                  </a:extLst>
                </p:cNvPr>
                <p:cNvSpPr txBox="1"/>
                <p:nvPr/>
              </p:nvSpPr>
              <p:spPr>
                <a:xfrm>
                  <a:off x="4571405" y="2632437"/>
                  <a:ext cx="304919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7E7C90F-496C-4A45-DB9D-09311F994D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1405" y="2632437"/>
                  <a:ext cx="304919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75DFA4B-C84A-FF6F-7B95-37A09AC5B08F}"/>
              </a:ext>
            </a:extLst>
          </p:cNvPr>
          <p:cNvGrpSpPr/>
          <p:nvPr/>
        </p:nvGrpSpPr>
        <p:grpSpPr>
          <a:xfrm>
            <a:off x="3644264" y="3711458"/>
            <a:ext cx="4895503" cy="1163108"/>
            <a:chOff x="3644264" y="3711458"/>
            <a:chExt cx="4895503" cy="1163108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614B8E7-C3B9-80FC-753E-19C196EBB2D6}"/>
                </a:ext>
              </a:extLst>
            </p:cNvPr>
            <p:cNvSpPr>
              <a:spLocks/>
            </p:cNvSpPr>
            <p:nvPr/>
          </p:nvSpPr>
          <p:spPr>
            <a:xfrm>
              <a:off x="7614092" y="3970052"/>
              <a:ext cx="320040" cy="3200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684AD19-B959-EB0B-752C-0117C3E04555}"/>
                </a:ext>
              </a:extLst>
            </p:cNvPr>
            <p:cNvCxnSpPr>
              <a:cxnSpLocks/>
            </p:cNvCxnSpPr>
            <p:nvPr/>
          </p:nvCxnSpPr>
          <p:spPr>
            <a:xfrm>
              <a:off x="3658264" y="4137545"/>
              <a:ext cx="549528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6AC355C-E271-0845-F607-29C0B1D31C9B}"/>
                </a:ext>
              </a:extLst>
            </p:cNvPr>
            <p:cNvCxnSpPr>
              <a:cxnSpLocks/>
            </p:cNvCxnSpPr>
            <p:nvPr/>
          </p:nvCxnSpPr>
          <p:spPr>
            <a:xfrm>
              <a:off x="4550559" y="4137545"/>
              <a:ext cx="549528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08F9C3F-76C8-DBE4-7F23-AB03163EB5A1}"/>
                </a:ext>
              </a:extLst>
            </p:cNvPr>
            <p:cNvCxnSpPr>
              <a:cxnSpLocks/>
            </p:cNvCxnSpPr>
            <p:nvPr/>
          </p:nvCxnSpPr>
          <p:spPr>
            <a:xfrm>
              <a:off x="5450469" y="4137545"/>
              <a:ext cx="549528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CB1EDA0-1698-3919-A286-9B40424AB535}"/>
                </a:ext>
              </a:extLst>
            </p:cNvPr>
            <p:cNvCxnSpPr>
              <a:cxnSpLocks/>
            </p:cNvCxnSpPr>
            <p:nvPr/>
          </p:nvCxnSpPr>
          <p:spPr>
            <a:xfrm>
              <a:off x="7044723" y="4137545"/>
              <a:ext cx="549528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0DB2DB0-E18E-2983-640F-8F245FDFFA9A}"/>
                </a:ext>
              </a:extLst>
            </p:cNvPr>
            <p:cNvCxnSpPr>
              <a:cxnSpLocks/>
            </p:cNvCxnSpPr>
            <p:nvPr/>
          </p:nvCxnSpPr>
          <p:spPr>
            <a:xfrm>
              <a:off x="7953974" y="4137543"/>
              <a:ext cx="549528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7DD8787-6047-31E9-081D-A6DA26185760}"/>
                    </a:ext>
                  </a:extLst>
                </p:cNvPr>
                <p:cNvSpPr txBox="1"/>
                <p:nvPr/>
              </p:nvSpPr>
              <p:spPr>
                <a:xfrm>
                  <a:off x="6274416" y="3851113"/>
                  <a:ext cx="439766" cy="10234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sz="2800" b="0" dirty="0"/>
                </a:p>
                <a:p>
                  <a:endParaRPr lang="en-US" sz="28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7DD8787-6047-31E9-081D-A6DA261857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4416" y="3851113"/>
                  <a:ext cx="439766" cy="102345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F792C61-2EDF-5471-B23E-531C0F0506B0}"/>
                </a:ext>
              </a:extLst>
            </p:cNvPr>
            <p:cNvSpPr>
              <a:spLocks/>
            </p:cNvSpPr>
            <p:nvPr/>
          </p:nvSpPr>
          <p:spPr>
            <a:xfrm>
              <a:off x="5079208" y="3962432"/>
              <a:ext cx="320040" cy="3200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3C71923-DDD8-94A0-8D15-EDD938E543A0}"/>
                </a:ext>
              </a:extLst>
            </p:cNvPr>
            <p:cNvSpPr>
              <a:spLocks/>
            </p:cNvSpPr>
            <p:nvPr/>
          </p:nvSpPr>
          <p:spPr>
            <a:xfrm>
              <a:off x="4206911" y="3962432"/>
              <a:ext cx="320040" cy="3200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DB794BE-8270-9FF9-11D8-A787D313981D}"/>
                    </a:ext>
                  </a:extLst>
                </p:cNvPr>
                <p:cNvSpPr txBox="1"/>
                <p:nvPr/>
              </p:nvSpPr>
              <p:spPr>
                <a:xfrm>
                  <a:off x="7924073" y="3711458"/>
                  <a:ext cx="5944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DB794BE-8270-9FF9-11D8-A787D3139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4073" y="3711458"/>
                  <a:ext cx="59447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C4B9A79-CA53-420C-B155-D7FAAEF9ACF3}"/>
                    </a:ext>
                  </a:extLst>
                </p:cNvPr>
                <p:cNvSpPr txBox="1"/>
                <p:nvPr/>
              </p:nvSpPr>
              <p:spPr>
                <a:xfrm>
                  <a:off x="6966008" y="3711458"/>
                  <a:ext cx="5944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C4B9A79-CA53-420C-B155-D7FAAEF9A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6008" y="3711458"/>
                  <a:ext cx="59447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C616FB3-DF19-B6EB-5F2F-0E36D82323DB}"/>
                    </a:ext>
                  </a:extLst>
                </p:cNvPr>
                <p:cNvSpPr txBox="1"/>
                <p:nvPr/>
              </p:nvSpPr>
              <p:spPr>
                <a:xfrm>
                  <a:off x="3644264" y="3711458"/>
                  <a:ext cx="5944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C616FB3-DF19-B6EB-5F2F-0E36D8232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264" y="3711458"/>
                  <a:ext cx="59447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DE056BD-A05A-2B72-645C-20C166BF8A28}"/>
                    </a:ext>
                  </a:extLst>
                </p:cNvPr>
                <p:cNvSpPr txBox="1"/>
                <p:nvPr/>
              </p:nvSpPr>
              <p:spPr>
                <a:xfrm>
                  <a:off x="4516603" y="3712118"/>
                  <a:ext cx="5944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DE056BD-A05A-2B72-645C-20C166BF8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6603" y="3712118"/>
                  <a:ext cx="59447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2D46BD00-01D1-9CF3-16CB-25E0AE6E54AB}"/>
                    </a:ext>
                  </a:extLst>
                </p:cNvPr>
                <p:cNvSpPr txBox="1"/>
                <p:nvPr/>
              </p:nvSpPr>
              <p:spPr>
                <a:xfrm>
                  <a:off x="5402536" y="3711458"/>
                  <a:ext cx="5944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2D46BD00-01D1-9CF3-16CB-25E0AE6E54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2536" y="3711458"/>
                  <a:ext cx="59447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3A26507-E4CF-6B33-D9CD-B4933808B31E}"/>
                    </a:ext>
                  </a:extLst>
                </p:cNvPr>
                <p:cNvSpPr txBox="1"/>
                <p:nvPr/>
              </p:nvSpPr>
              <p:spPr>
                <a:xfrm>
                  <a:off x="4034010" y="4372600"/>
                  <a:ext cx="66584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3A26507-E4CF-6B33-D9CD-B4933808B3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010" y="4372600"/>
                  <a:ext cx="665841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2963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97613BC-CF98-D47A-95F0-5D920989915D}"/>
                    </a:ext>
                  </a:extLst>
                </p:cNvPr>
                <p:cNvSpPr txBox="1"/>
                <p:nvPr/>
              </p:nvSpPr>
              <p:spPr>
                <a:xfrm>
                  <a:off x="4901017" y="4367627"/>
                  <a:ext cx="66584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97613BC-CF98-D47A-95F0-5D9209899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1017" y="4367627"/>
                  <a:ext cx="665841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3148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4" name="TextBox 1023">
                  <a:extLst>
                    <a:ext uri="{FF2B5EF4-FFF2-40B4-BE49-F238E27FC236}">
                      <a16:creationId xmlns:a16="http://schemas.microsoft.com/office/drawing/2014/main" id="{506438CF-AD33-A04E-E97E-A96417EC53A0}"/>
                    </a:ext>
                  </a:extLst>
                </p:cNvPr>
                <p:cNvSpPr txBox="1"/>
                <p:nvPr/>
              </p:nvSpPr>
              <p:spPr>
                <a:xfrm>
                  <a:off x="7008456" y="4352679"/>
                  <a:ext cx="153131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24" name="TextBox 1023">
                  <a:extLst>
                    <a:ext uri="{FF2B5EF4-FFF2-40B4-BE49-F238E27FC236}">
                      <a16:creationId xmlns:a16="http://schemas.microsoft.com/office/drawing/2014/main" id="{506438CF-AD33-A04E-E97E-A96417EC5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8456" y="4352679"/>
                  <a:ext cx="1531311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C71A9DD-F96F-DCA2-CF6F-BE64E8EFDDDE}"/>
              </a:ext>
            </a:extLst>
          </p:cNvPr>
          <p:cNvGrpSpPr/>
          <p:nvPr/>
        </p:nvGrpSpPr>
        <p:grpSpPr>
          <a:xfrm>
            <a:off x="341586" y="4970780"/>
            <a:ext cx="11508828" cy="1512469"/>
            <a:chOff x="341586" y="5023943"/>
            <a:chExt cx="11508828" cy="15124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7" name="Rounded Rectangle 1026">
                  <a:extLst>
                    <a:ext uri="{FF2B5EF4-FFF2-40B4-BE49-F238E27FC236}">
                      <a16:creationId xmlns:a16="http://schemas.microsoft.com/office/drawing/2014/main" id="{733E2F23-7910-748D-D7B7-C44C200B211D}"/>
                    </a:ext>
                  </a:extLst>
                </p:cNvPr>
                <p:cNvSpPr/>
                <p:nvPr/>
              </p:nvSpPr>
              <p:spPr>
                <a:xfrm>
                  <a:off x="341586" y="5023943"/>
                  <a:ext cx="11508828" cy="1512469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a14:m>
                  <a:r>
                    <a:rPr lang="en-US" sz="2000" i="1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sz="2000" dirty="0">
                      <a:solidFill>
                        <a:schemeClr val="tx1"/>
                      </a:solidFill>
                    </a:rPr>
                    <a:t>is required to be a </a:t>
                  </a:r>
                  <a:r>
                    <a:rPr lang="en-US" sz="2000" b="1" i="1" dirty="0">
                      <a:solidFill>
                        <a:schemeClr val="tx1"/>
                      </a:solidFill>
                    </a:rPr>
                    <a:t>diffeomorphism</a:t>
                  </a:r>
                  <a:r>
                    <a:rPr lang="en-US" sz="2000" dirty="0">
                      <a:solidFill>
                        <a:schemeClr val="tx1"/>
                      </a:solidFill>
                    </a:rPr>
                    <a:t> (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US" sz="2000" i="1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sz="2000" dirty="0">
                      <a:solidFill>
                        <a:schemeClr val="tx1"/>
                      </a:solidFill>
                    </a:rPr>
                    <a:t>is bijective</a:t>
                  </a:r>
                  <a:r>
                    <a:rPr lang="en-US" sz="2000" i="1" dirty="0">
                      <a:solidFill>
                        <a:schemeClr val="tx1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US" sz="2000" i="1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sz="2000" dirty="0">
                      <a:solidFill>
                        <a:schemeClr val="tx1"/>
                      </a:solidFill>
                    </a:rPr>
                    <a:t>and</a:t>
                  </a:r>
                  <a:r>
                    <a:rPr lang="en-US" sz="2000" i="1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a14:m>
                  <a:r>
                    <a:rPr lang="en-US" sz="2000" i="1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sz="2000" dirty="0">
                      <a:solidFill>
                        <a:schemeClr val="tx1"/>
                      </a:solidFill>
                    </a:rPr>
                    <a:t>are differentiable). By the exact change of variables relation – 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20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27" name="Rounded Rectangle 1026">
                  <a:extLst>
                    <a:ext uri="{FF2B5EF4-FFF2-40B4-BE49-F238E27FC236}">
                      <a16:creationId xmlns:a16="http://schemas.microsoft.com/office/drawing/2014/main" id="{733E2F23-7910-748D-D7B7-C44C200B21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586" y="5023943"/>
                  <a:ext cx="11508828" cy="1512469"/>
                </a:xfrm>
                <a:prstGeom prst="round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1" name="TextBox 1030">
                  <a:extLst>
                    <a:ext uri="{FF2B5EF4-FFF2-40B4-BE49-F238E27FC236}">
                      <a16:creationId xmlns:a16="http://schemas.microsoft.com/office/drawing/2014/main" id="{E280FBBE-FAAC-F696-A9D4-54076D1A372A}"/>
                    </a:ext>
                  </a:extLst>
                </p:cNvPr>
                <p:cNvSpPr txBox="1"/>
                <p:nvPr/>
              </p:nvSpPr>
              <p:spPr>
                <a:xfrm>
                  <a:off x="3227607" y="5934459"/>
                  <a:ext cx="6093618" cy="3755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800" b="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det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func>
                              <m:d>
                                <m:d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𝒥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func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31" name="TextBox 1030">
                  <a:extLst>
                    <a:ext uri="{FF2B5EF4-FFF2-40B4-BE49-F238E27FC236}">
                      <a16:creationId xmlns:a16="http://schemas.microsoft.com/office/drawing/2014/main" id="{E280FBBE-FAAC-F696-A9D4-54076D1A37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607" y="5934459"/>
                  <a:ext cx="6093618" cy="375552"/>
                </a:xfrm>
                <a:prstGeom prst="rect">
                  <a:avLst/>
                </a:prstGeom>
                <a:blipFill>
                  <a:blip r:embed="rId1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B9C30F9-784B-DE8C-EE0B-41F614A66D24}"/>
              </a:ext>
            </a:extLst>
          </p:cNvPr>
          <p:cNvSpPr txBox="1"/>
          <p:nvPr/>
        </p:nvSpPr>
        <p:spPr>
          <a:xfrm>
            <a:off x="339492" y="6561894"/>
            <a:ext cx="63746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[1] G.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Papamakarios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et al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. 2021. Normalizing flows for probabilistic modeling and inference. 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J. Mach. Learn. Res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. 22, 1, Article 57.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3F4A69D-0CED-E507-2D05-AD9FD159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3946"/>
            <a:ext cx="2743200" cy="365125"/>
          </a:xfrm>
        </p:spPr>
        <p:txBody>
          <a:bodyPr/>
          <a:lstStyle/>
          <a:p>
            <a:fld id="{57FA8C4A-3364-AF4B-A283-FA38924849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0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385F027-3EC1-E4D7-6694-F954A36C0DA6}"/>
              </a:ext>
            </a:extLst>
          </p:cNvPr>
          <p:cNvSpPr txBox="1">
            <a:spLocks/>
          </p:cNvSpPr>
          <p:nvPr/>
        </p:nvSpPr>
        <p:spPr>
          <a:xfrm>
            <a:off x="341586" y="182944"/>
            <a:ext cx="8450317" cy="613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How are Normalizing Flows Constructed?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F529C7-85B2-9E10-9A2B-2BD3CA1093C9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E07AB3-B7E6-7162-DCB9-42ED808F48C2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4129640" y="3757091"/>
            <a:ext cx="2215208" cy="39355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8DEDB7-EEFE-366A-C963-73D6B1428D6F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4129640" y="4150641"/>
            <a:ext cx="2215208" cy="33345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10F9C3-2A19-3AC5-04A0-CCABB8227061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4139471" y="4122535"/>
            <a:ext cx="2448722" cy="156829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40E9676-8724-D81C-D5F4-16784DC7FC43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4129640" y="4876941"/>
            <a:ext cx="2458553" cy="81389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923C13-DE65-DDB9-EAF9-0688E0DC8F24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4129640" y="4150641"/>
            <a:ext cx="2215208" cy="184226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E030F91-858F-342A-028A-A98DF860E04A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4129640" y="4150641"/>
            <a:ext cx="2215208" cy="1133245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F336FD2-3F89-04E8-EACF-24D4129201CA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4129640" y="5603241"/>
            <a:ext cx="2458553" cy="8759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3F2A98F-9413-4995-35FF-7852FDE07EA5}"/>
              </a:ext>
            </a:extLst>
          </p:cNvPr>
          <p:cNvCxnSpPr>
            <a:cxnSpLocks/>
            <a:stCxn id="23" idx="0"/>
          </p:cNvCxnSpPr>
          <p:nvPr/>
        </p:nvCxnSpPr>
        <p:spPr>
          <a:xfrm>
            <a:off x="8778331" y="4150641"/>
            <a:ext cx="15829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A31B1CAA-920E-BC59-7C15-B11CC18DE4FE}"/>
              </a:ext>
            </a:extLst>
          </p:cNvPr>
          <p:cNvGrpSpPr/>
          <p:nvPr/>
        </p:nvGrpSpPr>
        <p:grpSpPr>
          <a:xfrm>
            <a:off x="6344848" y="3330352"/>
            <a:ext cx="2433483" cy="1640577"/>
            <a:chOff x="6344848" y="3330352"/>
            <a:chExt cx="2433483" cy="1640577"/>
          </a:xfrm>
        </p:grpSpPr>
        <p:sp>
          <p:nvSpPr>
            <p:cNvPr id="23" name="Trapezoid 22">
              <a:extLst>
                <a:ext uri="{FF2B5EF4-FFF2-40B4-BE49-F238E27FC236}">
                  <a16:creationId xmlns:a16="http://schemas.microsoft.com/office/drawing/2014/main" id="{A83DCCB8-162E-FC8E-DF09-3AF5E1017881}"/>
                </a:ext>
              </a:extLst>
            </p:cNvPr>
            <p:cNvSpPr/>
            <p:nvPr/>
          </p:nvSpPr>
          <p:spPr>
            <a:xfrm rot="5400000">
              <a:off x="6741301" y="2933899"/>
              <a:ext cx="1640577" cy="2433483"/>
            </a:xfrm>
            <a:prstGeom prst="trapezoid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A8271FF-81E1-2A58-CA78-7E0AFE0A33EC}"/>
                    </a:ext>
                  </a:extLst>
                </p:cNvPr>
                <p:cNvSpPr txBox="1"/>
                <p:nvPr/>
              </p:nvSpPr>
              <p:spPr>
                <a:xfrm>
                  <a:off x="6818457" y="3979656"/>
                  <a:ext cx="145135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|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A8271FF-81E1-2A58-CA78-7E0AFE0A33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8457" y="3979656"/>
                  <a:ext cx="1451359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2609" t="-8000" b="-4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D0D439D-242D-4ED7-6F39-D20A198A432D}"/>
              </a:ext>
            </a:extLst>
          </p:cNvPr>
          <p:cNvGrpSpPr/>
          <p:nvPr/>
        </p:nvGrpSpPr>
        <p:grpSpPr>
          <a:xfrm>
            <a:off x="6542720" y="5324870"/>
            <a:ext cx="2025435" cy="731922"/>
            <a:chOff x="6542720" y="5324870"/>
            <a:chExt cx="2025435" cy="73192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AD9026D-12B9-99F8-70FA-8FED5CED8DC7}"/>
                </a:ext>
              </a:extLst>
            </p:cNvPr>
            <p:cNvSpPr/>
            <p:nvPr/>
          </p:nvSpPr>
          <p:spPr>
            <a:xfrm>
              <a:off x="6588193" y="5324870"/>
              <a:ext cx="1934488" cy="731922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4F934F0-265D-02C8-BF34-08AABF06311B}"/>
                    </a:ext>
                  </a:extLst>
                </p:cNvPr>
                <p:cNvSpPr txBox="1"/>
                <p:nvPr/>
              </p:nvSpPr>
              <p:spPr>
                <a:xfrm>
                  <a:off x="6542720" y="5455977"/>
                  <a:ext cx="2025435" cy="4825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4F934F0-265D-02C8-BF34-08AABF0631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2720" y="5455977"/>
                  <a:ext cx="2025435" cy="482504"/>
                </a:xfrm>
                <a:prstGeom prst="rect">
                  <a:avLst/>
                </a:prstGeom>
                <a:blipFill>
                  <a:blip r:embed="rId4"/>
                  <a:stretch>
                    <a:fillRect b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1A6307A-D4C7-CF2E-3874-58EDFD339550}"/>
              </a:ext>
            </a:extLst>
          </p:cNvPr>
          <p:cNvGrpSpPr/>
          <p:nvPr/>
        </p:nvGrpSpPr>
        <p:grpSpPr>
          <a:xfrm>
            <a:off x="7555437" y="4765857"/>
            <a:ext cx="410267" cy="559013"/>
            <a:chOff x="7555437" y="4765857"/>
            <a:chExt cx="410267" cy="559013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CF2A246-0F45-BB1F-A9CE-753D319A6BA2}"/>
                </a:ext>
              </a:extLst>
            </p:cNvPr>
            <p:cNvCxnSpPr>
              <a:cxnSpLocks/>
              <a:stCxn id="24" idx="0"/>
              <a:endCxn id="23" idx="3"/>
            </p:cNvCxnSpPr>
            <p:nvPr/>
          </p:nvCxnSpPr>
          <p:spPr>
            <a:xfrm flipV="1">
              <a:off x="7555437" y="4765857"/>
              <a:ext cx="6152" cy="5590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1B3AC28C-A8C1-F49A-A0EC-FD4AD96BE273}"/>
                    </a:ext>
                  </a:extLst>
                </p:cNvPr>
                <p:cNvSpPr txBox="1"/>
                <p:nvPr/>
              </p:nvSpPr>
              <p:spPr>
                <a:xfrm>
                  <a:off x="7689422" y="4860623"/>
                  <a:ext cx="2762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1B3AC28C-A8C1-F49A-A0EC-FD4AD96BE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9422" y="4860623"/>
                  <a:ext cx="276282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4348" r="-26087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812BC1CF-B08B-ABE2-CB3E-C2A919D2952F}"/>
              </a:ext>
            </a:extLst>
          </p:cNvPr>
          <p:cNvSpPr txBox="1"/>
          <p:nvPr/>
        </p:nvSpPr>
        <p:spPr>
          <a:xfrm>
            <a:off x="6818587" y="2976411"/>
            <a:ext cx="145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Transformer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F66CF85-4038-4CE3-922E-95B82189ADAE}"/>
              </a:ext>
            </a:extLst>
          </p:cNvPr>
          <p:cNvSpPr txBox="1"/>
          <p:nvPr/>
        </p:nvSpPr>
        <p:spPr>
          <a:xfrm>
            <a:off x="6830706" y="6220997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Conditioner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B9C776B-5872-4297-2708-2452F68013F3}"/>
              </a:ext>
            </a:extLst>
          </p:cNvPr>
          <p:cNvGrpSpPr/>
          <p:nvPr/>
        </p:nvGrpSpPr>
        <p:grpSpPr>
          <a:xfrm>
            <a:off x="452988" y="3649321"/>
            <a:ext cx="2529090" cy="1590380"/>
            <a:chOff x="8889497" y="3050338"/>
            <a:chExt cx="2529090" cy="1590380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0CD52AA-CD54-A330-411A-EA6A5C75979A}"/>
                </a:ext>
              </a:extLst>
            </p:cNvPr>
            <p:cNvSpPr txBox="1"/>
            <p:nvPr/>
          </p:nvSpPr>
          <p:spPr>
            <a:xfrm>
              <a:off x="8889497" y="3050338"/>
              <a:ext cx="25290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</a:rPr>
                <a:t>Group A (Transformed)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844F7BA-B6BB-AFBC-CB0C-D950BCB5B2BC}"/>
                </a:ext>
              </a:extLst>
            </p:cNvPr>
            <p:cNvSpPr txBox="1"/>
            <p:nvPr/>
          </p:nvSpPr>
          <p:spPr>
            <a:xfrm>
              <a:off x="8913734" y="3871807"/>
              <a:ext cx="2504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Group B (Conditioned)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CD30B9BD-A85F-2E22-0C54-40C21D3AEFC3}"/>
                    </a:ext>
                  </a:extLst>
                </p:cNvPr>
                <p:cNvSpPr txBox="1"/>
                <p:nvPr/>
              </p:nvSpPr>
              <p:spPr>
                <a:xfrm>
                  <a:off x="9648935" y="4271386"/>
                  <a:ext cx="1034449" cy="369332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CD30B9BD-A85F-2E22-0C54-40C21D3AEF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8935" y="4271386"/>
                  <a:ext cx="1034449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C9C9106D-84E1-08CF-8366-0D64837CFCCE}"/>
                    </a:ext>
                  </a:extLst>
                </p:cNvPr>
                <p:cNvSpPr txBox="1"/>
                <p:nvPr/>
              </p:nvSpPr>
              <p:spPr>
                <a:xfrm>
                  <a:off x="9420602" y="3419670"/>
                  <a:ext cx="1442639" cy="369332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C9C9106D-84E1-08CF-8366-0D64837CF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0602" y="3419670"/>
                  <a:ext cx="144263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F519382-F992-451D-552B-85F1812A285E}"/>
              </a:ext>
            </a:extLst>
          </p:cNvPr>
          <p:cNvGrpSpPr/>
          <p:nvPr/>
        </p:nvGrpSpPr>
        <p:grpSpPr>
          <a:xfrm>
            <a:off x="10361326" y="2850013"/>
            <a:ext cx="1793171" cy="2601255"/>
            <a:chOff x="10361326" y="2850013"/>
            <a:chExt cx="1793171" cy="260125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44EF47D-0CD4-8315-BC12-BEAED0236A74}"/>
                </a:ext>
              </a:extLst>
            </p:cNvPr>
            <p:cNvGrpSpPr/>
            <p:nvPr/>
          </p:nvGrpSpPr>
          <p:grpSpPr>
            <a:xfrm>
              <a:off x="10361326" y="2850013"/>
              <a:ext cx="385424" cy="2601255"/>
              <a:chOff x="10361326" y="2850013"/>
              <a:chExt cx="385424" cy="26012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392822D1-FC82-0F65-C28B-04EC1187DCF9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10361326" y="2850013"/>
                    <a:ext cx="365760" cy="369332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 anchor="t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392822D1-FC82-0F65-C28B-04EC1187DC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61326" y="2850013"/>
                    <a:ext cx="365760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3226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580E7C33-C5E4-21B1-F381-4BC31EE3F942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10361326" y="3211569"/>
                    <a:ext cx="365760" cy="369332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 anchor="t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580E7C33-C5E4-21B1-F381-4BC31EE3F9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61326" y="3211569"/>
                    <a:ext cx="365760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F04D0524-5864-EE1D-BC2F-76AB62EB29A4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10361326" y="5072104"/>
                    <a:ext cx="365760" cy="37818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 anchor="t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sub>
                            <m:sup>
                              <m:r>
                                <a:rPr lang="en-US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F04D0524-5864-EE1D-BC2F-76AB62EB29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61326" y="5072104"/>
                    <a:ext cx="365760" cy="37818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6452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CDA60B4B-AFCC-A825-FF55-1330E7F4A11D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10361326" y="3573125"/>
                    <a:ext cx="365760" cy="37818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 anchor="t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US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b="1" dirty="0">
                      <a:solidFill>
                        <a:schemeClr val="accent1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CDA60B4B-AFCC-A825-FF55-1330E7F4A1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61326" y="3573125"/>
                    <a:ext cx="365760" cy="37818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r="-3226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859B1D23-C5A0-A7E4-43AC-4555AAF2762F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10361326" y="3954345"/>
                    <a:ext cx="365760" cy="369332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 anchor="t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859B1D23-C5A0-A7E4-43AC-4555AAF276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61326" y="3954345"/>
                    <a:ext cx="365760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79743CE3-C528-B89B-A74A-9AB9F81CC84A}"/>
                  </a:ext>
                </a:extLst>
              </p:cNvPr>
              <p:cNvSpPr/>
              <p:nvPr/>
            </p:nvSpPr>
            <p:spPr>
              <a:xfrm>
                <a:off x="10361326" y="2850013"/>
                <a:ext cx="365760" cy="26012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D0080D37-C5C2-36F2-E349-F982CB524240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0498445" y="4566857"/>
                    <a:ext cx="21961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D0080D37-C5C2-36F2-E349-F982CB5242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10498445" y="4566857"/>
                    <a:ext cx="219611" cy="27699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5B694333-DC6D-6EA5-47BC-73A0744FECF3}"/>
                    </a:ext>
                  </a:extLst>
                </p:cNvPr>
                <p:cNvSpPr txBox="1"/>
                <p:nvPr/>
              </p:nvSpPr>
              <p:spPr>
                <a:xfrm>
                  <a:off x="10775593" y="3981078"/>
                  <a:ext cx="137890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5B694333-DC6D-6EA5-47BC-73A0744FE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75593" y="3981078"/>
                  <a:ext cx="1378904" cy="369332"/>
                </a:xfrm>
                <a:prstGeom prst="rect">
                  <a:avLst/>
                </a:prstGeom>
                <a:blipFill>
                  <a:blip r:embed="rId26"/>
                  <a:stretch>
                    <a:fillRect l="-1818" t="-3333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CDF4C0E-151B-B03B-BE59-CC95A7CF72CF}"/>
              </a:ext>
            </a:extLst>
          </p:cNvPr>
          <p:cNvGrpSpPr/>
          <p:nvPr/>
        </p:nvGrpSpPr>
        <p:grpSpPr>
          <a:xfrm>
            <a:off x="3132659" y="3576313"/>
            <a:ext cx="1016645" cy="2601255"/>
            <a:chOff x="3132659" y="3576313"/>
            <a:chExt cx="1016645" cy="26012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DA3C17-A99B-0C4B-7BB2-0229E83B5C4E}"/>
                </a:ext>
              </a:extLst>
            </p:cNvPr>
            <p:cNvGrpSpPr/>
            <p:nvPr/>
          </p:nvGrpSpPr>
          <p:grpSpPr>
            <a:xfrm>
              <a:off x="3763880" y="3576313"/>
              <a:ext cx="385424" cy="2601255"/>
              <a:chOff x="3763880" y="3576313"/>
              <a:chExt cx="385424" cy="26012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16CB95BA-6C3D-EAF1-0636-02A91BA3F897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3763880" y="3576313"/>
                    <a:ext cx="365760" cy="36155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 anchor="t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16CB95BA-6C3D-EAF1-0636-02A91BA3F8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63880" y="3576313"/>
                    <a:ext cx="365760" cy="361556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3E2AB7CF-49A1-E6B6-DF34-17E6D9027B79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3763880" y="3937869"/>
                    <a:ext cx="365760" cy="369332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 anchor="t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3E2AB7CF-49A1-E6B6-DF34-17E6D9027B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63880" y="3937869"/>
                    <a:ext cx="365760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60EC7995-C2C0-8B56-DBDA-3D76C6876335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3763880" y="5808236"/>
                    <a:ext cx="365760" cy="369332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 anchor="t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60EC7995-C2C0-8B56-DBDA-3D76C68763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63880" y="5808236"/>
                    <a:ext cx="365760" cy="36933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C1BEBA2E-9657-38D8-1E1D-4FDC44050FB3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3763880" y="4299425"/>
                    <a:ext cx="365760" cy="369332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 anchor="t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C1BEBA2E-9657-38D8-1E1D-4FDC44050F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63880" y="4299425"/>
                    <a:ext cx="365760" cy="369332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476A43F2-78FA-C2B2-7AD2-ECFBAEA11B95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3763880" y="4660981"/>
                    <a:ext cx="365760" cy="369332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 anchor="t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476A43F2-78FA-C2B2-7AD2-ECFBAEA11B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63880" y="4660981"/>
                    <a:ext cx="365760" cy="369332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CF3DF9-2C3E-2B6E-1071-002DCA88EBCF}"/>
                  </a:ext>
                </a:extLst>
              </p:cNvPr>
              <p:cNvSpPr/>
              <p:nvPr/>
            </p:nvSpPr>
            <p:spPr>
              <a:xfrm>
                <a:off x="3763880" y="3576313"/>
                <a:ext cx="365760" cy="26012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917E3F0F-D20A-4421-9B59-DCE1BB0158CB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3900999" y="5293157"/>
                    <a:ext cx="21961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917E3F0F-D20A-4421-9B59-DCE1BB0158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3900999" y="5293157"/>
                    <a:ext cx="219611" cy="276999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DB446484-6811-F4E6-1162-0F60849B71B2}"/>
                    </a:ext>
                  </a:extLst>
                </p:cNvPr>
                <p:cNvSpPr txBox="1"/>
                <p:nvPr/>
              </p:nvSpPr>
              <p:spPr>
                <a:xfrm>
                  <a:off x="3132659" y="4786263"/>
                  <a:ext cx="57887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DB446484-6811-F4E6-1162-0F60849B71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2659" y="4786263"/>
                  <a:ext cx="578876" cy="369332"/>
                </a:xfrm>
                <a:prstGeom prst="rect">
                  <a:avLst/>
                </a:prstGeom>
                <a:blipFill>
                  <a:blip r:embed="rId33"/>
                  <a:stretch>
                    <a:fillRect l="-6383" r="-63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8" name="Picture 107" descr="A graph of a line&#10;&#10;AI-generated content may be incorrect.">
            <a:extLst>
              <a:ext uri="{FF2B5EF4-FFF2-40B4-BE49-F238E27FC236}">
                <a16:creationId xmlns:a16="http://schemas.microsoft.com/office/drawing/2014/main" id="{021B6501-E231-1B36-A908-14BAA19F90D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379925" y="1348189"/>
            <a:ext cx="1838645" cy="1847761"/>
          </a:xfrm>
          <a:prstGeom prst="rect">
            <a:avLst/>
          </a:prstGeom>
        </p:spPr>
      </p:pic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4A958312-B851-8829-E2C5-1D5C0FD987F5}"/>
              </a:ext>
            </a:extLst>
          </p:cNvPr>
          <p:cNvCxnSpPr>
            <a:stCxn id="86" idx="0"/>
            <a:endCxn id="108" idx="1"/>
          </p:cNvCxnSpPr>
          <p:nvPr/>
        </p:nvCxnSpPr>
        <p:spPr>
          <a:xfrm flipV="1">
            <a:off x="7548210" y="2272070"/>
            <a:ext cx="831715" cy="70434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5FE805F-B256-2D7D-249B-4EFD15C261C4}"/>
              </a:ext>
            </a:extLst>
          </p:cNvPr>
          <p:cNvCxnSpPr>
            <a:cxnSpLocks/>
            <a:stCxn id="87" idx="3"/>
          </p:cNvCxnSpPr>
          <p:nvPr/>
        </p:nvCxnSpPr>
        <p:spPr>
          <a:xfrm>
            <a:off x="8265714" y="6405663"/>
            <a:ext cx="1033534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57E060E8-7EF5-AD9F-6395-B259CD1478E8}"/>
                  </a:ext>
                </a:extLst>
              </p:cNvPr>
              <p:cNvSpPr txBox="1"/>
              <p:nvPr/>
            </p:nvSpPr>
            <p:spPr>
              <a:xfrm>
                <a:off x="434940" y="5365934"/>
                <a:ext cx="252909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Jacobian is Lower Triangular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𝓞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57E060E8-7EF5-AD9F-6395-B259CD147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40" y="5365934"/>
                <a:ext cx="2529091" cy="646331"/>
              </a:xfrm>
              <a:prstGeom prst="rect">
                <a:avLst/>
              </a:prstGeom>
              <a:blipFill>
                <a:blip r:embed="rId35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A05CEF67-12A1-402D-796E-7ABBF4A02BDD}"/>
              </a:ext>
            </a:extLst>
          </p:cNvPr>
          <p:cNvSpPr txBox="1"/>
          <p:nvPr/>
        </p:nvSpPr>
        <p:spPr>
          <a:xfrm>
            <a:off x="8514449" y="1012114"/>
            <a:ext cx="170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Diffeomorphic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1BA0A25-EBB7-E1EF-1159-1CB914BE3E9E}"/>
              </a:ext>
            </a:extLst>
          </p:cNvPr>
          <p:cNvSpPr txBox="1"/>
          <p:nvPr/>
        </p:nvSpPr>
        <p:spPr>
          <a:xfrm>
            <a:off x="9352371" y="6220997"/>
            <a:ext cx="1732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Unconstrained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ounded Rectangle 117">
                <a:extLst>
                  <a:ext uri="{FF2B5EF4-FFF2-40B4-BE49-F238E27FC236}">
                    <a16:creationId xmlns:a16="http://schemas.microsoft.com/office/drawing/2014/main" id="{373C8D68-5AC8-FCC6-775E-24E746FE518C}"/>
                  </a:ext>
                </a:extLst>
              </p:cNvPr>
              <p:cNvSpPr/>
              <p:nvPr/>
            </p:nvSpPr>
            <p:spPr>
              <a:xfrm>
                <a:off x="341586" y="1046657"/>
                <a:ext cx="6201134" cy="2118044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As we saw before, a flow is  decomposable into subflows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…∘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We want to represent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as some general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diffeomorphism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𝒥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</m:e>
                        </m:func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cheap to compute </a:t>
                </a:r>
              </a:p>
              <a:p>
                <a:pPr algn="ctr"/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8" name="Rounded Rectangle 117">
                <a:extLst>
                  <a:ext uri="{FF2B5EF4-FFF2-40B4-BE49-F238E27FC236}">
                    <a16:creationId xmlns:a16="http://schemas.microsoft.com/office/drawing/2014/main" id="{373C8D68-5AC8-FCC6-775E-24E746FE51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86" y="1046657"/>
                <a:ext cx="6201134" cy="2118044"/>
              </a:xfrm>
              <a:prstGeom prst="roundRect">
                <a:avLst/>
              </a:prstGeom>
              <a:blipFill>
                <a:blip r:embed="rId3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133CA45-1E05-A0D8-E812-FDC30D4E178E}"/>
              </a:ext>
            </a:extLst>
          </p:cNvPr>
          <p:cNvSpPr txBox="1"/>
          <p:nvPr/>
        </p:nvSpPr>
        <p:spPr>
          <a:xfrm>
            <a:off x="339492" y="6561894"/>
            <a:ext cx="63746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[1] G.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Papamakarios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et al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. 2021. Normalizing flows for probabilistic modeling and inference. 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J. Mach. Learn. Res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. 22, 1, Article 57.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0830FE2-4C14-D3C6-16E5-7FED9F453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8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114" grpId="0"/>
      <p:bldP spid="115" grpId="0"/>
      <p:bldP spid="1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643C65-2C81-E63D-4EB1-17179FFC4C81}"/>
              </a:ext>
            </a:extLst>
          </p:cNvPr>
          <p:cNvSpPr txBox="1">
            <a:spLocks/>
          </p:cNvSpPr>
          <p:nvPr/>
        </p:nvSpPr>
        <p:spPr>
          <a:xfrm>
            <a:off x="341586" y="182944"/>
            <a:ext cx="8450317" cy="613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How are Normalizing Flows Trained?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68D2C1-E3ED-1ECD-8FA9-FCD520DAF760}"/>
              </a:ext>
            </a:extLst>
          </p:cNvPr>
          <p:cNvCxnSpPr>
            <a:cxnSpLocks/>
          </p:cNvCxnSpPr>
          <p:nvPr/>
        </p:nvCxnSpPr>
        <p:spPr>
          <a:xfrm flipV="1">
            <a:off x="1900559" y="3465492"/>
            <a:ext cx="0" cy="23475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B97750-5FB0-2EB2-E5F4-87EFEC00DA71}"/>
              </a:ext>
            </a:extLst>
          </p:cNvPr>
          <p:cNvCxnSpPr>
            <a:cxnSpLocks/>
          </p:cNvCxnSpPr>
          <p:nvPr/>
        </p:nvCxnSpPr>
        <p:spPr>
          <a:xfrm>
            <a:off x="1706996" y="5395138"/>
            <a:ext cx="87564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>
            <a:extLst>
              <a:ext uri="{FF2B5EF4-FFF2-40B4-BE49-F238E27FC236}">
                <a16:creationId xmlns:a16="http://schemas.microsoft.com/office/drawing/2014/main" id="{7526939B-9C29-2FB2-3727-CC1233B770DE}"/>
              </a:ext>
            </a:extLst>
          </p:cNvPr>
          <p:cNvSpPr/>
          <p:nvPr/>
        </p:nvSpPr>
        <p:spPr>
          <a:xfrm>
            <a:off x="2240419" y="4381646"/>
            <a:ext cx="1667423" cy="1006025"/>
          </a:xfrm>
          <a:custGeom>
            <a:avLst/>
            <a:gdLst>
              <a:gd name="csX0" fmla="*/ 0 w 2054432"/>
              <a:gd name="csY0" fmla="*/ 1258876 h 1258876"/>
              <a:gd name="csX1" fmla="*/ 748146 w 2054432"/>
              <a:gd name="csY1" fmla="*/ 985744 h 1258876"/>
              <a:gd name="csX2" fmla="*/ 1163782 w 2054432"/>
              <a:gd name="csY2" fmla="*/ 92 h 1258876"/>
              <a:gd name="csX3" fmla="*/ 1425039 w 2054432"/>
              <a:gd name="csY3" fmla="*/ 1045120 h 1258876"/>
              <a:gd name="csX4" fmla="*/ 2054432 w 2054432"/>
              <a:gd name="csY4" fmla="*/ 1247001 h 1258876"/>
              <a:gd name="csX0" fmla="*/ 0 w 2060782"/>
              <a:gd name="csY0" fmla="*/ 1258876 h 1266342"/>
              <a:gd name="csX1" fmla="*/ 748146 w 2060782"/>
              <a:gd name="csY1" fmla="*/ 985744 h 1266342"/>
              <a:gd name="csX2" fmla="*/ 1163782 w 2060782"/>
              <a:gd name="csY2" fmla="*/ 92 h 1266342"/>
              <a:gd name="csX3" fmla="*/ 1425039 w 2060782"/>
              <a:gd name="csY3" fmla="*/ 1045120 h 1266342"/>
              <a:gd name="csX4" fmla="*/ 2060782 w 2060782"/>
              <a:gd name="csY4" fmla="*/ 1266051 h 1266342"/>
              <a:gd name="csX0" fmla="*/ 0 w 2092532"/>
              <a:gd name="csY0" fmla="*/ 1258876 h 1266342"/>
              <a:gd name="csX1" fmla="*/ 779896 w 2092532"/>
              <a:gd name="csY1" fmla="*/ 985744 h 1266342"/>
              <a:gd name="csX2" fmla="*/ 1195532 w 2092532"/>
              <a:gd name="csY2" fmla="*/ 92 h 1266342"/>
              <a:gd name="csX3" fmla="*/ 1456789 w 2092532"/>
              <a:gd name="csY3" fmla="*/ 1045120 h 1266342"/>
              <a:gd name="csX4" fmla="*/ 2092532 w 2092532"/>
              <a:gd name="csY4" fmla="*/ 1266051 h 1266342"/>
              <a:gd name="csX0" fmla="*/ 0 w 2098882"/>
              <a:gd name="csY0" fmla="*/ 1258876 h 1266342"/>
              <a:gd name="csX1" fmla="*/ 786246 w 2098882"/>
              <a:gd name="csY1" fmla="*/ 985744 h 1266342"/>
              <a:gd name="csX2" fmla="*/ 1201882 w 2098882"/>
              <a:gd name="csY2" fmla="*/ 92 h 1266342"/>
              <a:gd name="csX3" fmla="*/ 1463139 w 2098882"/>
              <a:gd name="csY3" fmla="*/ 1045120 h 1266342"/>
              <a:gd name="csX4" fmla="*/ 2098882 w 2098882"/>
              <a:gd name="csY4" fmla="*/ 1266051 h 1266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98882" h="1266342">
                <a:moveTo>
                  <a:pt x="0" y="1258876"/>
                </a:moveTo>
                <a:cubicBezTo>
                  <a:pt x="277091" y="1227208"/>
                  <a:pt x="585932" y="1195541"/>
                  <a:pt x="786246" y="985744"/>
                </a:cubicBezTo>
                <a:cubicBezTo>
                  <a:pt x="986560" y="775947"/>
                  <a:pt x="1089067" y="-9804"/>
                  <a:pt x="1201882" y="92"/>
                </a:cubicBezTo>
                <a:cubicBezTo>
                  <a:pt x="1314698" y="9988"/>
                  <a:pt x="1314697" y="837302"/>
                  <a:pt x="1463139" y="1045120"/>
                </a:cubicBezTo>
                <a:cubicBezTo>
                  <a:pt x="1611581" y="1252938"/>
                  <a:pt x="1858406" y="1269019"/>
                  <a:pt x="2098882" y="1266051"/>
                </a:cubicBezTo>
              </a:path>
            </a:pathLst>
          </a:custGeom>
          <a:pattFill prst="pct6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36A0C8C7-F051-6B51-74D5-7C3854A5010D}"/>
              </a:ext>
            </a:extLst>
          </p:cNvPr>
          <p:cNvSpPr/>
          <p:nvPr/>
        </p:nvSpPr>
        <p:spPr>
          <a:xfrm>
            <a:off x="3178791" y="4389049"/>
            <a:ext cx="1874973" cy="1000094"/>
          </a:xfrm>
          <a:custGeom>
            <a:avLst/>
            <a:gdLst>
              <a:gd name="csX0" fmla="*/ 0 w 2755075"/>
              <a:gd name="csY0" fmla="*/ 1461118 h 1476220"/>
              <a:gd name="csX1" fmla="*/ 700644 w 2755075"/>
              <a:gd name="csY1" fmla="*/ 1187985 h 1476220"/>
              <a:gd name="csX2" fmla="*/ 926275 w 2755075"/>
              <a:gd name="csY2" fmla="*/ 665471 h 1476220"/>
              <a:gd name="csX3" fmla="*/ 1282535 w 2755075"/>
              <a:gd name="csY3" fmla="*/ 499217 h 1476220"/>
              <a:gd name="csX4" fmla="*/ 1413164 w 2755075"/>
              <a:gd name="csY4" fmla="*/ 453 h 1476220"/>
              <a:gd name="csX5" fmla="*/ 1710047 w 2755075"/>
              <a:gd name="csY5" fmla="*/ 594219 h 1476220"/>
              <a:gd name="csX6" fmla="*/ 1888177 w 2755075"/>
              <a:gd name="csY6" fmla="*/ 748598 h 1476220"/>
              <a:gd name="csX7" fmla="*/ 2078182 w 2755075"/>
              <a:gd name="csY7" fmla="*/ 1366115 h 1476220"/>
              <a:gd name="csX8" fmla="*/ 2755075 w 2755075"/>
              <a:gd name="csY8" fmla="*/ 1472993 h 1476220"/>
              <a:gd name="csX0" fmla="*/ 0 w 2807959"/>
              <a:gd name="csY0" fmla="*/ 1468565 h 1476220"/>
              <a:gd name="csX1" fmla="*/ 753528 w 2807959"/>
              <a:gd name="csY1" fmla="*/ 1187985 h 1476220"/>
              <a:gd name="csX2" fmla="*/ 979159 w 2807959"/>
              <a:gd name="csY2" fmla="*/ 665471 h 1476220"/>
              <a:gd name="csX3" fmla="*/ 1335419 w 2807959"/>
              <a:gd name="csY3" fmla="*/ 499217 h 1476220"/>
              <a:gd name="csX4" fmla="*/ 1466048 w 2807959"/>
              <a:gd name="csY4" fmla="*/ 453 h 1476220"/>
              <a:gd name="csX5" fmla="*/ 1762931 w 2807959"/>
              <a:gd name="csY5" fmla="*/ 594219 h 1476220"/>
              <a:gd name="csX6" fmla="*/ 1941061 w 2807959"/>
              <a:gd name="csY6" fmla="*/ 748598 h 1476220"/>
              <a:gd name="csX7" fmla="*/ 2131066 w 2807959"/>
              <a:gd name="csY7" fmla="*/ 1366115 h 1476220"/>
              <a:gd name="csX8" fmla="*/ 2807959 w 2807959"/>
              <a:gd name="csY8" fmla="*/ 1472993 h 1476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07959" h="1476220">
                <a:moveTo>
                  <a:pt x="0" y="1468565"/>
                </a:moveTo>
                <a:cubicBezTo>
                  <a:pt x="273132" y="1398302"/>
                  <a:pt x="590335" y="1321834"/>
                  <a:pt x="753528" y="1187985"/>
                </a:cubicBezTo>
                <a:cubicBezTo>
                  <a:pt x="916721" y="1054136"/>
                  <a:pt x="882177" y="780266"/>
                  <a:pt x="979159" y="665471"/>
                </a:cubicBezTo>
                <a:cubicBezTo>
                  <a:pt x="1076141" y="550676"/>
                  <a:pt x="1254271" y="610053"/>
                  <a:pt x="1335419" y="499217"/>
                </a:cubicBezTo>
                <a:cubicBezTo>
                  <a:pt x="1416567" y="388381"/>
                  <a:pt x="1394796" y="-15381"/>
                  <a:pt x="1466048" y="453"/>
                </a:cubicBezTo>
                <a:cubicBezTo>
                  <a:pt x="1537300" y="16287"/>
                  <a:pt x="1683762" y="469528"/>
                  <a:pt x="1762931" y="594219"/>
                </a:cubicBezTo>
                <a:cubicBezTo>
                  <a:pt x="1842100" y="718910"/>
                  <a:pt x="1879705" y="619949"/>
                  <a:pt x="1941061" y="748598"/>
                </a:cubicBezTo>
                <a:cubicBezTo>
                  <a:pt x="2002417" y="877247"/>
                  <a:pt x="1986583" y="1245382"/>
                  <a:pt x="2131066" y="1366115"/>
                </a:cubicBezTo>
                <a:cubicBezTo>
                  <a:pt x="2275549" y="1486848"/>
                  <a:pt x="2541754" y="1479920"/>
                  <a:pt x="2807959" y="1472993"/>
                </a:cubicBezTo>
              </a:path>
            </a:pathLst>
          </a:custGeom>
          <a:pattFill prst="pct60">
            <a:fgClr>
              <a:schemeClr val="accent2">
                <a:lumMod val="75000"/>
              </a:schemeClr>
            </a:fgClr>
            <a:bgClr>
              <a:schemeClr val="bg1"/>
            </a:bgClr>
          </a:patt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EF84B91B-112F-6D34-24DD-89B2F83AA335}"/>
              </a:ext>
            </a:extLst>
          </p:cNvPr>
          <p:cNvSpPr/>
          <p:nvPr/>
        </p:nvSpPr>
        <p:spPr>
          <a:xfrm>
            <a:off x="7616448" y="4183382"/>
            <a:ext cx="2038433" cy="1201373"/>
          </a:xfrm>
          <a:custGeom>
            <a:avLst/>
            <a:gdLst>
              <a:gd name="csX0" fmla="*/ 0 w 2553194"/>
              <a:gd name="csY0" fmla="*/ 1493188 h 1505063"/>
              <a:gd name="csX1" fmla="*/ 760020 w 2553194"/>
              <a:gd name="csY1" fmla="*/ 1374434 h 1505063"/>
              <a:gd name="csX2" fmla="*/ 997527 w 2553194"/>
              <a:gd name="csY2" fmla="*/ 1148803 h 1505063"/>
              <a:gd name="csX3" fmla="*/ 1116280 w 2553194"/>
              <a:gd name="csY3" fmla="*/ 1291307 h 1505063"/>
              <a:gd name="csX4" fmla="*/ 1270659 w 2553194"/>
              <a:gd name="csY4" fmla="*/ 1398185 h 1505063"/>
              <a:gd name="csX5" fmla="*/ 1472540 w 2553194"/>
              <a:gd name="csY5" fmla="*/ 650039 h 1505063"/>
              <a:gd name="csX6" fmla="*/ 1638794 w 2553194"/>
              <a:gd name="csY6" fmla="*/ 1279432 h 1505063"/>
              <a:gd name="csX7" fmla="*/ 1769423 w 2553194"/>
              <a:gd name="csY7" fmla="*/ 8772 h 1505063"/>
              <a:gd name="csX8" fmla="*/ 1876301 w 2553194"/>
              <a:gd name="csY8" fmla="*/ 745042 h 1505063"/>
              <a:gd name="csX9" fmla="*/ 1911927 w 2553194"/>
              <a:gd name="csY9" fmla="*/ 1279432 h 1505063"/>
              <a:gd name="csX10" fmla="*/ 2018805 w 2553194"/>
              <a:gd name="csY10" fmla="*/ 1421936 h 1505063"/>
              <a:gd name="csX11" fmla="*/ 2553194 w 2553194"/>
              <a:gd name="csY11" fmla="*/ 1505063 h 1505063"/>
              <a:gd name="csX0" fmla="*/ 0 w 2565894"/>
              <a:gd name="csY0" fmla="*/ 1512238 h 1512238"/>
              <a:gd name="csX1" fmla="*/ 772720 w 2565894"/>
              <a:gd name="csY1" fmla="*/ 1374434 h 1512238"/>
              <a:gd name="csX2" fmla="*/ 1010227 w 2565894"/>
              <a:gd name="csY2" fmla="*/ 1148803 h 1512238"/>
              <a:gd name="csX3" fmla="*/ 1128980 w 2565894"/>
              <a:gd name="csY3" fmla="*/ 1291307 h 1512238"/>
              <a:gd name="csX4" fmla="*/ 1283359 w 2565894"/>
              <a:gd name="csY4" fmla="*/ 1398185 h 1512238"/>
              <a:gd name="csX5" fmla="*/ 1485240 w 2565894"/>
              <a:gd name="csY5" fmla="*/ 650039 h 1512238"/>
              <a:gd name="csX6" fmla="*/ 1651494 w 2565894"/>
              <a:gd name="csY6" fmla="*/ 1279432 h 1512238"/>
              <a:gd name="csX7" fmla="*/ 1782123 w 2565894"/>
              <a:gd name="csY7" fmla="*/ 8772 h 1512238"/>
              <a:gd name="csX8" fmla="*/ 1889001 w 2565894"/>
              <a:gd name="csY8" fmla="*/ 745042 h 1512238"/>
              <a:gd name="csX9" fmla="*/ 1924627 w 2565894"/>
              <a:gd name="csY9" fmla="*/ 1279432 h 1512238"/>
              <a:gd name="csX10" fmla="*/ 2031505 w 2565894"/>
              <a:gd name="csY10" fmla="*/ 1421936 h 1512238"/>
              <a:gd name="csX11" fmla="*/ 2565894 w 2565894"/>
              <a:gd name="csY11" fmla="*/ 1505063 h 15122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565894" h="1512238">
                <a:moveTo>
                  <a:pt x="0" y="1512238"/>
                </a:moveTo>
                <a:cubicBezTo>
                  <a:pt x="296883" y="1481559"/>
                  <a:pt x="604349" y="1435006"/>
                  <a:pt x="772720" y="1374434"/>
                </a:cubicBezTo>
                <a:cubicBezTo>
                  <a:pt x="941091" y="1313862"/>
                  <a:pt x="950850" y="1162657"/>
                  <a:pt x="1010227" y="1148803"/>
                </a:cubicBezTo>
                <a:cubicBezTo>
                  <a:pt x="1069604" y="1134949"/>
                  <a:pt x="1083458" y="1249743"/>
                  <a:pt x="1128980" y="1291307"/>
                </a:cubicBezTo>
                <a:cubicBezTo>
                  <a:pt x="1174502" y="1332871"/>
                  <a:pt x="1223982" y="1505063"/>
                  <a:pt x="1283359" y="1398185"/>
                </a:cubicBezTo>
                <a:cubicBezTo>
                  <a:pt x="1342736" y="1291307"/>
                  <a:pt x="1423884" y="669831"/>
                  <a:pt x="1485240" y="650039"/>
                </a:cubicBezTo>
                <a:cubicBezTo>
                  <a:pt x="1546596" y="630247"/>
                  <a:pt x="1602014" y="1386310"/>
                  <a:pt x="1651494" y="1279432"/>
                </a:cubicBezTo>
                <a:cubicBezTo>
                  <a:pt x="1700974" y="1172554"/>
                  <a:pt x="1742539" y="97837"/>
                  <a:pt x="1782123" y="8772"/>
                </a:cubicBezTo>
                <a:cubicBezTo>
                  <a:pt x="1821707" y="-80293"/>
                  <a:pt x="1865250" y="533265"/>
                  <a:pt x="1889001" y="745042"/>
                </a:cubicBezTo>
                <a:cubicBezTo>
                  <a:pt x="1912752" y="956819"/>
                  <a:pt x="1900876" y="1166616"/>
                  <a:pt x="1924627" y="1279432"/>
                </a:cubicBezTo>
                <a:cubicBezTo>
                  <a:pt x="1948378" y="1392248"/>
                  <a:pt x="1924627" y="1384331"/>
                  <a:pt x="2031505" y="1421936"/>
                </a:cubicBezTo>
                <a:cubicBezTo>
                  <a:pt x="2138383" y="1459541"/>
                  <a:pt x="2352138" y="1482302"/>
                  <a:pt x="2565894" y="1505063"/>
                </a:cubicBezTo>
              </a:path>
            </a:pathLst>
          </a:custGeom>
          <a:pattFill prst="pct6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79F9DA3-F3BE-CC44-D819-EFBCF83A109A}"/>
              </a:ext>
            </a:extLst>
          </p:cNvPr>
          <p:cNvSpPr/>
          <p:nvPr/>
        </p:nvSpPr>
        <p:spPr>
          <a:xfrm>
            <a:off x="6486883" y="4378198"/>
            <a:ext cx="2023086" cy="1006392"/>
          </a:xfrm>
          <a:custGeom>
            <a:avLst/>
            <a:gdLst>
              <a:gd name="csX0" fmla="*/ 0 w 3467595"/>
              <a:gd name="csY0" fmla="*/ 1652571 h 1652571"/>
              <a:gd name="csX1" fmla="*/ 498764 w 3467595"/>
              <a:gd name="csY1" fmla="*/ 1343812 h 1652571"/>
              <a:gd name="csX2" fmla="*/ 771896 w 3467595"/>
              <a:gd name="csY2" fmla="*/ 773797 h 1652571"/>
              <a:gd name="csX3" fmla="*/ 1140031 w 3467595"/>
              <a:gd name="csY3" fmla="*/ 1153807 h 1652571"/>
              <a:gd name="csX4" fmla="*/ 1413164 w 3467595"/>
              <a:gd name="csY4" fmla="*/ 607542 h 1652571"/>
              <a:gd name="csX5" fmla="*/ 1793174 w 3467595"/>
              <a:gd name="csY5" fmla="*/ 1082555 h 1652571"/>
              <a:gd name="csX6" fmla="*/ 2030681 w 3467595"/>
              <a:gd name="csY6" fmla="*/ 168155 h 1652571"/>
              <a:gd name="csX7" fmla="*/ 2386940 w 3467595"/>
              <a:gd name="csY7" fmla="*/ 108778 h 1652571"/>
              <a:gd name="csX8" fmla="*/ 2648197 w 3467595"/>
              <a:gd name="csY8" fmla="*/ 1320062 h 1652571"/>
              <a:gd name="csX9" fmla="*/ 3467595 w 3467595"/>
              <a:gd name="csY9" fmla="*/ 1569443 h 1652571"/>
              <a:gd name="csX0" fmla="*/ 0 w 3567409"/>
              <a:gd name="csY0" fmla="*/ 1652571 h 1662978"/>
              <a:gd name="csX1" fmla="*/ 498764 w 3567409"/>
              <a:gd name="csY1" fmla="*/ 1343812 h 1662978"/>
              <a:gd name="csX2" fmla="*/ 771896 w 3567409"/>
              <a:gd name="csY2" fmla="*/ 773797 h 1662978"/>
              <a:gd name="csX3" fmla="*/ 1140031 w 3567409"/>
              <a:gd name="csY3" fmla="*/ 1153807 h 1662978"/>
              <a:gd name="csX4" fmla="*/ 1413164 w 3567409"/>
              <a:gd name="csY4" fmla="*/ 607542 h 1662978"/>
              <a:gd name="csX5" fmla="*/ 1793174 w 3567409"/>
              <a:gd name="csY5" fmla="*/ 1082555 h 1662978"/>
              <a:gd name="csX6" fmla="*/ 2030681 w 3567409"/>
              <a:gd name="csY6" fmla="*/ 168155 h 1662978"/>
              <a:gd name="csX7" fmla="*/ 2386940 w 3567409"/>
              <a:gd name="csY7" fmla="*/ 108778 h 1662978"/>
              <a:gd name="csX8" fmla="*/ 2648197 w 3567409"/>
              <a:gd name="csY8" fmla="*/ 1320062 h 1662978"/>
              <a:gd name="csX9" fmla="*/ 3567409 w 3567409"/>
              <a:gd name="csY9" fmla="*/ 1662978 h 1662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567409" h="1662978">
                <a:moveTo>
                  <a:pt x="0" y="1652571"/>
                </a:moveTo>
                <a:cubicBezTo>
                  <a:pt x="185057" y="1571422"/>
                  <a:pt x="370115" y="1490274"/>
                  <a:pt x="498764" y="1343812"/>
                </a:cubicBezTo>
                <a:cubicBezTo>
                  <a:pt x="627413" y="1197350"/>
                  <a:pt x="665018" y="805464"/>
                  <a:pt x="771896" y="773797"/>
                </a:cubicBezTo>
                <a:cubicBezTo>
                  <a:pt x="878774" y="742130"/>
                  <a:pt x="1033153" y="1181516"/>
                  <a:pt x="1140031" y="1153807"/>
                </a:cubicBezTo>
                <a:cubicBezTo>
                  <a:pt x="1246909" y="1126098"/>
                  <a:pt x="1304307" y="619417"/>
                  <a:pt x="1413164" y="607542"/>
                </a:cubicBezTo>
                <a:cubicBezTo>
                  <a:pt x="1522021" y="595667"/>
                  <a:pt x="1690255" y="1155786"/>
                  <a:pt x="1793174" y="1082555"/>
                </a:cubicBezTo>
                <a:cubicBezTo>
                  <a:pt x="1896094" y="1009324"/>
                  <a:pt x="1931720" y="330451"/>
                  <a:pt x="2030681" y="168155"/>
                </a:cubicBezTo>
                <a:cubicBezTo>
                  <a:pt x="2129642" y="5859"/>
                  <a:pt x="2284021" y="-83207"/>
                  <a:pt x="2386940" y="108778"/>
                </a:cubicBezTo>
                <a:cubicBezTo>
                  <a:pt x="2489859" y="300762"/>
                  <a:pt x="2468088" y="1076618"/>
                  <a:pt x="2648197" y="1320062"/>
                </a:cubicBezTo>
                <a:cubicBezTo>
                  <a:pt x="2828306" y="1563506"/>
                  <a:pt x="3448656" y="1629331"/>
                  <a:pt x="3567409" y="1662978"/>
                </a:cubicBezTo>
              </a:path>
            </a:pathLst>
          </a:custGeom>
          <a:pattFill prst="pct60">
            <a:fgClr>
              <a:schemeClr val="accent2">
                <a:lumMod val="75000"/>
              </a:schemeClr>
            </a:fgClr>
            <a:bgClr>
              <a:schemeClr val="bg1"/>
            </a:bgClr>
          </a:patt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DC830F-A395-47E5-B264-D13F30B9D80E}"/>
              </a:ext>
            </a:extLst>
          </p:cNvPr>
          <p:cNvGrpSpPr/>
          <p:nvPr/>
        </p:nvGrpSpPr>
        <p:grpSpPr>
          <a:xfrm>
            <a:off x="2143956" y="228600"/>
            <a:ext cx="6776756" cy="6400800"/>
            <a:chOff x="2143956" y="228600"/>
            <a:chExt cx="6776756" cy="6400800"/>
          </a:xfrm>
        </p:grpSpPr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6905BDAF-9B3B-0398-475B-F74CD9238DD9}"/>
                </a:ext>
              </a:extLst>
            </p:cNvPr>
            <p:cNvSpPr/>
            <p:nvPr/>
          </p:nvSpPr>
          <p:spPr>
            <a:xfrm rot="13711536" flipH="1">
              <a:off x="2569397" y="-196841"/>
              <a:ext cx="5925873" cy="6776756"/>
            </a:xfrm>
            <a:prstGeom prst="arc">
              <a:avLst>
                <a:gd name="adj1" fmla="val 16189949"/>
                <a:gd name="adj2" fmla="val 21563644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86809D4-925F-BBAA-60A5-491FCA87B3E6}"/>
                    </a:ext>
                  </a:extLst>
                </p:cNvPr>
                <p:cNvSpPr txBox="1"/>
                <p:nvPr/>
              </p:nvSpPr>
              <p:spPr>
                <a:xfrm>
                  <a:off x="4870339" y="6409343"/>
                  <a:ext cx="406902" cy="22005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86809D4-925F-BBAA-60A5-491FCA87B3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0339" y="6409343"/>
                  <a:ext cx="406902" cy="220057"/>
                </a:xfrm>
                <a:prstGeom prst="rect">
                  <a:avLst/>
                </a:prstGeom>
                <a:blipFill>
                  <a:blip r:embed="rId3"/>
                  <a:stretch>
                    <a:fillRect l="-18182" r="-39394" b="-631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6CBD753-D770-757D-E44C-766A6FC0A9E4}"/>
              </a:ext>
            </a:extLst>
          </p:cNvPr>
          <p:cNvGrpSpPr/>
          <p:nvPr/>
        </p:nvGrpSpPr>
        <p:grpSpPr>
          <a:xfrm>
            <a:off x="2890094" y="228599"/>
            <a:ext cx="6776756" cy="6400801"/>
            <a:chOff x="2890094" y="228599"/>
            <a:chExt cx="6776756" cy="6400801"/>
          </a:xfrm>
        </p:grpSpPr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BCB465DA-DEDB-FECF-4FAA-7BE13C571646}"/>
                </a:ext>
              </a:extLst>
            </p:cNvPr>
            <p:cNvSpPr/>
            <p:nvPr/>
          </p:nvSpPr>
          <p:spPr>
            <a:xfrm rot="7888464">
              <a:off x="3315535" y="-196842"/>
              <a:ext cx="5925873" cy="6776756"/>
            </a:xfrm>
            <a:prstGeom prst="arc">
              <a:avLst>
                <a:gd name="adj1" fmla="val 16189949"/>
                <a:gd name="adj2" fmla="val 21563644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9B1020D-8E33-707B-AAFF-46840F2B11A6}"/>
                    </a:ext>
                  </a:extLst>
                </p:cNvPr>
                <p:cNvSpPr txBox="1"/>
                <p:nvPr/>
              </p:nvSpPr>
              <p:spPr>
                <a:xfrm>
                  <a:off x="6486883" y="6409343"/>
                  <a:ext cx="597466" cy="22005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9B1020D-8E33-707B-AAFF-46840F2B11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6883" y="6409343"/>
                  <a:ext cx="597466" cy="220057"/>
                </a:xfrm>
                <a:prstGeom prst="rect">
                  <a:avLst/>
                </a:prstGeom>
                <a:blipFill>
                  <a:blip r:embed="rId4"/>
                  <a:stretch>
                    <a:fillRect l="-12500" t="-5263" r="-35417" b="-631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0FA8805-1BAF-6BED-C386-E86913304FC1}"/>
                  </a:ext>
                </a:extLst>
              </p:cNvPr>
              <p:cNvSpPr txBox="1"/>
              <p:nvPr/>
            </p:nvSpPr>
            <p:spPr>
              <a:xfrm>
                <a:off x="2338407" y="4470965"/>
                <a:ext cx="74239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1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0FA8805-1BAF-6BED-C386-E86913304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8407" y="4470965"/>
                <a:ext cx="742396" cy="338554"/>
              </a:xfrm>
              <a:prstGeom prst="rect">
                <a:avLst/>
              </a:prstGeom>
              <a:blipFill>
                <a:blip r:embed="rId5"/>
                <a:stretch>
                  <a:fillRect r="-1695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2BDE620-29D6-F0BB-96D4-E9A2C9F44FD0}"/>
                  </a:ext>
                </a:extLst>
              </p:cNvPr>
              <p:cNvSpPr txBox="1"/>
              <p:nvPr/>
            </p:nvSpPr>
            <p:spPr>
              <a:xfrm>
                <a:off x="5190731" y="3690557"/>
                <a:ext cx="4407264" cy="596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ℙ</m:t>
                              </m:r>
                            </m:e>
                          </m:acc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en-US" sz="1600" b="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6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𝒥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func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2BDE620-29D6-F0BB-96D4-E9A2C9F44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731" y="3690557"/>
                <a:ext cx="4407264" cy="596510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BB909F2-7D98-4E9F-636B-B36251B12551}"/>
                  </a:ext>
                </a:extLst>
              </p:cNvPr>
              <p:cNvSpPr txBox="1"/>
              <p:nvPr/>
            </p:nvSpPr>
            <p:spPr>
              <a:xfrm>
                <a:off x="3201500" y="3702407"/>
                <a:ext cx="2523487" cy="590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ℙ</m:t>
                              </m:r>
                            </m:e>
                          </m:acc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600" b="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BB909F2-7D98-4E9F-636B-B36251B12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500" y="3702407"/>
                <a:ext cx="2523487" cy="590931"/>
              </a:xfrm>
              <a:prstGeom prst="rect">
                <a:avLst/>
              </a:prstGeom>
              <a:blipFill>
                <a:blip r:embed="rId7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Arc 74">
            <a:extLst>
              <a:ext uri="{FF2B5EF4-FFF2-40B4-BE49-F238E27FC236}">
                <a16:creationId xmlns:a16="http://schemas.microsoft.com/office/drawing/2014/main" id="{D857A4B4-0104-769A-C435-B560880F9284}"/>
              </a:ext>
            </a:extLst>
          </p:cNvPr>
          <p:cNvSpPr>
            <a:spLocks/>
          </p:cNvSpPr>
          <p:nvPr/>
        </p:nvSpPr>
        <p:spPr>
          <a:xfrm rot="16793538">
            <a:off x="2683200" y="3667269"/>
            <a:ext cx="1071099" cy="1081556"/>
          </a:xfrm>
          <a:prstGeom prst="arc">
            <a:avLst>
              <a:gd name="adj1" fmla="val 14875575"/>
              <a:gd name="adj2" fmla="val 3036019"/>
            </a:avLst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EC5C370C-FE90-9B7F-AA1C-85BA477625BA}"/>
              </a:ext>
            </a:extLst>
          </p:cNvPr>
          <p:cNvSpPr>
            <a:spLocks/>
          </p:cNvSpPr>
          <p:nvPr/>
        </p:nvSpPr>
        <p:spPr>
          <a:xfrm rot="18986713">
            <a:off x="8187304" y="3595549"/>
            <a:ext cx="1441637" cy="1225257"/>
          </a:xfrm>
          <a:prstGeom prst="arc">
            <a:avLst>
              <a:gd name="adj1" fmla="val 14875575"/>
              <a:gd name="adj2" fmla="val 3036019"/>
            </a:avLst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62442DC-5C43-7522-5828-B5850A815F0D}"/>
                  </a:ext>
                </a:extLst>
              </p:cNvPr>
              <p:cNvSpPr txBox="1"/>
              <p:nvPr/>
            </p:nvSpPr>
            <p:spPr>
              <a:xfrm>
                <a:off x="9160828" y="4474761"/>
                <a:ext cx="74239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1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62442DC-5C43-7522-5828-B5850A815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828" y="4474761"/>
                <a:ext cx="742396" cy="338554"/>
              </a:xfrm>
              <a:prstGeom prst="rect">
                <a:avLst/>
              </a:prstGeom>
              <a:blipFill>
                <a:blip r:embed="rId8"/>
                <a:stretch>
                  <a:fillRect r="-3390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20C7B86-5387-6BFB-EEA0-FEB9280492BA}"/>
                  </a:ext>
                </a:extLst>
              </p:cNvPr>
              <p:cNvSpPr txBox="1"/>
              <p:nvPr/>
            </p:nvSpPr>
            <p:spPr>
              <a:xfrm>
                <a:off x="2094899" y="3128558"/>
                <a:ext cx="1843795" cy="4145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20C7B86-5387-6BFB-EEA0-FEB928049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899" y="3128558"/>
                <a:ext cx="1843795" cy="414537"/>
              </a:xfrm>
              <a:prstGeom prst="rect">
                <a:avLst/>
              </a:prstGeom>
              <a:blipFill>
                <a:blip r:embed="rId9"/>
                <a:stretch>
                  <a:fillRect l="-4795" r="-20548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625CA0A-FECD-CA8C-3A3A-76EC42468886}"/>
                  </a:ext>
                </a:extLst>
              </p:cNvPr>
              <p:cNvSpPr txBox="1"/>
              <p:nvPr/>
            </p:nvSpPr>
            <p:spPr>
              <a:xfrm>
                <a:off x="8135384" y="3085777"/>
                <a:ext cx="1871607" cy="3293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625CA0A-FECD-CA8C-3A3A-76EC42468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384" y="3085777"/>
                <a:ext cx="1871607" cy="329322"/>
              </a:xfrm>
              <a:prstGeom prst="rect">
                <a:avLst/>
              </a:prstGeom>
              <a:blipFill>
                <a:blip r:embed="rId10"/>
                <a:stretch>
                  <a:fillRect l="-4027" r="-20805" b="-40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486A011-775B-3F2C-E4FF-77B17C12617A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ounded Rectangle 81">
                <a:extLst>
                  <a:ext uri="{FF2B5EF4-FFF2-40B4-BE49-F238E27FC236}">
                    <a16:creationId xmlns:a16="http://schemas.microsoft.com/office/drawing/2014/main" id="{D7B5E969-3014-444C-FDBE-DF8FDCF7C0DD}"/>
                  </a:ext>
                </a:extLst>
              </p:cNvPr>
              <p:cNvSpPr/>
              <p:nvPr/>
            </p:nvSpPr>
            <p:spPr>
              <a:xfrm>
                <a:off x="320050" y="1059467"/>
                <a:ext cx="11530364" cy="1832484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To train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we want to minimize a statistical divergence between </a:t>
                </a:r>
                <a:r>
                  <a:rPr lang="en-US" b="1" i="1" dirty="0">
                    <a:solidFill>
                      <a:schemeClr val="tx1"/>
                    </a:solidFill>
                  </a:rPr>
                  <a:t>mapped</a:t>
                </a:r>
                <a:r>
                  <a:rPr lang="en-US" i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and </a:t>
                </a:r>
                <a:r>
                  <a:rPr lang="en-US" b="1" i="1" dirty="0">
                    <a:solidFill>
                      <a:schemeClr val="tx1"/>
                    </a:solidFill>
                  </a:rPr>
                  <a:t>target</a:t>
                </a:r>
                <a:r>
                  <a:rPr lang="en-US" dirty="0">
                    <a:solidFill>
                      <a:schemeClr val="tx1"/>
                    </a:solidFill>
                  </a:rPr>
                  <a:t> distributions. Minimizing the </a:t>
                </a:r>
                <a:r>
                  <a:rPr lang="en-US" dirty="0" err="1">
                    <a:solidFill>
                      <a:schemeClr val="tx1"/>
                    </a:solidFill>
                  </a:rPr>
                  <a:t>Kullback</a:t>
                </a:r>
                <a:r>
                  <a:rPr lang="en-US" dirty="0">
                    <a:solidFill>
                      <a:schemeClr val="tx1"/>
                    </a:solidFill>
                  </a:rPr>
                  <a:t>-Liebler Divergence (KLD) provides a </a:t>
                </a:r>
                <a:r>
                  <a:rPr lang="en-US" i="1" dirty="0">
                    <a:solidFill>
                      <a:schemeClr val="tx1"/>
                    </a:solidFill>
                  </a:rPr>
                  <a:t>maximum likelihood estimate </a:t>
                </a:r>
                <a:r>
                  <a:rPr lang="en-US" dirty="0">
                    <a:solidFill>
                      <a:schemeClr val="tx1"/>
                    </a:solidFill>
                  </a:rPr>
                  <a:t>of the mapping model parameters.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Rounded Rectangle 81">
                <a:extLst>
                  <a:ext uri="{FF2B5EF4-FFF2-40B4-BE49-F238E27FC236}">
                    <a16:creationId xmlns:a16="http://schemas.microsoft.com/office/drawing/2014/main" id="{D7B5E969-3014-444C-FDBE-DF8FDCF7C0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50" y="1059467"/>
                <a:ext cx="11530364" cy="1832484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D805BF-18DD-9749-3C92-B886D03B643B}"/>
                  </a:ext>
                </a:extLst>
              </p:cNvPr>
              <p:cNvSpPr txBox="1"/>
              <p:nvPr/>
            </p:nvSpPr>
            <p:spPr>
              <a:xfrm>
                <a:off x="2123343" y="1936480"/>
                <a:ext cx="7945311" cy="1095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𝔻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m:rPr>
                          <m:nor/>
                        </m:rPr>
                        <a:rPr lang="en-US" b="0" dirty="0">
                          <a:solidFill>
                            <a:schemeClr val="tx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))=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ℙ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ℙ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ℙ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ℙ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ℙ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D805BF-18DD-9749-3C92-B886D03B6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343" y="1936480"/>
                <a:ext cx="7945311" cy="1095813"/>
              </a:xfrm>
              <a:prstGeom prst="rect">
                <a:avLst/>
              </a:prstGeom>
              <a:blipFill>
                <a:blip r:embed="rId12"/>
                <a:stretch>
                  <a:fillRect t="-98851" b="-1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27A9D6C-C4CE-CD84-8D5B-A464AF8E6FE2}"/>
                  </a:ext>
                </a:extLst>
              </p:cNvPr>
              <p:cNvSpPr txBox="1"/>
              <p:nvPr/>
            </p:nvSpPr>
            <p:spPr>
              <a:xfrm>
                <a:off x="10414586" y="3682625"/>
                <a:ext cx="171169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u="sng" dirty="0"/>
                  <a:t>Forward KLD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Samples from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FF0000"/>
                    </a:solidFill>
                  </a:rPr>
                  <a:t>Hard to evaluate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density</a:t>
                </a: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27A9D6C-C4CE-CD84-8D5B-A464AF8E6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586" y="3682625"/>
                <a:ext cx="1711696" cy="1754326"/>
              </a:xfrm>
              <a:prstGeom prst="rect">
                <a:avLst/>
              </a:prstGeom>
              <a:blipFill>
                <a:blip r:embed="rId13"/>
                <a:stretch>
                  <a:fillRect l="-2206" t="-714" r="-735"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77846A0-55D6-B0DE-AF44-FA126845CE92}"/>
                  </a:ext>
                </a:extLst>
              </p:cNvPr>
              <p:cNvSpPr txBox="1"/>
              <p:nvPr/>
            </p:nvSpPr>
            <p:spPr>
              <a:xfrm>
                <a:off x="172880" y="3682625"/>
                <a:ext cx="171169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u="sng" dirty="0"/>
                  <a:t>Reverse KLD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Evaluate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density easily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FF0000"/>
                    </a:solidFill>
                  </a:rPr>
                  <a:t>Hard to sample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77846A0-55D6-B0DE-AF44-FA126845C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80" y="3682625"/>
                <a:ext cx="1711696" cy="1754326"/>
              </a:xfrm>
              <a:prstGeom prst="rect">
                <a:avLst/>
              </a:prstGeom>
              <a:blipFill>
                <a:blip r:embed="rId14"/>
                <a:stretch>
                  <a:fillRect l="-2941" t="-714"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3A1C893-F4DD-15D9-4257-2588D1B4C835}"/>
              </a:ext>
            </a:extLst>
          </p:cNvPr>
          <p:cNvSpPr txBox="1"/>
          <p:nvPr/>
        </p:nvSpPr>
        <p:spPr>
          <a:xfrm>
            <a:off x="341586" y="6405911"/>
            <a:ext cx="31256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[1] G.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Papamakarios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et al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. 2021. Normalizing flows for probabilistic modeling and inference. 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J. Mach. Learn. Res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. 22, 1, Article 57.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1F6F1-760F-8CE3-C818-80E8E24DF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41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72" grpId="0"/>
      <p:bldP spid="73" grpId="0"/>
      <p:bldP spid="75" grpId="0" animBg="1"/>
      <p:bldP spid="76" grpId="0" animBg="1"/>
      <p:bldP spid="78" grpId="0"/>
      <p:bldP spid="79" grpId="0"/>
      <p:bldP spid="85" grpId="0"/>
      <p:bldP spid="8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BE9A26-DD87-9FC9-CB60-9E627E91E779}"/>
              </a:ext>
            </a:extLst>
          </p:cNvPr>
          <p:cNvSpPr/>
          <p:nvPr/>
        </p:nvSpPr>
        <p:spPr>
          <a:xfrm>
            <a:off x="341586" y="1336876"/>
            <a:ext cx="11508828" cy="418424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ysClr val="windowText" lastClr="000000"/>
                </a:solidFill>
              </a:rPr>
              <a:t>Part II</a:t>
            </a:r>
          </a:p>
          <a:p>
            <a:pPr algn="ctr"/>
            <a:r>
              <a:rPr lang="en-US" sz="3600" dirty="0">
                <a:solidFill>
                  <a:sysClr val="windowText" lastClr="000000"/>
                </a:solidFill>
              </a:rPr>
              <a:t>How can Normalizing Flows be used in Statistical Mechanics?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95B23-517D-97B2-7B4B-2AA6E1B8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51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514260-4121-3BD5-FE1D-895187B40067}"/>
              </a:ext>
            </a:extLst>
          </p:cNvPr>
          <p:cNvSpPr txBox="1">
            <a:spLocks/>
          </p:cNvSpPr>
          <p:nvPr/>
        </p:nvSpPr>
        <p:spPr>
          <a:xfrm>
            <a:off x="341586" y="182944"/>
            <a:ext cx="9461633" cy="613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Bijective Maps Between Boltzmann Distributions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54F39B-2F08-2C01-E818-BD48090EBFB6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28BD15C3-9BAD-86FC-E885-EE3459946EE2}"/>
                  </a:ext>
                </a:extLst>
              </p:cNvPr>
              <p:cNvSpPr/>
              <p:nvPr/>
            </p:nvSpPr>
            <p:spPr>
              <a:xfrm>
                <a:off x="330818" y="1084277"/>
                <a:ext cx="11530364" cy="174398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In Statistical Mechanics, we are tasked with learning mappings between </a:t>
                </a:r>
                <a:r>
                  <a:rPr lang="en-US" b="1" i="1" dirty="0">
                    <a:solidFill>
                      <a:schemeClr val="tx1"/>
                    </a:solidFill>
                  </a:rPr>
                  <a:t>Boltzmann Distributions. </a:t>
                </a:r>
                <a:r>
                  <a:rPr lang="en-US" dirty="0">
                    <a:solidFill>
                      <a:schemeClr val="tx1"/>
                    </a:solidFill>
                  </a:rPr>
                  <a:t>Assuming NVT conditions, and an interatomic potential parametrized by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,</a:t>
                </a:r>
                <a:r>
                  <a:rPr lang="en-US" b="1" i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we have probability – </a:t>
                </a:r>
              </a:p>
              <a:p>
                <a:pPr algn="ctr"/>
                <a:endParaRPr lang="en-US" b="1" i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…, 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…, </m:t>
                                  </m:r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𝝀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…, </m:t>
                                      </m:r>
                                      <m: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𝝀</m:t>
                                  </m:r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…, 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28BD15C3-9BAD-86FC-E885-EE3459946E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18" y="1084277"/>
                <a:ext cx="11530364" cy="1743983"/>
              </a:xfrm>
              <a:prstGeom prst="roundRect">
                <a:avLst/>
              </a:prstGeom>
              <a:blipFill>
                <a:blip r:embed="rId3"/>
                <a:stretch>
                  <a:fillRect b="-378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Rounded Rectangle 143">
                <a:extLst>
                  <a:ext uri="{FF2B5EF4-FFF2-40B4-BE49-F238E27FC236}">
                    <a16:creationId xmlns:a16="http://schemas.microsoft.com/office/drawing/2014/main" id="{40D7E6E3-203F-7C47-80F3-60A71A396850}"/>
                  </a:ext>
                </a:extLst>
              </p:cNvPr>
              <p:cNvSpPr/>
              <p:nvPr/>
            </p:nvSpPr>
            <p:spPr>
              <a:xfrm>
                <a:off x="341586" y="5025696"/>
                <a:ext cx="5049121" cy="1522342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Why is it useful to find mappings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? 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 accuracy of free energy estimators depends on the overlap between Boltzmann distributions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44" name="Rounded Rectangle 143">
                <a:extLst>
                  <a:ext uri="{FF2B5EF4-FFF2-40B4-BE49-F238E27FC236}">
                    <a16:creationId xmlns:a16="http://schemas.microsoft.com/office/drawing/2014/main" id="{40D7E6E3-203F-7C47-80F3-60A71A3968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86" y="5025696"/>
                <a:ext cx="5049121" cy="1522342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Oval 157">
            <a:extLst>
              <a:ext uri="{FF2B5EF4-FFF2-40B4-BE49-F238E27FC236}">
                <a16:creationId xmlns:a16="http://schemas.microsoft.com/office/drawing/2014/main" id="{ED9FFF23-E4DC-6C31-2EC1-C1C27AE16025}"/>
              </a:ext>
            </a:extLst>
          </p:cNvPr>
          <p:cNvSpPr>
            <a:spLocks noChangeAspect="1"/>
          </p:cNvSpPr>
          <p:nvPr/>
        </p:nvSpPr>
        <p:spPr>
          <a:xfrm>
            <a:off x="6698766" y="5275758"/>
            <a:ext cx="847942" cy="847942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12FC25F1-4C62-6A95-DDE6-3D74A5A7A647}"/>
              </a:ext>
            </a:extLst>
          </p:cNvPr>
          <p:cNvSpPr>
            <a:spLocks noChangeAspect="1"/>
          </p:cNvSpPr>
          <p:nvPr/>
        </p:nvSpPr>
        <p:spPr>
          <a:xfrm>
            <a:off x="9866876" y="5670618"/>
            <a:ext cx="847942" cy="84794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reeform 159">
            <a:extLst>
              <a:ext uri="{FF2B5EF4-FFF2-40B4-BE49-F238E27FC236}">
                <a16:creationId xmlns:a16="http://schemas.microsoft.com/office/drawing/2014/main" id="{5F1027E6-C5FF-A888-7AAB-DF363BD2FB6B}"/>
              </a:ext>
            </a:extLst>
          </p:cNvPr>
          <p:cNvSpPr/>
          <p:nvPr/>
        </p:nvSpPr>
        <p:spPr>
          <a:xfrm rot="954228">
            <a:off x="9933287" y="5129312"/>
            <a:ext cx="960009" cy="879692"/>
          </a:xfrm>
          <a:custGeom>
            <a:avLst/>
            <a:gdLst>
              <a:gd name="connsiteX0" fmla="*/ 81023 w 2338086"/>
              <a:gd name="connsiteY0" fmla="*/ 1030146 h 1967696"/>
              <a:gd name="connsiteX1" fmla="*/ 81023 w 2338086"/>
              <a:gd name="connsiteY1" fmla="*/ 1030146 h 1967696"/>
              <a:gd name="connsiteX2" fmla="*/ 23149 w 2338086"/>
              <a:gd name="connsiteY2" fmla="*/ 1122744 h 1967696"/>
              <a:gd name="connsiteX3" fmla="*/ 0 w 2338086"/>
              <a:gd name="connsiteY3" fmla="*/ 1192192 h 1967696"/>
              <a:gd name="connsiteX4" fmla="*/ 23149 w 2338086"/>
              <a:gd name="connsiteY4" fmla="*/ 1400536 h 1967696"/>
              <a:gd name="connsiteX5" fmla="*/ 34724 w 2338086"/>
              <a:gd name="connsiteY5" fmla="*/ 1435260 h 1967696"/>
              <a:gd name="connsiteX6" fmla="*/ 57873 w 2338086"/>
              <a:gd name="connsiteY6" fmla="*/ 1458410 h 1967696"/>
              <a:gd name="connsiteX7" fmla="*/ 69448 w 2338086"/>
              <a:gd name="connsiteY7" fmla="*/ 1493134 h 1967696"/>
              <a:gd name="connsiteX8" fmla="*/ 127322 w 2338086"/>
              <a:gd name="connsiteY8" fmla="*/ 1551007 h 1967696"/>
              <a:gd name="connsiteX9" fmla="*/ 162046 w 2338086"/>
              <a:gd name="connsiteY9" fmla="*/ 1608881 h 1967696"/>
              <a:gd name="connsiteX10" fmla="*/ 219919 w 2338086"/>
              <a:gd name="connsiteY10" fmla="*/ 1678329 h 1967696"/>
              <a:gd name="connsiteX11" fmla="*/ 254643 w 2338086"/>
              <a:gd name="connsiteY11" fmla="*/ 1689903 h 1967696"/>
              <a:gd name="connsiteX12" fmla="*/ 370390 w 2338086"/>
              <a:gd name="connsiteY12" fmla="*/ 1782501 h 1967696"/>
              <a:gd name="connsiteX13" fmla="*/ 405114 w 2338086"/>
              <a:gd name="connsiteY13" fmla="*/ 1794076 h 1967696"/>
              <a:gd name="connsiteX14" fmla="*/ 439838 w 2338086"/>
              <a:gd name="connsiteY14" fmla="*/ 1817225 h 1967696"/>
              <a:gd name="connsiteX15" fmla="*/ 486137 w 2338086"/>
              <a:gd name="connsiteY15" fmla="*/ 1828800 h 1967696"/>
              <a:gd name="connsiteX16" fmla="*/ 532435 w 2338086"/>
              <a:gd name="connsiteY16" fmla="*/ 1851949 h 1967696"/>
              <a:gd name="connsiteX17" fmla="*/ 578734 w 2338086"/>
              <a:gd name="connsiteY17" fmla="*/ 1863524 h 1967696"/>
              <a:gd name="connsiteX18" fmla="*/ 625033 w 2338086"/>
              <a:gd name="connsiteY18" fmla="*/ 1886673 h 1967696"/>
              <a:gd name="connsiteX19" fmla="*/ 671332 w 2338086"/>
              <a:gd name="connsiteY19" fmla="*/ 1898248 h 1967696"/>
              <a:gd name="connsiteX20" fmla="*/ 810228 w 2338086"/>
              <a:gd name="connsiteY20" fmla="*/ 1921397 h 1967696"/>
              <a:gd name="connsiteX21" fmla="*/ 925975 w 2338086"/>
              <a:gd name="connsiteY21" fmla="*/ 1944546 h 1967696"/>
              <a:gd name="connsiteX22" fmla="*/ 983848 w 2338086"/>
              <a:gd name="connsiteY22" fmla="*/ 1956121 h 1967696"/>
              <a:gd name="connsiteX23" fmla="*/ 1030147 w 2338086"/>
              <a:gd name="connsiteY23" fmla="*/ 1967696 h 1967696"/>
              <a:gd name="connsiteX24" fmla="*/ 1296365 w 2338086"/>
              <a:gd name="connsiteY24" fmla="*/ 1956121 h 1967696"/>
              <a:gd name="connsiteX25" fmla="*/ 1412111 w 2338086"/>
              <a:gd name="connsiteY25" fmla="*/ 1909822 h 1967696"/>
              <a:gd name="connsiteX26" fmla="*/ 1446835 w 2338086"/>
              <a:gd name="connsiteY26" fmla="*/ 1898248 h 1967696"/>
              <a:gd name="connsiteX27" fmla="*/ 1469985 w 2338086"/>
              <a:gd name="connsiteY27" fmla="*/ 1875098 h 1967696"/>
              <a:gd name="connsiteX28" fmla="*/ 1504709 w 2338086"/>
              <a:gd name="connsiteY28" fmla="*/ 1851949 h 1967696"/>
              <a:gd name="connsiteX29" fmla="*/ 1527858 w 2338086"/>
              <a:gd name="connsiteY29" fmla="*/ 1817225 h 1967696"/>
              <a:gd name="connsiteX30" fmla="*/ 1562582 w 2338086"/>
              <a:gd name="connsiteY30" fmla="*/ 1794076 h 1967696"/>
              <a:gd name="connsiteX31" fmla="*/ 1585732 w 2338086"/>
              <a:gd name="connsiteY31" fmla="*/ 1770926 h 1967696"/>
              <a:gd name="connsiteX32" fmla="*/ 1655180 w 2338086"/>
              <a:gd name="connsiteY32" fmla="*/ 1713053 h 1967696"/>
              <a:gd name="connsiteX33" fmla="*/ 1666754 w 2338086"/>
              <a:gd name="connsiteY33" fmla="*/ 1678329 h 1967696"/>
              <a:gd name="connsiteX34" fmla="*/ 1794076 w 2338086"/>
              <a:gd name="connsiteY34" fmla="*/ 1597306 h 1967696"/>
              <a:gd name="connsiteX35" fmla="*/ 1851949 w 2338086"/>
              <a:gd name="connsiteY35" fmla="*/ 1527858 h 1967696"/>
              <a:gd name="connsiteX36" fmla="*/ 1875099 w 2338086"/>
              <a:gd name="connsiteY36" fmla="*/ 1504708 h 1967696"/>
              <a:gd name="connsiteX37" fmla="*/ 1886673 w 2338086"/>
              <a:gd name="connsiteY37" fmla="*/ 1469984 h 1967696"/>
              <a:gd name="connsiteX38" fmla="*/ 1944547 w 2338086"/>
              <a:gd name="connsiteY38" fmla="*/ 1388962 h 1967696"/>
              <a:gd name="connsiteX39" fmla="*/ 1956122 w 2338086"/>
              <a:gd name="connsiteY39" fmla="*/ 1354238 h 1967696"/>
              <a:gd name="connsiteX40" fmla="*/ 1932972 w 2338086"/>
              <a:gd name="connsiteY40" fmla="*/ 1041721 h 1967696"/>
              <a:gd name="connsiteX41" fmla="*/ 1944547 w 2338086"/>
              <a:gd name="connsiteY41" fmla="*/ 914400 h 1967696"/>
              <a:gd name="connsiteX42" fmla="*/ 2037144 w 2338086"/>
              <a:gd name="connsiteY42" fmla="*/ 810227 h 1967696"/>
              <a:gd name="connsiteX43" fmla="*/ 2106592 w 2338086"/>
              <a:gd name="connsiteY43" fmla="*/ 763929 h 1967696"/>
              <a:gd name="connsiteX44" fmla="*/ 2187615 w 2338086"/>
              <a:gd name="connsiteY44" fmla="*/ 729205 h 1967696"/>
              <a:gd name="connsiteX45" fmla="*/ 2280213 w 2338086"/>
              <a:gd name="connsiteY45" fmla="*/ 671331 h 1967696"/>
              <a:gd name="connsiteX46" fmla="*/ 2326511 w 2338086"/>
              <a:gd name="connsiteY46" fmla="*/ 590308 h 1967696"/>
              <a:gd name="connsiteX47" fmla="*/ 2338086 w 2338086"/>
              <a:gd name="connsiteY47" fmla="*/ 462987 h 1967696"/>
              <a:gd name="connsiteX48" fmla="*/ 2314937 w 2338086"/>
              <a:gd name="connsiteY48" fmla="*/ 381964 h 1967696"/>
              <a:gd name="connsiteX49" fmla="*/ 2303362 w 2338086"/>
              <a:gd name="connsiteY49" fmla="*/ 347240 h 1967696"/>
              <a:gd name="connsiteX50" fmla="*/ 2257063 w 2338086"/>
              <a:gd name="connsiteY50" fmla="*/ 277792 h 1967696"/>
              <a:gd name="connsiteX51" fmla="*/ 2233914 w 2338086"/>
              <a:gd name="connsiteY51" fmla="*/ 231493 h 1967696"/>
              <a:gd name="connsiteX52" fmla="*/ 2071868 w 2338086"/>
              <a:gd name="connsiteY52" fmla="*/ 138896 h 1967696"/>
              <a:gd name="connsiteX53" fmla="*/ 2013995 w 2338086"/>
              <a:gd name="connsiteY53" fmla="*/ 115746 h 1967696"/>
              <a:gd name="connsiteX54" fmla="*/ 1967696 w 2338086"/>
              <a:gd name="connsiteY54" fmla="*/ 92597 h 1967696"/>
              <a:gd name="connsiteX55" fmla="*/ 1851949 w 2338086"/>
              <a:gd name="connsiteY55" fmla="*/ 69448 h 1967696"/>
              <a:gd name="connsiteX56" fmla="*/ 1759352 w 2338086"/>
              <a:gd name="connsiteY56" fmla="*/ 46298 h 1967696"/>
              <a:gd name="connsiteX57" fmla="*/ 1643605 w 2338086"/>
              <a:gd name="connsiteY57" fmla="*/ 23149 h 1967696"/>
              <a:gd name="connsiteX58" fmla="*/ 1388962 w 2338086"/>
              <a:gd name="connsiteY58" fmla="*/ 0 h 1967696"/>
              <a:gd name="connsiteX59" fmla="*/ 729205 w 2338086"/>
              <a:gd name="connsiteY59" fmla="*/ 23149 h 1967696"/>
              <a:gd name="connsiteX60" fmla="*/ 590309 w 2338086"/>
              <a:gd name="connsiteY60" fmla="*/ 57873 h 1967696"/>
              <a:gd name="connsiteX61" fmla="*/ 520861 w 2338086"/>
              <a:gd name="connsiteY61" fmla="*/ 81022 h 1967696"/>
              <a:gd name="connsiteX62" fmla="*/ 486137 w 2338086"/>
              <a:gd name="connsiteY62" fmla="*/ 92597 h 1967696"/>
              <a:gd name="connsiteX63" fmla="*/ 439838 w 2338086"/>
              <a:gd name="connsiteY63" fmla="*/ 104172 h 1967696"/>
              <a:gd name="connsiteX64" fmla="*/ 162046 w 2338086"/>
              <a:gd name="connsiteY64" fmla="*/ 104172 h 1967696"/>
              <a:gd name="connsiteX65" fmla="*/ 115747 w 2338086"/>
              <a:gd name="connsiteY65" fmla="*/ 127321 h 1967696"/>
              <a:gd name="connsiteX66" fmla="*/ 92598 w 2338086"/>
              <a:gd name="connsiteY66" fmla="*/ 162045 h 1967696"/>
              <a:gd name="connsiteX67" fmla="*/ 69448 w 2338086"/>
              <a:gd name="connsiteY67" fmla="*/ 185194 h 1967696"/>
              <a:gd name="connsiteX68" fmla="*/ 57873 w 2338086"/>
              <a:gd name="connsiteY68" fmla="*/ 219919 h 1967696"/>
              <a:gd name="connsiteX69" fmla="*/ 46299 w 2338086"/>
              <a:gd name="connsiteY69" fmla="*/ 347240 h 1967696"/>
              <a:gd name="connsiteX70" fmla="*/ 46299 w 2338086"/>
              <a:gd name="connsiteY70" fmla="*/ 671331 h 1967696"/>
              <a:gd name="connsiteX71" fmla="*/ 46299 w 2338086"/>
              <a:gd name="connsiteY71" fmla="*/ 879676 h 1967696"/>
              <a:gd name="connsiteX72" fmla="*/ 57873 w 2338086"/>
              <a:gd name="connsiteY72" fmla="*/ 937549 h 1967696"/>
              <a:gd name="connsiteX73" fmla="*/ 81023 w 2338086"/>
              <a:gd name="connsiteY73" fmla="*/ 1030146 h 196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2338086" h="1967696">
                <a:moveTo>
                  <a:pt x="81023" y="1030146"/>
                </a:moveTo>
                <a:lnTo>
                  <a:pt x="81023" y="1030146"/>
                </a:lnTo>
                <a:cubicBezTo>
                  <a:pt x="61732" y="1061012"/>
                  <a:pt x="39427" y="1090188"/>
                  <a:pt x="23149" y="1122744"/>
                </a:cubicBezTo>
                <a:cubicBezTo>
                  <a:pt x="12236" y="1144569"/>
                  <a:pt x="0" y="1192192"/>
                  <a:pt x="0" y="1192192"/>
                </a:cubicBezTo>
                <a:cubicBezTo>
                  <a:pt x="6991" y="1283073"/>
                  <a:pt x="4093" y="1324310"/>
                  <a:pt x="23149" y="1400536"/>
                </a:cubicBezTo>
                <a:cubicBezTo>
                  <a:pt x="26108" y="1412373"/>
                  <a:pt x="28447" y="1424798"/>
                  <a:pt x="34724" y="1435260"/>
                </a:cubicBezTo>
                <a:cubicBezTo>
                  <a:pt x="40339" y="1444618"/>
                  <a:pt x="50157" y="1450693"/>
                  <a:pt x="57873" y="1458410"/>
                </a:cubicBezTo>
                <a:cubicBezTo>
                  <a:pt x="61731" y="1469985"/>
                  <a:pt x="62127" y="1483373"/>
                  <a:pt x="69448" y="1493134"/>
                </a:cubicBezTo>
                <a:cubicBezTo>
                  <a:pt x="85817" y="1514959"/>
                  <a:pt x="127322" y="1551007"/>
                  <a:pt x="127322" y="1551007"/>
                </a:cubicBezTo>
                <a:cubicBezTo>
                  <a:pt x="147422" y="1611310"/>
                  <a:pt x="125730" y="1563485"/>
                  <a:pt x="162046" y="1608881"/>
                </a:cubicBezTo>
                <a:cubicBezTo>
                  <a:pt x="186448" y="1639384"/>
                  <a:pt x="184568" y="1654762"/>
                  <a:pt x="219919" y="1678329"/>
                </a:cubicBezTo>
                <a:cubicBezTo>
                  <a:pt x="230071" y="1685097"/>
                  <a:pt x="243068" y="1686045"/>
                  <a:pt x="254643" y="1689903"/>
                </a:cubicBezTo>
                <a:cubicBezTo>
                  <a:pt x="286252" y="1721512"/>
                  <a:pt x="326586" y="1767899"/>
                  <a:pt x="370390" y="1782501"/>
                </a:cubicBezTo>
                <a:cubicBezTo>
                  <a:pt x="381965" y="1786359"/>
                  <a:pt x="394201" y="1788620"/>
                  <a:pt x="405114" y="1794076"/>
                </a:cubicBezTo>
                <a:cubicBezTo>
                  <a:pt x="417556" y="1800297"/>
                  <a:pt x="427052" y="1811745"/>
                  <a:pt x="439838" y="1817225"/>
                </a:cubicBezTo>
                <a:cubicBezTo>
                  <a:pt x="454460" y="1823491"/>
                  <a:pt x="471242" y="1823214"/>
                  <a:pt x="486137" y="1828800"/>
                </a:cubicBezTo>
                <a:cubicBezTo>
                  <a:pt x="502293" y="1834858"/>
                  <a:pt x="516279" y="1845891"/>
                  <a:pt x="532435" y="1851949"/>
                </a:cubicBezTo>
                <a:cubicBezTo>
                  <a:pt x="547330" y="1857535"/>
                  <a:pt x="563839" y="1857938"/>
                  <a:pt x="578734" y="1863524"/>
                </a:cubicBezTo>
                <a:cubicBezTo>
                  <a:pt x="594890" y="1869582"/>
                  <a:pt x="608877" y="1880615"/>
                  <a:pt x="625033" y="1886673"/>
                </a:cubicBezTo>
                <a:cubicBezTo>
                  <a:pt x="639928" y="1892259"/>
                  <a:pt x="655696" y="1895316"/>
                  <a:pt x="671332" y="1898248"/>
                </a:cubicBezTo>
                <a:cubicBezTo>
                  <a:pt x="717465" y="1906898"/>
                  <a:pt x="764202" y="1912192"/>
                  <a:pt x="810228" y="1921397"/>
                </a:cubicBezTo>
                <a:lnTo>
                  <a:pt x="925975" y="1944546"/>
                </a:lnTo>
                <a:cubicBezTo>
                  <a:pt x="945266" y="1948404"/>
                  <a:pt x="964762" y="1951349"/>
                  <a:pt x="983848" y="1956121"/>
                </a:cubicBezTo>
                <a:lnTo>
                  <a:pt x="1030147" y="1967696"/>
                </a:lnTo>
                <a:cubicBezTo>
                  <a:pt x="1118886" y="1963838"/>
                  <a:pt x="1208013" y="1965261"/>
                  <a:pt x="1296365" y="1956121"/>
                </a:cubicBezTo>
                <a:cubicBezTo>
                  <a:pt x="1342676" y="1951330"/>
                  <a:pt x="1371923" y="1927046"/>
                  <a:pt x="1412111" y="1909822"/>
                </a:cubicBezTo>
                <a:cubicBezTo>
                  <a:pt x="1423325" y="1905016"/>
                  <a:pt x="1435260" y="1902106"/>
                  <a:pt x="1446835" y="1898248"/>
                </a:cubicBezTo>
                <a:cubicBezTo>
                  <a:pt x="1454552" y="1890531"/>
                  <a:pt x="1461463" y="1881915"/>
                  <a:pt x="1469985" y="1875098"/>
                </a:cubicBezTo>
                <a:cubicBezTo>
                  <a:pt x="1480848" y="1866408"/>
                  <a:pt x="1494872" y="1861786"/>
                  <a:pt x="1504709" y="1851949"/>
                </a:cubicBezTo>
                <a:cubicBezTo>
                  <a:pt x="1514546" y="1842112"/>
                  <a:pt x="1518021" y="1827062"/>
                  <a:pt x="1527858" y="1817225"/>
                </a:cubicBezTo>
                <a:cubicBezTo>
                  <a:pt x="1537695" y="1807388"/>
                  <a:pt x="1551719" y="1802766"/>
                  <a:pt x="1562582" y="1794076"/>
                </a:cubicBezTo>
                <a:cubicBezTo>
                  <a:pt x="1571104" y="1787259"/>
                  <a:pt x="1577348" y="1777912"/>
                  <a:pt x="1585732" y="1770926"/>
                </a:cubicBezTo>
                <a:cubicBezTo>
                  <a:pt x="1668283" y="1702133"/>
                  <a:pt x="1602820" y="1765411"/>
                  <a:pt x="1655180" y="1713053"/>
                </a:cubicBezTo>
                <a:cubicBezTo>
                  <a:pt x="1659038" y="1701478"/>
                  <a:pt x="1657635" y="1686435"/>
                  <a:pt x="1666754" y="1678329"/>
                </a:cubicBezTo>
                <a:cubicBezTo>
                  <a:pt x="1785583" y="1572703"/>
                  <a:pt x="1723550" y="1656078"/>
                  <a:pt x="1794076" y="1597306"/>
                </a:cubicBezTo>
                <a:cubicBezTo>
                  <a:pt x="1843567" y="1556063"/>
                  <a:pt x="1815530" y="1573382"/>
                  <a:pt x="1851949" y="1527858"/>
                </a:cubicBezTo>
                <a:cubicBezTo>
                  <a:pt x="1858766" y="1519336"/>
                  <a:pt x="1867382" y="1512425"/>
                  <a:pt x="1875099" y="1504708"/>
                </a:cubicBezTo>
                <a:cubicBezTo>
                  <a:pt x="1878957" y="1493133"/>
                  <a:pt x="1881217" y="1480897"/>
                  <a:pt x="1886673" y="1469984"/>
                </a:cubicBezTo>
                <a:cubicBezTo>
                  <a:pt x="1895134" y="1453061"/>
                  <a:pt x="1936685" y="1399445"/>
                  <a:pt x="1944547" y="1388962"/>
                </a:cubicBezTo>
                <a:cubicBezTo>
                  <a:pt x="1948405" y="1377387"/>
                  <a:pt x="1956122" y="1366439"/>
                  <a:pt x="1956122" y="1354238"/>
                </a:cubicBezTo>
                <a:cubicBezTo>
                  <a:pt x="1956122" y="1121190"/>
                  <a:pt x="1963893" y="1165404"/>
                  <a:pt x="1932972" y="1041721"/>
                </a:cubicBezTo>
                <a:cubicBezTo>
                  <a:pt x="1936830" y="999281"/>
                  <a:pt x="1932522" y="955284"/>
                  <a:pt x="1944547" y="914400"/>
                </a:cubicBezTo>
                <a:cubicBezTo>
                  <a:pt x="1959605" y="863204"/>
                  <a:pt x="1997669" y="837859"/>
                  <a:pt x="2037144" y="810227"/>
                </a:cubicBezTo>
                <a:cubicBezTo>
                  <a:pt x="2059937" y="794272"/>
                  <a:pt x="2080198" y="772727"/>
                  <a:pt x="2106592" y="763929"/>
                </a:cubicBezTo>
                <a:cubicBezTo>
                  <a:pt x="2140348" y="752677"/>
                  <a:pt x="2154923" y="749638"/>
                  <a:pt x="2187615" y="729205"/>
                </a:cubicBezTo>
                <a:cubicBezTo>
                  <a:pt x="2307824" y="654074"/>
                  <a:pt x="2162898" y="729990"/>
                  <a:pt x="2280213" y="671331"/>
                </a:cubicBezTo>
                <a:cubicBezTo>
                  <a:pt x="2292637" y="652695"/>
                  <a:pt x="2322315" y="611288"/>
                  <a:pt x="2326511" y="590308"/>
                </a:cubicBezTo>
                <a:cubicBezTo>
                  <a:pt x="2334869" y="548520"/>
                  <a:pt x="2334228" y="505427"/>
                  <a:pt x="2338086" y="462987"/>
                </a:cubicBezTo>
                <a:cubicBezTo>
                  <a:pt x="2310333" y="379731"/>
                  <a:pt x="2344004" y="483701"/>
                  <a:pt x="2314937" y="381964"/>
                </a:cubicBezTo>
                <a:cubicBezTo>
                  <a:pt x="2311585" y="370233"/>
                  <a:pt x="2309287" y="357905"/>
                  <a:pt x="2303362" y="347240"/>
                </a:cubicBezTo>
                <a:cubicBezTo>
                  <a:pt x="2289850" y="322919"/>
                  <a:pt x="2269505" y="302677"/>
                  <a:pt x="2257063" y="277792"/>
                </a:cubicBezTo>
                <a:cubicBezTo>
                  <a:pt x="2249347" y="262359"/>
                  <a:pt x="2246115" y="243694"/>
                  <a:pt x="2233914" y="231493"/>
                </a:cubicBezTo>
                <a:cubicBezTo>
                  <a:pt x="2206071" y="203649"/>
                  <a:pt x="2102132" y="151002"/>
                  <a:pt x="2071868" y="138896"/>
                </a:cubicBezTo>
                <a:cubicBezTo>
                  <a:pt x="2052577" y="131179"/>
                  <a:pt x="2032981" y="124184"/>
                  <a:pt x="2013995" y="115746"/>
                </a:cubicBezTo>
                <a:cubicBezTo>
                  <a:pt x="1998228" y="108738"/>
                  <a:pt x="1983852" y="98655"/>
                  <a:pt x="1967696" y="92597"/>
                </a:cubicBezTo>
                <a:cubicBezTo>
                  <a:pt x="1935240" y="80426"/>
                  <a:pt x="1883077" y="76118"/>
                  <a:pt x="1851949" y="69448"/>
                </a:cubicBezTo>
                <a:cubicBezTo>
                  <a:pt x="1820840" y="62782"/>
                  <a:pt x="1790550" y="52537"/>
                  <a:pt x="1759352" y="46298"/>
                </a:cubicBezTo>
                <a:cubicBezTo>
                  <a:pt x="1720770" y="38582"/>
                  <a:pt x="1682790" y="26711"/>
                  <a:pt x="1643605" y="23149"/>
                </a:cubicBezTo>
                <a:lnTo>
                  <a:pt x="1388962" y="0"/>
                </a:lnTo>
                <a:cubicBezTo>
                  <a:pt x="1128705" y="52049"/>
                  <a:pt x="1408038" y="-260"/>
                  <a:pt x="729205" y="23149"/>
                </a:cubicBezTo>
                <a:cubicBezTo>
                  <a:pt x="677054" y="24947"/>
                  <a:pt x="639011" y="41639"/>
                  <a:pt x="590309" y="57873"/>
                </a:cubicBezTo>
                <a:lnTo>
                  <a:pt x="520861" y="81022"/>
                </a:lnTo>
                <a:cubicBezTo>
                  <a:pt x="509286" y="84880"/>
                  <a:pt x="497974" y="89638"/>
                  <a:pt x="486137" y="92597"/>
                </a:cubicBezTo>
                <a:lnTo>
                  <a:pt x="439838" y="104172"/>
                </a:lnTo>
                <a:cubicBezTo>
                  <a:pt x="339429" y="97478"/>
                  <a:pt x="258768" y="81852"/>
                  <a:pt x="162046" y="104172"/>
                </a:cubicBezTo>
                <a:cubicBezTo>
                  <a:pt x="145233" y="108052"/>
                  <a:pt x="131180" y="119605"/>
                  <a:pt x="115747" y="127321"/>
                </a:cubicBezTo>
                <a:cubicBezTo>
                  <a:pt x="108031" y="138896"/>
                  <a:pt x="101288" y="151182"/>
                  <a:pt x="92598" y="162045"/>
                </a:cubicBezTo>
                <a:cubicBezTo>
                  <a:pt x="85781" y="170566"/>
                  <a:pt x="75063" y="175836"/>
                  <a:pt x="69448" y="185194"/>
                </a:cubicBezTo>
                <a:cubicBezTo>
                  <a:pt x="63170" y="195656"/>
                  <a:pt x="61731" y="208344"/>
                  <a:pt x="57873" y="219919"/>
                </a:cubicBezTo>
                <a:cubicBezTo>
                  <a:pt x="54015" y="262359"/>
                  <a:pt x="48663" y="304690"/>
                  <a:pt x="46299" y="347240"/>
                </a:cubicBezTo>
                <a:cubicBezTo>
                  <a:pt x="30216" y="636737"/>
                  <a:pt x="4705" y="546553"/>
                  <a:pt x="46299" y="671331"/>
                </a:cubicBezTo>
                <a:cubicBezTo>
                  <a:pt x="26426" y="969412"/>
                  <a:pt x="17957" y="766305"/>
                  <a:pt x="46299" y="879676"/>
                </a:cubicBezTo>
                <a:cubicBezTo>
                  <a:pt x="51070" y="898762"/>
                  <a:pt x="54354" y="918193"/>
                  <a:pt x="57873" y="937549"/>
                </a:cubicBezTo>
                <a:cubicBezTo>
                  <a:pt x="62071" y="960639"/>
                  <a:pt x="77165" y="1014713"/>
                  <a:pt x="81023" y="1030146"/>
                </a:cubicBezTo>
                <a:close/>
              </a:path>
            </a:pathLst>
          </a:cu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Freeform 160">
            <a:extLst>
              <a:ext uri="{FF2B5EF4-FFF2-40B4-BE49-F238E27FC236}">
                <a16:creationId xmlns:a16="http://schemas.microsoft.com/office/drawing/2014/main" id="{9DA0028D-65D1-52E9-81AB-148D9AA9C237}"/>
              </a:ext>
            </a:extLst>
          </p:cNvPr>
          <p:cNvSpPr/>
          <p:nvPr/>
        </p:nvSpPr>
        <p:spPr>
          <a:xfrm rot="12952711">
            <a:off x="6784824" y="5665425"/>
            <a:ext cx="960009" cy="879692"/>
          </a:xfrm>
          <a:custGeom>
            <a:avLst/>
            <a:gdLst>
              <a:gd name="connsiteX0" fmla="*/ 81023 w 2338086"/>
              <a:gd name="connsiteY0" fmla="*/ 1030146 h 1967696"/>
              <a:gd name="connsiteX1" fmla="*/ 81023 w 2338086"/>
              <a:gd name="connsiteY1" fmla="*/ 1030146 h 1967696"/>
              <a:gd name="connsiteX2" fmla="*/ 23149 w 2338086"/>
              <a:gd name="connsiteY2" fmla="*/ 1122744 h 1967696"/>
              <a:gd name="connsiteX3" fmla="*/ 0 w 2338086"/>
              <a:gd name="connsiteY3" fmla="*/ 1192192 h 1967696"/>
              <a:gd name="connsiteX4" fmla="*/ 23149 w 2338086"/>
              <a:gd name="connsiteY4" fmla="*/ 1400536 h 1967696"/>
              <a:gd name="connsiteX5" fmla="*/ 34724 w 2338086"/>
              <a:gd name="connsiteY5" fmla="*/ 1435260 h 1967696"/>
              <a:gd name="connsiteX6" fmla="*/ 57873 w 2338086"/>
              <a:gd name="connsiteY6" fmla="*/ 1458410 h 1967696"/>
              <a:gd name="connsiteX7" fmla="*/ 69448 w 2338086"/>
              <a:gd name="connsiteY7" fmla="*/ 1493134 h 1967696"/>
              <a:gd name="connsiteX8" fmla="*/ 127322 w 2338086"/>
              <a:gd name="connsiteY8" fmla="*/ 1551007 h 1967696"/>
              <a:gd name="connsiteX9" fmla="*/ 162046 w 2338086"/>
              <a:gd name="connsiteY9" fmla="*/ 1608881 h 1967696"/>
              <a:gd name="connsiteX10" fmla="*/ 219919 w 2338086"/>
              <a:gd name="connsiteY10" fmla="*/ 1678329 h 1967696"/>
              <a:gd name="connsiteX11" fmla="*/ 254643 w 2338086"/>
              <a:gd name="connsiteY11" fmla="*/ 1689903 h 1967696"/>
              <a:gd name="connsiteX12" fmla="*/ 370390 w 2338086"/>
              <a:gd name="connsiteY12" fmla="*/ 1782501 h 1967696"/>
              <a:gd name="connsiteX13" fmla="*/ 405114 w 2338086"/>
              <a:gd name="connsiteY13" fmla="*/ 1794076 h 1967696"/>
              <a:gd name="connsiteX14" fmla="*/ 439838 w 2338086"/>
              <a:gd name="connsiteY14" fmla="*/ 1817225 h 1967696"/>
              <a:gd name="connsiteX15" fmla="*/ 486137 w 2338086"/>
              <a:gd name="connsiteY15" fmla="*/ 1828800 h 1967696"/>
              <a:gd name="connsiteX16" fmla="*/ 532435 w 2338086"/>
              <a:gd name="connsiteY16" fmla="*/ 1851949 h 1967696"/>
              <a:gd name="connsiteX17" fmla="*/ 578734 w 2338086"/>
              <a:gd name="connsiteY17" fmla="*/ 1863524 h 1967696"/>
              <a:gd name="connsiteX18" fmla="*/ 625033 w 2338086"/>
              <a:gd name="connsiteY18" fmla="*/ 1886673 h 1967696"/>
              <a:gd name="connsiteX19" fmla="*/ 671332 w 2338086"/>
              <a:gd name="connsiteY19" fmla="*/ 1898248 h 1967696"/>
              <a:gd name="connsiteX20" fmla="*/ 810228 w 2338086"/>
              <a:gd name="connsiteY20" fmla="*/ 1921397 h 1967696"/>
              <a:gd name="connsiteX21" fmla="*/ 925975 w 2338086"/>
              <a:gd name="connsiteY21" fmla="*/ 1944546 h 1967696"/>
              <a:gd name="connsiteX22" fmla="*/ 983848 w 2338086"/>
              <a:gd name="connsiteY22" fmla="*/ 1956121 h 1967696"/>
              <a:gd name="connsiteX23" fmla="*/ 1030147 w 2338086"/>
              <a:gd name="connsiteY23" fmla="*/ 1967696 h 1967696"/>
              <a:gd name="connsiteX24" fmla="*/ 1296365 w 2338086"/>
              <a:gd name="connsiteY24" fmla="*/ 1956121 h 1967696"/>
              <a:gd name="connsiteX25" fmla="*/ 1412111 w 2338086"/>
              <a:gd name="connsiteY25" fmla="*/ 1909822 h 1967696"/>
              <a:gd name="connsiteX26" fmla="*/ 1446835 w 2338086"/>
              <a:gd name="connsiteY26" fmla="*/ 1898248 h 1967696"/>
              <a:gd name="connsiteX27" fmla="*/ 1469985 w 2338086"/>
              <a:gd name="connsiteY27" fmla="*/ 1875098 h 1967696"/>
              <a:gd name="connsiteX28" fmla="*/ 1504709 w 2338086"/>
              <a:gd name="connsiteY28" fmla="*/ 1851949 h 1967696"/>
              <a:gd name="connsiteX29" fmla="*/ 1527858 w 2338086"/>
              <a:gd name="connsiteY29" fmla="*/ 1817225 h 1967696"/>
              <a:gd name="connsiteX30" fmla="*/ 1562582 w 2338086"/>
              <a:gd name="connsiteY30" fmla="*/ 1794076 h 1967696"/>
              <a:gd name="connsiteX31" fmla="*/ 1585732 w 2338086"/>
              <a:gd name="connsiteY31" fmla="*/ 1770926 h 1967696"/>
              <a:gd name="connsiteX32" fmla="*/ 1655180 w 2338086"/>
              <a:gd name="connsiteY32" fmla="*/ 1713053 h 1967696"/>
              <a:gd name="connsiteX33" fmla="*/ 1666754 w 2338086"/>
              <a:gd name="connsiteY33" fmla="*/ 1678329 h 1967696"/>
              <a:gd name="connsiteX34" fmla="*/ 1794076 w 2338086"/>
              <a:gd name="connsiteY34" fmla="*/ 1597306 h 1967696"/>
              <a:gd name="connsiteX35" fmla="*/ 1851949 w 2338086"/>
              <a:gd name="connsiteY35" fmla="*/ 1527858 h 1967696"/>
              <a:gd name="connsiteX36" fmla="*/ 1875099 w 2338086"/>
              <a:gd name="connsiteY36" fmla="*/ 1504708 h 1967696"/>
              <a:gd name="connsiteX37" fmla="*/ 1886673 w 2338086"/>
              <a:gd name="connsiteY37" fmla="*/ 1469984 h 1967696"/>
              <a:gd name="connsiteX38" fmla="*/ 1944547 w 2338086"/>
              <a:gd name="connsiteY38" fmla="*/ 1388962 h 1967696"/>
              <a:gd name="connsiteX39" fmla="*/ 1956122 w 2338086"/>
              <a:gd name="connsiteY39" fmla="*/ 1354238 h 1967696"/>
              <a:gd name="connsiteX40" fmla="*/ 1932972 w 2338086"/>
              <a:gd name="connsiteY40" fmla="*/ 1041721 h 1967696"/>
              <a:gd name="connsiteX41" fmla="*/ 1944547 w 2338086"/>
              <a:gd name="connsiteY41" fmla="*/ 914400 h 1967696"/>
              <a:gd name="connsiteX42" fmla="*/ 2037144 w 2338086"/>
              <a:gd name="connsiteY42" fmla="*/ 810227 h 1967696"/>
              <a:gd name="connsiteX43" fmla="*/ 2106592 w 2338086"/>
              <a:gd name="connsiteY43" fmla="*/ 763929 h 1967696"/>
              <a:gd name="connsiteX44" fmla="*/ 2187615 w 2338086"/>
              <a:gd name="connsiteY44" fmla="*/ 729205 h 1967696"/>
              <a:gd name="connsiteX45" fmla="*/ 2280213 w 2338086"/>
              <a:gd name="connsiteY45" fmla="*/ 671331 h 1967696"/>
              <a:gd name="connsiteX46" fmla="*/ 2326511 w 2338086"/>
              <a:gd name="connsiteY46" fmla="*/ 590308 h 1967696"/>
              <a:gd name="connsiteX47" fmla="*/ 2338086 w 2338086"/>
              <a:gd name="connsiteY47" fmla="*/ 462987 h 1967696"/>
              <a:gd name="connsiteX48" fmla="*/ 2314937 w 2338086"/>
              <a:gd name="connsiteY48" fmla="*/ 381964 h 1967696"/>
              <a:gd name="connsiteX49" fmla="*/ 2303362 w 2338086"/>
              <a:gd name="connsiteY49" fmla="*/ 347240 h 1967696"/>
              <a:gd name="connsiteX50" fmla="*/ 2257063 w 2338086"/>
              <a:gd name="connsiteY50" fmla="*/ 277792 h 1967696"/>
              <a:gd name="connsiteX51" fmla="*/ 2233914 w 2338086"/>
              <a:gd name="connsiteY51" fmla="*/ 231493 h 1967696"/>
              <a:gd name="connsiteX52" fmla="*/ 2071868 w 2338086"/>
              <a:gd name="connsiteY52" fmla="*/ 138896 h 1967696"/>
              <a:gd name="connsiteX53" fmla="*/ 2013995 w 2338086"/>
              <a:gd name="connsiteY53" fmla="*/ 115746 h 1967696"/>
              <a:gd name="connsiteX54" fmla="*/ 1967696 w 2338086"/>
              <a:gd name="connsiteY54" fmla="*/ 92597 h 1967696"/>
              <a:gd name="connsiteX55" fmla="*/ 1851949 w 2338086"/>
              <a:gd name="connsiteY55" fmla="*/ 69448 h 1967696"/>
              <a:gd name="connsiteX56" fmla="*/ 1759352 w 2338086"/>
              <a:gd name="connsiteY56" fmla="*/ 46298 h 1967696"/>
              <a:gd name="connsiteX57" fmla="*/ 1643605 w 2338086"/>
              <a:gd name="connsiteY57" fmla="*/ 23149 h 1967696"/>
              <a:gd name="connsiteX58" fmla="*/ 1388962 w 2338086"/>
              <a:gd name="connsiteY58" fmla="*/ 0 h 1967696"/>
              <a:gd name="connsiteX59" fmla="*/ 729205 w 2338086"/>
              <a:gd name="connsiteY59" fmla="*/ 23149 h 1967696"/>
              <a:gd name="connsiteX60" fmla="*/ 590309 w 2338086"/>
              <a:gd name="connsiteY60" fmla="*/ 57873 h 1967696"/>
              <a:gd name="connsiteX61" fmla="*/ 520861 w 2338086"/>
              <a:gd name="connsiteY61" fmla="*/ 81022 h 1967696"/>
              <a:gd name="connsiteX62" fmla="*/ 486137 w 2338086"/>
              <a:gd name="connsiteY62" fmla="*/ 92597 h 1967696"/>
              <a:gd name="connsiteX63" fmla="*/ 439838 w 2338086"/>
              <a:gd name="connsiteY63" fmla="*/ 104172 h 1967696"/>
              <a:gd name="connsiteX64" fmla="*/ 162046 w 2338086"/>
              <a:gd name="connsiteY64" fmla="*/ 104172 h 1967696"/>
              <a:gd name="connsiteX65" fmla="*/ 115747 w 2338086"/>
              <a:gd name="connsiteY65" fmla="*/ 127321 h 1967696"/>
              <a:gd name="connsiteX66" fmla="*/ 92598 w 2338086"/>
              <a:gd name="connsiteY66" fmla="*/ 162045 h 1967696"/>
              <a:gd name="connsiteX67" fmla="*/ 69448 w 2338086"/>
              <a:gd name="connsiteY67" fmla="*/ 185194 h 1967696"/>
              <a:gd name="connsiteX68" fmla="*/ 57873 w 2338086"/>
              <a:gd name="connsiteY68" fmla="*/ 219919 h 1967696"/>
              <a:gd name="connsiteX69" fmla="*/ 46299 w 2338086"/>
              <a:gd name="connsiteY69" fmla="*/ 347240 h 1967696"/>
              <a:gd name="connsiteX70" fmla="*/ 46299 w 2338086"/>
              <a:gd name="connsiteY70" fmla="*/ 671331 h 1967696"/>
              <a:gd name="connsiteX71" fmla="*/ 46299 w 2338086"/>
              <a:gd name="connsiteY71" fmla="*/ 879676 h 1967696"/>
              <a:gd name="connsiteX72" fmla="*/ 57873 w 2338086"/>
              <a:gd name="connsiteY72" fmla="*/ 937549 h 1967696"/>
              <a:gd name="connsiteX73" fmla="*/ 81023 w 2338086"/>
              <a:gd name="connsiteY73" fmla="*/ 1030146 h 196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2338086" h="1967696">
                <a:moveTo>
                  <a:pt x="81023" y="1030146"/>
                </a:moveTo>
                <a:lnTo>
                  <a:pt x="81023" y="1030146"/>
                </a:lnTo>
                <a:cubicBezTo>
                  <a:pt x="61732" y="1061012"/>
                  <a:pt x="39427" y="1090188"/>
                  <a:pt x="23149" y="1122744"/>
                </a:cubicBezTo>
                <a:cubicBezTo>
                  <a:pt x="12236" y="1144569"/>
                  <a:pt x="0" y="1192192"/>
                  <a:pt x="0" y="1192192"/>
                </a:cubicBezTo>
                <a:cubicBezTo>
                  <a:pt x="6991" y="1283073"/>
                  <a:pt x="4093" y="1324310"/>
                  <a:pt x="23149" y="1400536"/>
                </a:cubicBezTo>
                <a:cubicBezTo>
                  <a:pt x="26108" y="1412373"/>
                  <a:pt x="28447" y="1424798"/>
                  <a:pt x="34724" y="1435260"/>
                </a:cubicBezTo>
                <a:cubicBezTo>
                  <a:pt x="40339" y="1444618"/>
                  <a:pt x="50157" y="1450693"/>
                  <a:pt x="57873" y="1458410"/>
                </a:cubicBezTo>
                <a:cubicBezTo>
                  <a:pt x="61731" y="1469985"/>
                  <a:pt x="62127" y="1483373"/>
                  <a:pt x="69448" y="1493134"/>
                </a:cubicBezTo>
                <a:cubicBezTo>
                  <a:pt x="85817" y="1514959"/>
                  <a:pt x="127322" y="1551007"/>
                  <a:pt x="127322" y="1551007"/>
                </a:cubicBezTo>
                <a:cubicBezTo>
                  <a:pt x="147422" y="1611310"/>
                  <a:pt x="125730" y="1563485"/>
                  <a:pt x="162046" y="1608881"/>
                </a:cubicBezTo>
                <a:cubicBezTo>
                  <a:pt x="186448" y="1639384"/>
                  <a:pt x="184568" y="1654762"/>
                  <a:pt x="219919" y="1678329"/>
                </a:cubicBezTo>
                <a:cubicBezTo>
                  <a:pt x="230071" y="1685097"/>
                  <a:pt x="243068" y="1686045"/>
                  <a:pt x="254643" y="1689903"/>
                </a:cubicBezTo>
                <a:cubicBezTo>
                  <a:pt x="286252" y="1721512"/>
                  <a:pt x="326586" y="1767899"/>
                  <a:pt x="370390" y="1782501"/>
                </a:cubicBezTo>
                <a:cubicBezTo>
                  <a:pt x="381965" y="1786359"/>
                  <a:pt x="394201" y="1788620"/>
                  <a:pt x="405114" y="1794076"/>
                </a:cubicBezTo>
                <a:cubicBezTo>
                  <a:pt x="417556" y="1800297"/>
                  <a:pt x="427052" y="1811745"/>
                  <a:pt x="439838" y="1817225"/>
                </a:cubicBezTo>
                <a:cubicBezTo>
                  <a:pt x="454460" y="1823491"/>
                  <a:pt x="471242" y="1823214"/>
                  <a:pt x="486137" y="1828800"/>
                </a:cubicBezTo>
                <a:cubicBezTo>
                  <a:pt x="502293" y="1834858"/>
                  <a:pt x="516279" y="1845891"/>
                  <a:pt x="532435" y="1851949"/>
                </a:cubicBezTo>
                <a:cubicBezTo>
                  <a:pt x="547330" y="1857535"/>
                  <a:pt x="563839" y="1857938"/>
                  <a:pt x="578734" y="1863524"/>
                </a:cubicBezTo>
                <a:cubicBezTo>
                  <a:pt x="594890" y="1869582"/>
                  <a:pt x="608877" y="1880615"/>
                  <a:pt x="625033" y="1886673"/>
                </a:cubicBezTo>
                <a:cubicBezTo>
                  <a:pt x="639928" y="1892259"/>
                  <a:pt x="655696" y="1895316"/>
                  <a:pt x="671332" y="1898248"/>
                </a:cubicBezTo>
                <a:cubicBezTo>
                  <a:pt x="717465" y="1906898"/>
                  <a:pt x="764202" y="1912192"/>
                  <a:pt x="810228" y="1921397"/>
                </a:cubicBezTo>
                <a:lnTo>
                  <a:pt x="925975" y="1944546"/>
                </a:lnTo>
                <a:cubicBezTo>
                  <a:pt x="945266" y="1948404"/>
                  <a:pt x="964762" y="1951349"/>
                  <a:pt x="983848" y="1956121"/>
                </a:cubicBezTo>
                <a:lnTo>
                  <a:pt x="1030147" y="1967696"/>
                </a:lnTo>
                <a:cubicBezTo>
                  <a:pt x="1118886" y="1963838"/>
                  <a:pt x="1208013" y="1965261"/>
                  <a:pt x="1296365" y="1956121"/>
                </a:cubicBezTo>
                <a:cubicBezTo>
                  <a:pt x="1342676" y="1951330"/>
                  <a:pt x="1371923" y="1927046"/>
                  <a:pt x="1412111" y="1909822"/>
                </a:cubicBezTo>
                <a:cubicBezTo>
                  <a:pt x="1423325" y="1905016"/>
                  <a:pt x="1435260" y="1902106"/>
                  <a:pt x="1446835" y="1898248"/>
                </a:cubicBezTo>
                <a:cubicBezTo>
                  <a:pt x="1454552" y="1890531"/>
                  <a:pt x="1461463" y="1881915"/>
                  <a:pt x="1469985" y="1875098"/>
                </a:cubicBezTo>
                <a:cubicBezTo>
                  <a:pt x="1480848" y="1866408"/>
                  <a:pt x="1494872" y="1861786"/>
                  <a:pt x="1504709" y="1851949"/>
                </a:cubicBezTo>
                <a:cubicBezTo>
                  <a:pt x="1514546" y="1842112"/>
                  <a:pt x="1518021" y="1827062"/>
                  <a:pt x="1527858" y="1817225"/>
                </a:cubicBezTo>
                <a:cubicBezTo>
                  <a:pt x="1537695" y="1807388"/>
                  <a:pt x="1551719" y="1802766"/>
                  <a:pt x="1562582" y="1794076"/>
                </a:cubicBezTo>
                <a:cubicBezTo>
                  <a:pt x="1571104" y="1787259"/>
                  <a:pt x="1577348" y="1777912"/>
                  <a:pt x="1585732" y="1770926"/>
                </a:cubicBezTo>
                <a:cubicBezTo>
                  <a:pt x="1668283" y="1702133"/>
                  <a:pt x="1602820" y="1765411"/>
                  <a:pt x="1655180" y="1713053"/>
                </a:cubicBezTo>
                <a:cubicBezTo>
                  <a:pt x="1659038" y="1701478"/>
                  <a:pt x="1657635" y="1686435"/>
                  <a:pt x="1666754" y="1678329"/>
                </a:cubicBezTo>
                <a:cubicBezTo>
                  <a:pt x="1785583" y="1572703"/>
                  <a:pt x="1723550" y="1656078"/>
                  <a:pt x="1794076" y="1597306"/>
                </a:cubicBezTo>
                <a:cubicBezTo>
                  <a:pt x="1843567" y="1556063"/>
                  <a:pt x="1815530" y="1573382"/>
                  <a:pt x="1851949" y="1527858"/>
                </a:cubicBezTo>
                <a:cubicBezTo>
                  <a:pt x="1858766" y="1519336"/>
                  <a:pt x="1867382" y="1512425"/>
                  <a:pt x="1875099" y="1504708"/>
                </a:cubicBezTo>
                <a:cubicBezTo>
                  <a:pt x="1878957" y="1493133"/>
                  <a:pt x="1881217" y="1480897"/>
                  <a:pt x="1886673" y="1469984"/>
                </a:cubicBezTo>
                <a:cubicBezTo>
                  <a:pt x="1895134" y="1453061"/>
                  <a:pt x="1936685" y="1399445"/>
                  <a:pt x="1944547" y="1388962"/>
                </a:cubicBezTo>
                <a:cubicBezTo>
                  <a:pt x="1948405" y="1377387"/>
                  <a:pt x="1956122" y="1366439"/>
                  <a:pt x="1956122" y="1354238"/>
                </a:cubicBezTo>
                <a:cubicBezTo>
                  <a:pt x="1956122" y="1121190"/>
                  <a:pt x="1963893" y="1165404"/>
                  <a:pt x="1932972" y="1041721"/>
                </a:cubicBezTo>
                <a:cubicBezTo>
                  <a:pt x="1936830" y="999281"/>
                  <a:pt x="1932522" y="955284"/>
                  <a:pt x="1944547" y="914400"/>
                </a:cubicBezTo>
                <a:cubicBezTo>
                  <a:pt x="1959605" y="863204"/>
                  <a:pt x="1997669" y="837859"/>
                  <a:pt x="2037144" y="810227"/>
                </a:cubicBezTo>
                <a:cubicBezTo>
                  <a:pt x="2059937" y="794272"/>
                  <a:pt x="2080198" y="772727"/>
                  <a:pt x="2106592" y="763929"/>
                </a:cubicBezTo>
                <a:cubicBezTo>
                  <a:pt x="2140348" y="752677"/>
                  <a:pt x="2154923" y="749638"/>
                  <a:pt x="2187615" y="729205"/>
                </a:cubicBezTo>
                <a:cubicBezTo>
                  <a:pt x="2307824" y="654074"/>
                  <a:pt x="2162898" y="729990"/>
                  <a:pt x="2280213" y="671331"/>
                </a:cubicBezTo>
                <a:cubicBezTo>
                  <a:pt x="2292637" y="652695"/>
                  <a:pt x="2322315" y="611288"/>
                  <a:pt x="2326511" y="590308"/>
                </a:cubicBezTo>
                <a:cubicBezTo>
                  <a:pt x="2334869" y="548520"/>
                  <a:pt x="2334228" y="505427"/>
                  <a:pt x="2338086" y="462987"/>
                </a:cubicBezTo>
                <a:cubicBezTo>
                  <a:pt x="2310333" y="379731"/>
                  <a:pt x="2344004" y="483701"/>
                  <a:pt x="2314937" y="381964"/>
                </a:cubicBezTo>
                <a:cubicBezTo>
                  <a:pt x="2311585" y="370233"/>
                  <a:pt x="2309287" y="357905"/>
                  <a:pt x="2303362" y="347240"/>
                </a:cubicBezTo>
                <a:cubicBezTo>
                  <a:pt x="2289850" y="322919"/>
                  <a:pt x="2269505" y="302677"/>
                  <a:pt x="2257063" y="277792"/>
                </a:cubicBezTo>
                <a:cubicBezTo>
                  <a:pt x="2249347" y="262359"/>
                  <a:pt x="2246115" y="243694"/>
                  <a:pt x="2233914" y="231493"/>
                </a:cubicBezTo>
                <a:cubicBezTo>
                  <a:pt x="2206071" y="203649"/>
                  <a:pt x="2102132" y="151002"/>
                  <a:pt x="2071868" y="138896"/>
                </a:cubicBezTo>
                <a:cubicBezTo>
                  <a:pt x="2052577" y="131179"/>
                  <a:pt x="2032981" y="124184"/>
                  <a:pt x="2013995" y="115746"/>
                </a:cubicBezTo>
                <a:cubicBezTo>
                  <a:pt x="1998228" y="108738"/>
                  <a:pt x="1983852" y="98655"/>
                  <a:pt x="1967696" y="92597"/>
                </a:cubicBezTo>
                <a:cubicBezTo>
                  <a:pt x="1935240" y="80426"/>
                  <a:pt x="1883077" y="76118"/>
                  <a:pt x="1851949" y="69448"/>
                </a:cubicBezTo>
                <a:cubicBezTo>
                  <a:pt x="1820840" y="62782"/>
                  <a:pt x="1790550" y="52537"/>
                  <a:pt x="1759352" y="46298"/>
                </a:cubicBezTo>
                <a:cubicBezTo>
                  <a:pt x="1720770" y="38582"/>
                  <a:pt x="1682790" y="26711"/>
                  <a:pt x="1643605" y="23149"/>
                </a:cubicBezTo>
                <a:lnTo>
                  <a:pt x="1388962" y="0"/>
                </a:lnTo>
                <a:cubicBezTo>
                  <a:pt x="1128705" y="52049"/>
                  <a:pt x="1408038" y="-260"/>
                  <a:pt x="729205" y="23149"/>
                </a:cubicBezTo>
                <a:cubicBezTo>
                  <a:pt x="677054" y="24947"/>
                  <a:pt x="639011" y="41639"/>
                  <a:pt x="590309" y="57873"/>
                </a:cubicBezTo>
                <a:lnTo>
                  <a:pt x="520861" y="81022"/>
                </a:lnTo>
                <a:cubicBezTo>
                  <a:pt x="509286" y="84880"/>
                  <a:pt x="497974" y="89638"/>
                  <a:pt x="486137" y="92597"/>
                </a:cubicBezTo>
                <a:lnTo>
                  <a:pt x="439838" y="104172"/>
                </a:lnTo>
                <a:cubicBezTo>
                  <a:pt x="339429" y="97478"/>
                  <a:pt x="258768" y="81852"/>
                  <a:pt x="162046" y="104172"/>
                </a:cubicBezTo>
                <a:cubicBezTo>
                  <a:pt x="145233" y="108052"/>
                  <a:pt x="131180" y="119605"/>
                  <a:pt x="115747" y="127321"/>
                </a:cubicBezTo>
                <a:cubicBezTo>
                  <a:pt x="108031" y="138896"/>
                  <a:pt x="101288" y="151182"/>
                  <a:pt x="92598" y="162045"/>
                </a:cubicBezTo>
                <a:cubicBezTo>
                  <a:pt x="85781" y="170566"/>
                  <a:pt x="75063" y="175836"/>
                  <a:pt x="69448" y="185194"/>
                </a:cubicBezTo>
                <a:cubicBezTo>
                  <a:pt x="63170" y="195656"/>
                  <a:pt x="61731" y="208344"/>
                  <a:pt x="57873" y="219919"/>
                </a:cubicBezTo>
                <a:cubicBezTo>
                  <a:pt x="54015" y="262359"/>
                  <a:pt x="48663" y="304690"/>
                  <a:pt x="46299" y="347240"/>
                </a:cubicBezTo>
                <a:cubicBezTo>
                  <a:pt x="30216" y="636737"/>
                  <a:pt x="4705" y="546553"/>
                  <a:pt x="46299" y="671331"/>
                </a:cubicBezTo>
                <a:cubicBezTo>
                  <a:pt x="26426" y="969412"/>
                  <a:pt x="17957" y="766305"/>
                  <a:pt x="46299" y="879676"/>
                </a:cubicBezTo>
                <a:cubicBezTo>
                  <a:pt x="51070" y="898762"/>
                  <a:pt x="54354" y="918193"/>
                  <a:pt x="57873" y="937549"/>
                </a:cubicBezTo>
                <a:cubicBezTo>
                  <a:pt x="62071" y="960639"/>
                  <a:pt x="77165" y="1014713"/>
                  <a:pt x="81023" y="1030146"/>
                </a:cubicBezTo>
                <a:close/>
              </a:path>
            </a:pathLst>
          </a:custGeom>
          <a:noFill/>
          <a:ln w="38100">
            <a:solidFill>
              <a:schemeClr val="accent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255DB6-6128-A826-5FCE-2BD247ACF96A}"/>
              </a:ext>
            </a:extLst>
          </p:cNvPr>
          <p:cNvGrpSpPr/>
          <p:nvPr/>
        </p:nvGrpSpPr>
        <p:grpSpPr>
          <a:xfrm>
            <a:off x="7310301" y="5082494"/>
            <a:ext cx="2955851" cy="435944"/>
            <a:chOff x="7310301" y="5082494"/>
            <a:chExt cx="2955851" cy="435944"/>
          </a:xfrm>
        </p:grpSpPr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85033EDB-AE92-A8E0-5997-3BBD7B9A90B8}"/>
                </a:ext>
              </a:extLst>
            </p:cNvPr>
            <p:cNvSpPr/>
            <p:nvPr/>
          </p:nvSpPr>
          <p:spPr>
            <a:xfrm>
              <a:off x="7310301" y="5082494"/>
              <a:ext cx="2955851" cy="435944"/>
            </a:xfrm>
            <a:custGeom>
              <a:avLst/>
              <a:gdLst>
                <a:gd name="csX0" fmla="*/ 0 w 2955851"/>
                <a:gd name="csY0" fmla="*/ 425312 h 435944"/>
                <a:gd name="csX1" fmla="*/ 1594883 w 2955851"/>
                <a:gd name="csY1" fmla="*/ 10 h 435944"/>
                <a:gd name="csX2" fmla="*/ 2955851 w 2955851"/>
                <a:gd name="csY2" fmla="*/ 435944 h 435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955851" h="435944">
                  <a:moveTo>
                    <a:pt x="0" y="425312"/>
                  </a:moveTo>
                  <a:cubicBezTo>
                    <a:pt x="551120" y="211775"/>
                    <a:pt x="1102241" y="-1762"/>
                    <a:pt x="1594883" y="10"/>
                  </a:cubicBezTo>
                  <a:cubicBezTo>
                    <a:pt x="2087525" y="1782"/>
                    <a:pt x="2512828" y="281772"/>
                    <a:pt x="2955851" y="435944"/>
                  </a:cubicBezTo>
                </a:path>
              </a:pathLst>
            </a:custGeom>
            <a:noFill/>
            <a:ln w="38100"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B23C1DA8-35AD-0934-798E-B72FDF822E76}"/>
                    </a:ext>
                  </a:extLst>
                </p:cNvPr>
                <p:cNvSpPr txBox="1"/>
                <p:nvPr/>
              </p:nvSpPr>
              <p:spPr>
                <a:xfrm>
                  <a:off x="8625025" y="5148911"/>
                  <a:ext cx="50519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B23C1DA8-35AD-0934-798E-B72FDF822E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025" y="5148911"/>
                  <a:ext cx="50519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1A3510-B980-1A40-9536-880A72D92FC0}"/>
              </a:ext>
            </a:extLst>
          </p:cNvPr>
          <p:cNvGrpSpPr/>
          <p:nvPr/>
        </p:nvGrpSpPr>
        <p:grpSpPr>
          <a:xfrm>
            <a:off x="7292263" y="6109085"/>
            <a:ext cx="2955851" cy="492764"/>
            <a:chOff x="7292263" y="6109085"/>
            <a:chExt cx="2955851" cy="492764"/>
          </a:xfrm>
        </p:grpSpPr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98668AB9-B90E-21B5-0A64-67A65583E0D1}"/>
                </a:ext>
              </a:extLst>
            </p:cNvPr>
            <p:cNvSpPr/>
            <p:nvPr/>
          </p:nvSpPr>
          <p:spPr>
            <a:xfrm flipV="1">
              <a:off x="7292263" y="6165905"/>
              <a:ext cx="2955851" cy="435944"/>
            </a:xfrm>
            <a:custGeom>
              <a:avLst/>
              <a:gdLst>
                <a:gd name="csX0" fmla="*/ 0 w 2955851"/>
                <a:gd name="csY0" fmla="*/ 425312 h 435944"/>
                <a:gd name="csX1" fmla="*/ 1594883 w 2955851"/>
                <a:gd name="csY1" fmla="*/ 10 h 435944"/>
                <a:gd name="csX2" fmla="*/ 2955851 w 2955851"/>
                <a:gd name="csY2" fmla="*/ 435944 h 435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955851" h="435944">
                  <a:moveTo>
                    <a:pt x="0" y="425312"/>
                  </a:moveTo>
                  <a:cubicBezTo>
                    <a:pt x="551120" y="211775"/>
                    <a:pt x="1102241" y="-1762"/>
                    <a:pt x="1594883" y="10"/>
                  </a:cubicBezTo>
                  <a:cubicBezTo>
                    <a:pt x="2087525" y="1782"/>
                    <a:pt x="2512828" y="281772"/>
                    <a:pt x="2955851" y="435944"/>
                  </a:cubicBezTo>
                </a:path>
              </a:pathLst>
            </a:custGeom>
            <a:noFill/>
            <a:ln w="38100">
              <a:headEnd type="arrow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DEAAA3F-6C4E-2759-6B09-C72A5082A51D}"/>
                    </a:ext>
                  </a:extLst>
                </p:cNvPr>
                <p:cNvSpPr txBox="1"/>
                <p:nvPr/>
              </p:nvSpPr>
              <p:spPr>
                <a:xfrm>
                  <a:off x="8618736" y="6109085"/>
                  <a:ext cx="505198" cy="3755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DEAAA3F-6C4E-2759-6B09-C72A5082A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8736" y="6109085"/>
                  <a:ext cx="505198" cy="375552"/>
                </a:xfrm>
                <a:prstGeom prst="rect">
                  <a:avLst/>
                </a:prstGeom>
                <a:blipFill>
                  <a:blip r:embed="rId10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068E3E4-4D1E-CC58-E144-83EF9594B189}"/>
              </a:ext>
            </a:extLst>
          </p:cNvPr>
          <p:cNvGrpSpPr/>
          <p:nvPr/>
        </p:nvGrpSpPr>
        <p:grpSpPr>
          <a:xfrm>
            <a:off x="803367" y="3054370"/>
            <a:ext cx="10585265" cy="1585154"/>
            <a:chOff x="803367" y="3109571"/>
            <a:chExt cx="10585265" cy="1585154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CA86224-F69E-5C58-E3FD-871220FB0F13}"/>
                </a:ext>
              </a:extLst>
            </p:cNvPr>
            <p:cNvSpPr/>
            <p:nvPr/>
          </p:nvSpPr>
          <p:spPr>
            <a:xfrm>
              <a:off x="3353776" y="3169773"/>
              <a:ext cx="1787852" cy="15249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AE776BC-3A01-8325-86E8-28ADB8077163}"/>
                </a:ext>
              </a:extLst>
            </p:cNvPr>
            <p:cNvSpPr/>
            <p:nvPr/>
          </p:nvSpPr>
          <p:spPr>
            <a:xfrm>
              <a:off x="4218307" y="3368034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12013FD-3F49-AC42-F243-F0714F1949FF}"/>
                </a:ext>
              </a:extLst>
            </p:cNvPr>
            <p:cNvSpPr/>
            <p:nvPr/>
          </p:nvSpPr>
          <p:spPr>
            <a:xfrm>
              <a:off x="3663333" y="3557271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D520DE5-A039-C31A-D084-64EE917F6E6F}"/>
                </a:ext>
              </a:extLst>
            </p:cNvPr>
            <p:cNvSpPr/>
            <p:nvPr/>
          </p:nvSpPr>
          <p:spPr>
            <a:xfrm>
              <a:off x="4516765" y="3546901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30FD3740-D6C4-13AB-64B0-895D5AA58ADD}"/>
                </a:ext>
              </a:extLst>
            </p:cNvPr>
            <p:cNvSpPr/>
            <p:nvPr/>
          </p:nvSpPr>
          <p:spPr>
            <a:xfrm>
              <a:off x="3881393" y="4221277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1B4FFF6-F56A-6D52-BD1E-93AF6737746B}"/>
                </a:ext>
              </a:extLst>
            </p:cNvPr>
            <p:cNvSpPr/>
            <p:nvPr/>
          </p:nvSpPr>
          <p:spPr>
            <a:xfrm>
              <a:off x="3556267" y="3983695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7E49082-ED28-0168-BEBE-4420E5188DBB}"/>
                </a:ext>
              </a:extLst>
            </p:cNvPr>
            <p:cNvSpPr/>
            <p:nvPr/>
          </p:nvSpPr>
          <p:spPr>
            <a:xfrm>
              <a:off x="4067923" y="3829446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18A13EDC-4F39-0412-64AA-93702F074EE2}"/>
                </a:ext>
              </a:extLst>
            </p:cNvPr>
            <p:cNvSpPr/>
            <p:nvPr/>
          </p:nvSpPr>
          <p:spPr>
            <a:xfrm>
              <a:off x="4440642" y="4334327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9F9047E-F4DE-1CCE-6422-5B8788CC7787}"/>
                </a:ext>
              </a:extLst>
            </p:cNvPr>
            <p:cNvSpPr/>
            <p:nvPr/>
          </p:nvSpPr>
          <p:spPr>
            <a:xfrm>
              <a:off x="4511511" y="4047730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56A5743-F82E-BBF8-3218-5D99AE90393F}"/>
                </a:ext>
              </a:extLst>
            </p:cNvPr>
            <p:cNvSpPr/>
            <p:nvPr/>
          </p:nvSpPr>
          <p:spPr>
            <a:xfrm>
              <a:off x="4560148" y="3216359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F6207A4-513F-18ED-2B33-26ADBF5A964E}"/>
                </a:ext>
              </a:extLst>
            </p:cNvPr>
            <p:cNvSpPr/>
            <p:nvPr/>
          </p:nvSpPr>
          <p:spPr>
            <a:xfrm>
              <a:off x="3921681" y="3462237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D493BB79-4F04-A86D-84FC-146FD77216D1}"/>
                </a:ext>
              </a:extLst>
            </p:cNvPr>
            <p:cNvSpPr/>
            <p:nvPr/>
          </p:nvSpPr>
          <p:spPr>
            <a:xfrm>
              <a:off x="4777498" y="3487657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0ADF90CE-243A-5D2C-6D18-A6049A8A34ED}"/>
                </a:ext>
              </a:extLst>
            </p:cNvPr>
            <p:cNvSpPr/>
            <p:nvPr/>
          </p:nvSpPr>
          <p:spPr>
            <a:xfrm>
              <a:off x="4135429" y="4087868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3DE769C4-1406-3456-7546-EB80DF7ADB2B}"/>
                </a:ext>
              </a:extLst>
            </p:cNvPr>
            <p:cNvSpPr/>
            <p:nvPr/>
          </p:nvSpPr>
          <p:spPr>
            <a:xfrm>
              <a:off x="3812292" y="3817750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FBCF3A9E-A821-1714-6FB1-B093EF95883B}"/>
                </a:ext>
              </a:extLst>
            </p:cNvPr>
            <p:cNvSpPr/>
            <p:nvPr/>
          </p:nvSpPr>
          <p:spPr>
            <a:xfrm>
              <a:off x="4296792" y="3757957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95AD916-6750-CB8E-66F5-F42877EE297C}"/>
                </a:ext>
              </a:extLst>
            </p:cNvPr>
            <p:cNvSpPr/>
            <p:nvPr/>
          </p:nvSpPr>
          <p:spPr>
            <a:xfrm>
              <a:off x="4801866" y="4204595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D33256D-93D7-5A3F-811B-B47A5D18AA39}"/>
                </a:ext>
              </a:extLst>
            </p:cNvPr>
            <p:cNvSpPr/>
            <p:nvPr/>
          </p:nvSpPr>
          <p:spPr>
            <a:xfrm>
              <a:off x="4731536" y="3866677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34615F0B-6270-2880-641D-F1308837954A}"/>
                </a:ext>
              </a:extLst>
            </p:cNvPr>
            <p:cNvSpPr/>
            <p:nvPr/>
          </p:nvSpPr>
          <p:spPr>
            <a:xfrm>
              <a:off x="3987146" y="3208500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C013D45-EA82-33C7-8D52-6E951F5766FB}"/>
                </a:ext>
              </a:extLst>
            </p:cNvPr>
            <p:cNvSpPr/>
            <p:nvPr/>
          </p:nvSpPr>
          <p:spPr>
            <a:xfrm>
              <a:off x="4185823" y="4417053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1B2980EE-9BD9-7400-509E-446518AEB568}"/>
                </a:ext>
              </a:extLst>
            </p:cNvPr>
            <p:cNvSpPr/>
            <p:nvPr/>
          </p:nvSpPr>
          <p:spPr>
            <a:xfrm>
              <a:off x="3844505" y="4457332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321F074-9AB8-3577-6C16-DE407D1FD1B0}"/>
                </a:ext>
              </a:extLst>
            </p:cNvPr>
            <p:cNvSpPr/>
            <p:nvPr/>
          </p:nvSpPr>
          <p:spPr>
            <a:xfrm>
              <a:off x="3651299" y="4227687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94971058-A805-4106-FD8B-DD271449046A}"/>
                </a:ext>
              </a:extLst>
            </p:cNvPr>
            <p:cNvSpPr/>
            <p:nvPr/>
          </p:nvSpPr>
          <p:spPr>
            <a:xfrm>
              <a:off x="4720348" y="4429359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4A9DDA7-1BD4-B5C3-4EEA-36ABF0CFD8C6}"/>
                </a:ext>
              </a:extLst>
            </p:cNvPr>
            <p:cNvSpPr/>
            <p:nvPr/>
          </p:nvSpPr>
          <p:spPr>
            <a:xfrm>
              <a:off x="3430823" y="4368720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71234B00-C49A-921B-B358-EAFE23B0E4AD}"/>
                </a:ext>
              </a:extLst>
            </p:cNvPr>
            <p:cNvSpPr/>
            <p:nvPr/>
          </p:nvSpPr>
          <p:spPr>
            <a:xfrm>
              <a:off x="3642078" y="3253384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D958347-AE50-B078-DC4B-E2F0473B43BB}"/>
                </a:ext>
              </a:extLst>
            </p:cNvPr>
            <p:cNvSpPr/>
            <p:nvPr/>
          </p:nvSpPr>
          <p:spPr>
            <a:xfrm>
              <a:off x="3418656" y="3719702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B866BB9E-BDDE-5711-3FF4-F33C9D06C305}"/>
                </a:ext>
              </a:extLst>
            </p:cNvPr>
            <p:cNvSpPr/>
            <p:nvPr/>
          </p:nvSpPr>
          <p:spPr>
            <a:xfrm>
              <a:off x="3421633" y="3396378"/>
              <a:ext cx="190067" cy="190067"/>
            </a:xfrm>
            <a:prstGeom prst="ellipse">
              <a:avLst/>
            </a:prstGeom>
            <a:pattFill prst="dk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1CBB7C8-5772-F1C8-6F03-39583FA55D0E}"/>
                </a:ext>
              </a:extLst>
            </p:cNvPr>
            <p:cNvSpPr/>
            <p:nvPr/>
          </p:nvSpPr>
          <p:spPr>
            <a:xfrm>
              <a:off x="7089772" y="3169773"/>
              <a:ext cx="1787852" cy="15249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39EFA3B1-734F-3218-2E65-42BCC2C1FCE4}"/>
                </a:ext>
              </a:extLst>
            </p:cNvPr>
            <p:cNvSpPr/>
            <p:nvPr/>
          </p:nvSpPr>
          <p:spPr>
            <a:xfrm>
              <a:off x="7954303" y="3368035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99C03D4-91AF-7D2E-ED19-C78CD3EEEEAD}"/>
                </a:ext>
              </a:extLst>
            </p:cNvPr>
            <p:cNvSpPr/>
            <p:nvPr/>
          </p:nvSpPr>
          <p:spPr>
            <a:xfrm>
              <a:off x="7399328" y="3557271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46CCB579-7E78-6868-5940-625D448D3D1C}"/>
                </a:ext>
              </a:extLst>
            </p:cNvPr>
            <p:cNvSpPr/>
            <p:nvPr/>
          </p:nvSpPr>
          <p:spPr>
            <a:xfrm>
              <a:off x="8252761" y="3546900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E0A45F2-3F8A-971A-AD0D-EFFE0101C3B1}"/>
                </a:ext>
              </a:extLst>
            </p:cNvPr>
            <p:cNvSpPr/>
            <p:nvPr/>
          </p:nvSpPr>
          <p:spPr>
            <a:xfrm>
              <a:off x="7617389" y="4221277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A49234B0-A510-3066-9BC3-915E94B9A720}"/>
                </a:ext>
              </a:extLst>
            </p:cNvPr>
            <p:cNvSpPr/>
            <p:nvPr/>
          </p:nvSpPr>
          <p:spPr>
            <a:xfrm>
              <a:off x="7292263" y="3983694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52C2B32-D96B-064E-AEA8-57B323D3BDB1}"/>
                </a:ext>
              </a:extLst>
            </p:cNvPr>
            <p:cNvSpPr/>
            <p:nvPr/>
          </p:nvSpPr>
          <p:spPr>
            <a:xfrm>
              <a:off x="8025015" y="3897800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0E07E42F-9C98-FDE2-1EF3-997AA6E81555}"/>
                </a:ext>
              </a:extLst>
            </p:cNvPr>
            <p:cNvSpPr/>
            <p:nvPr/>
          </p:nvSpPr>
          <p:spPr>
            <a:xfrm>
              <a:off x="8176639" y="4334326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9081AC57-C45F-604C-BC5A-DE3195DC84A8}"/>
                </a:ext>
              </a:extLst>
            </p:cNvPr>
            <p:cNvSpPr/>
            <p:nvPr/>
          </p:nvSpPr>
          <p:spPr>
            <a:xfrm>
              <a:off x="8247507" y="4047730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00A0A09E-4460-27B8-E71C-005129A614F1}"/>
                </a:ext>
              </a:extLst>
            </p:cNvPr>
            <p:cNvSpPr/>
            <p:nvPr/>
          </p:nvSpPr>
          <p:spPr>
            <a:xfrm>
              <a:off x="8296145" y="3216358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63ED97FF-E593-1D44-CD90-E5BDE3E57424}"/>
                </a:ext>
              </a:extLst>
            </p:cNvPr>
            <p:cNvSpPr/>
            <p:nvPr/>
          </p:nvSpPr>
          <p:spPr>
            <a:xfrm>
              <a:off x="7657678" y="3462237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05B71F2-45E3-37D8-CE02-B26AEA7E49A7}"/>
                </a:ext>
              </a:extLst>
            </p:cNvPr>
            <p:cNvSpPr/>
            <p:nvPr/>
          </p:nvSpPr>
          <p:spPr>
            <a:xfrm>
              <a:off x="8513495" y="3487656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625559CD-E019-EEC9-D9FD-F6C47EAB5708}"/>
                </a:ext>
              </a:extLst>
            </p:cNvPr>
            <p:cNvSpPr/>
            <p:nvPr/>
          </p:nvSpPr>
          <p:spPr>
            <a:xfrm>
              <a:off x="7871426" y="4087867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4F465E92-A386-3797-EF18-FB0EDB510413}"/>
                </a:ext>
              </a:extLst>
            </p:cNvPr>
            <p:cNvSpPr/>
            <p:nvPr/>
          </p:nvSpPr>
          <p:spPr>
            <a:xfrm>
              <a:off x="7548289" y="3817749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58FAA00F-0B22-06D8-6C0C-A1C9222E9411}"/>
                </a:ext>
              </a:extLst>
            </p:cNvPr>
            <p:cNvSpPr/>
            <p:nvPr/>
          </p:nvSpPr>
          <p:spPr>
            <a:xfrm>
              <a:off x="7859269" y="3698930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6F3EC259-6F3E-34EA-F06F-B77E725E7FD4}"/>
                </a:ext>
              </a:extLst>
            </p:cNvPr>
            <p:cNvSpPr/>
            <p:nvPr/>
          </p:nvSpPr>
          <p:spPr>
            <a:xfrm>
              <a:off x="8537862" y="4204593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D79B6BBE-3DB4-23E5-200F-07312F67588B}"/>
                </a:ext>
              </a:extLst>
            </p:cNvPr>
            <p:cNvSpPr/>
            <p:nvPr/>
          </p:nvSpPr>
          <p:spPr>
            <a:xfrm>
              <a:off x="8467532" y="3866677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8C5D1107-2340-9755-8580-8E5F4F8164EC}"/>
                </a:ext>
              </a:extLst>
            </p:cNvPr>
            <p:cNvSpPr/>
            <p:nvPr/>
          </p:nvSpPr>
          <p:spPr>
            <a:xfrm>
              <a:off x="7723142" y="3208500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9F75C069-03A7-9A59-C0B0-30BA4D13DDF2}"/>
                </a:ext>
              </a:extLst>
            </p:cNvPr>
            <p:cNvSpPr/>
            <p:nvPr/>
          </p:nvSpPr>
          <p:spPr>
            <a:xfrm>
              <a:off x="7921819" y="4417053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AE69C1C-1B5C-4BDF-14AD-59FB9A416833}"/>
                </a:ext>
              </a:extLst>
            </p:cNvPr>
            <p:cNvSpPr/>
            <p:nvPr/>
          </p:nvSpPr>
          <p:spPr>
            <a:xfrm>
              <a:off x="7580500" y="4457330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A3618AF1-B20E-55B3-0889-BB467CAC0325}"/>
                </a:ext>
              </a:extLst>
            </p:cNvPr>
            <p:cNvSpPr/>
            <p:nvPr/>
          </p:nvSpPr>
          <p:spPr>
            <a:xfrm>
              <a:off x="7387295" y="4227688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768F5AF2-DA1D-64DE-A9E1-C69448278C57}"/>
                </a:ext>
              </a:extLst>
            </p:cNvPr>
            <p:cNvSpPr/>
            <p:nvPr/>
          </p:nvSpPr>
          <p:spPr>
            <a:xfrm>
              <a:off x="8456344" y="4429359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CD186636-67FD-80D1-C1BB-A891457BDE17}"/>
                </a:ext>
              </a:extLst>
            </p:cNvPr>
            <p:cNvSpPr/>
            <p:nvPr/>
          </p:nvSpPr>
          <p:spPr>
            <a:xfrm>
              <a:off x="7166818" y="4368721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5C0A2D23-6ACF-A199-8A50-5D0AE0F08B9F}"/>
                </a:ext>
              </a:extLst>
            </p:cNvPr>
            <p:cNvSpPr/>
            <p:nvPr/>
          </p:nvSpPr>
          <p:spPr>
            <a:xfrm>
              <a:off x="7378074" y="3253384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F1EF3C4A-6A6A-0FAB-0C35-40F258509104}"/>
                </a:ext>
              </a:extLst>
            </p:cNvPr>
            <p:cNvSpPr/>
            <p:nvPr/>
          </p:nvSpPr>
          <p:spPr>
            <a:xfrm>
              <a:off x="7154651" y="3719702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2994330-89A3-FACF-2B26-B911A34E3E38}"/>
                </a:ext>
              </a:extLst>
            </p:cNvPr>
            <p:cNvSpPr/>
            <p:nvPr/>
          </p:nvSpPr>
          <p:spPr>
            <a:xfrm>
              <a:off x="7157628" y="3396378"/>
              <a:ext cx="190067" cy="1900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0FD1E65F-0752-4386-8E2A-5BCECD8985D5}"/>
                </a:ext>
              </a:extLst>
            </p:cNvPr>
            <p:cNvCxnSpPr>
              <a:stCxn id="80" idx="3"/>
              <a:endCxn id="114" idx="1"/>
            </p:cNvCxnSpPr>
            <p:nvPr/>
          </p:nvCxnSpPr>
          <p:spPr>
            <a:xfrm>
              <a:off x="5141629" y="3932249"/>
              <a:ext cx="194814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77166F34-4564-4467-B648-0271FDECA820}"/>
                    </a:ext>
                  </a:extLst>
                </p:cNvPr>
                <p:cNvSpPr txBox="1"/>
                <p:nvPr/>
              </p:nvSpPr>
              <p:spPr>
                <a:xfrm>
                  <a:off x="803367" y="3554868"/>
                  <a:ext cx="2416752" cy="8222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77166F34-4564-4467-B648-0271FDECA8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367" y="3554868"/>
                  <a:ext cx="2416752" cy="822276"/>
                </a:xfrm>
                <a:prstGeom prst="rect">
                  <a:avLst/>
                </a:prstGeom>
                <a:blipFill>
                  <a:blip r:embed="rId11"/>
                  <a:stretch>
                    <a:fillRect l="-1571" t="-1515" r="-524" b="-121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6803BAA-6985-9AD1-8540-603195778AC3}"/>
                </a:ext>
              </a:extLst>
            </p:cNvPr>
            <p:cNvSpPr txBox="1"/>
            <p:nvPr/>
          </p:nvSpPr>
          <p:spPr>
            <a:xfrm>
              <a:off x="1481930" y="3109571"/>
              <a:ext cx="907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u="sng" dirty="0">
                  <a:solidFill>
                    <a:schemeClr val="accent1">
                      <a:lumMod val="75000"/>
                    </a:schemeClr>
                  </a:solidFill>
                </a:rPr>
                <a:t>State 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4755DA8E-6A8B-3017-BC8F-5E687E4E4C30}"/>
                    </a:ext>
                  </a:extLst>
                </p:cNvPr>
                <p:cNvSpPr txBox="1"/>
                <p:nvPr/>
              </p:nvSpPr>
              <p:spPr>
                <a:xfrm>
                  <a:off x="8965982" y="3558783"/>
                  <a:ext cx="2422650" cy="8199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4755DA8E-6A8B-3017-BC8F-5E687E4E4C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5982" y="3558783"/>
                  <a:ext cx="2422650" cy="819967"/>
                </a:xfrm>
                <a:prstGeom prst="rect">
                  <a:avLst/>
                </a:prstGeom>
                <a:blipFill>
                  <a:blip r:embed="rId12"/>
                  <a:stretch>
                    <a:fillRect l="-1571" t="-3077" r="-1047" b="-123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A4BD5308-F077-2401-3CA2-B108AB6B0BEA}"/>
                </a:ext>
              </a:extLst>
            </p:cNvPr>
            <p:cNvSpPr txBox="1"/>
            <p:nvPr/>
          </p:nvSpPr>
          <p:spPr>
            <a:xfrm>
              <a:off x="9723368" y="3109571"/>
              <a:ext cx="907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u="sng" dirty="0">
                  <a:solidFill>
                    <a:schemeClr val="accent2">
                      <a:lumMod val="75000"/>
                    </a:schemeClr>
                  </a:solidFill>
                </a:rPr>
                <a:t>State 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AC877135-A4B2-0C31-E3EF-A588B4222389}"/>
                    </a:ext>
                  </a:extLst>
                </p:cNvPr>
                <p:cNvSpPr txBox="1"/>
                <p:nvPr/>
              </p:nvSpPr>
              <p:spPr>
                <a:xfrm>
                  <a:off x="5571048" y="3550455"/>
                  <a:ext cx="104990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AC877135-A4B2-0C31-E3EF-A588B4222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1048" y="3550455"/>
                  <a:ext cx="1049903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4762" r="-7143" b="-3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C659786-593E-5E2E-7003-AC6D78D468D3}"/>
                    </a:ext>
                  </a:extLst>
                </p:cNvPr>
                <p:cNvSpPr txBox="1"/>
                <p:nvPr/>
              </p:nvSpPr>
              <p:spPr>
                <a:xfrm>
                  <a:off x="5199380" y="3950989"/>
                  <a:ext cx="178785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C659786-593E-5E2E-7003-AC6D78D468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9380" y="3950989"/>
                  <a:ext cx="1787852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C71F4D5-115A-34AD-6201-5AF2F832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4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nimBg="1"/>
      <p:bldP spid="158" grpId="0" animBg="1"/>
      <p:bldP spid="159" grpId="0" animBg="1"/>
      <p:bldP spid="160" grpId="0" animBg="1"/>
      <p:bldP spid="16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D115BF9F-E582-F351-D50F-D7B13AC74544}"/>
              </a:ext>
            </a:extLst>
          </p:cNvPr>
          <p:cNvSpPr txBox="1">
            <a:spLocks/>
          </p:cNvSpPr>
          <p:nvPr/>
        </p:nvSpPr>
        <p:spPr>
          <a:xfrm>
            <a:off x="341586" y="182944"/>
            <a:ext cx="8450317" cy="613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Targeted Free Energy Estimation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993CE06-6726-FD01-85A9-1E40359A01B4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2CA782E-029B-2475-A47D-FA6121021ABB}"/>
              </a:ext>
            </a:extLst>
          </p:cNvPr>
          <p:cNvGrpSpPr/>
          <p:nvPr/>
        </p:nvGrpSpPr>
        <p:grpSpPr>
          <a:xfrm>
            <a:off x="1222856" y="3710112"/>
            <a:ext cx="4195082" cy="1014361"/>
            <a:chOff x="167775" y="4199989"/>
            <a:chExt cx="6146156" cy="10143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25E4236-5B1F-D06C-A6DE-E7A92AA40202}"/>
                    </a:ext>
                  </a:extLst>
                </p:cNvPr>
                <p:cNvSpPr txBox="1"/>
                <p:nvPr/>
              </p:nvSpPr>
              <p:spPr>
                <a:xfrm>
                  <a:off x="167775" y="4570263"/>
                  <a:ext cx="6146156" cy="6440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0→1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acc>
                                              <m:accPr>
                                                <m:chr m:val="̃"/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𝑊</m:t>
                                                </m:r>
                                              </m:e>
                                            </m:acc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𝐹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ℙ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b>
                            </m:sSub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25E4236-5B1F-D06C-A6DE-E7A92AA40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775" y="4570263"/>
                  <a:ext cx="6146156" cy="6440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B68B01B-2665-A4D8-13DE-8850183E3793}"/>
                </a:ext>
              </a:extLst>
            </p:cNvPr>
            <p:cNvSpPr txBox="1"/>
            <p:nvPr/>
          </p:nvSpPr>
          <p:spPr>
            <a:xfrm>
              <a:off x="1614552" y="4199989"/>
              <a:ext cx="3252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Targeted FEP (TFEP)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406B1E54-7EE5-2AA3-A820-EC4C9D2F9152}"/>
                  </a:ext>
                </a:extLst>
              </p:cNvPr>
              <p:cNvSpPr/>
              <p:nvPr/>
            </p:nvSpPr>
            <p:spPr>
              <a:xfrm>
                <a:off x="251295" y="6185424"/>
                <a:ext cx="11689411" cy="387851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is a “ (near) perfect” mapping between ensembles, we refer to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as a </a:t>
                </a:r>
                <a:r>
                  <a:rPr lang="en-US" b="1" i="1" u="sng" dirty="0">
                    <a:solidFill>
                      <a:schemeClr val="tx1"/>
                    </a:solidFill>
                  </a:rPr>
                  <a:t>Boltzmann Generator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406B1E54-7EE5-2AA3-A820-EC4C9D2F91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95" y="6185424"/>
                <a:ext cx="11689411" cy="387851"/>
              </a:xfrm>
              <a:prstGeom prst="roundRect">
                <a:avLst/>
              </a:prstGeom>
              <a:blipFill>
                <a:blip r:embed="rId4"/>
                <a:stretch>
                  <a:fillRect t="-3030"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6CD769A9-6A7A-BDD4-5DF6-AA2AE3FB005F}"/>
                  </a:ext>
                </a:extLst>
              </p:cNvPr>
              <p:cNvSpPr/>
              <p:nvPr/>
            </p:nvSpPr>
            <p:spPr>
              <a:xfrm>
                <a:off x="410341" y="2672113"/>
                <a:ext cx="11530364" cy="804060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u="sng" dirty="0">
                    <a:solidFill>
                      <a:schemeClr val="tx1"/>
                    </a:solidFill>
                  </a:rPr>
                  <a:t>(“Mapped”) Crooks Fluctuation Theorem: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acc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̃"/>
                                <m:ctrlP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</m:d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This implies that the forward and reverse mapped work distributions intersect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6CD769A9-6A7A-BDD4-5DF6-AA2AE3FB00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41" y="2672113"/>
                <a:ext cx="11530364" cy="804060"/>
              </a:xfrm>
              <a:prstGeom prst="roundRect">
                <a:avLst/>
              </a:prstGeom>
              <a:blipFill>
                <a:blip r:embed="rId5"/>
                <a:stretch>
                  <a:fillRect b="-1212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Freeform 49">
            <a:extLst>
              <a:ext uri="{FF2B5EF4-FFF2-40B4-BE49-F238E27FC236}">
                <a16:creationId xmlns:a16="http://schemas.microsoft.com/office/drawing/2014/main" id="{0AB94235-F252-B326-AB12-45D848743B39}"/>
              </a:ext>
            </a:extLst>
          </p:cNvPr>
          <p:cNvSpPr/>
          <p:nvPr/>
        </p:nvSpPr>
        <p:spPr>
          <a:xfrm>
            <a:off x="7201571" y="4972507"/>
            <a:ext cx="3229964" cy="788915"/>
          </a:xfrm>
          <a:custGeom>
            <a:avLst/>
            <a:gdLst>
              <a:gd name="csX0" fmla="*/ 0 w 2583711"/>
              <a:gd name="csY0" fmla="*/ 841112 h 841112"/>
              <a:gd name="csX1" fmla="*/ 467832 w 2583711"/>
              <a:gd name="csY1" fmla="*/ 681624 h 841112"/>
              <a:gd name="csX2" fmla="*/ 701748 w 2583711"/>
              <a:gd name="csY2" fmla="*/ 383912 h 841112"/>
              <a:gd name="csX3" fmla="*/ 903767 w 2583711"/>
              <a:gd name="csY3" fmla="*/ 1140 h 841112"/>
              <a:gd name="csX4" fmla="*/ 1275907 w 2583711"/>
              <a:gd name="csY4" fmla="*/ 277587 h 841112"/>
              <a:gd name="csX5" fmla="*/ 1658679 w 2583711"/>
              <a:gd name="csY5" fmla="*/ 607196 h 841112"/>
              <a:gd name="csX6" fmla="*/ 2222204 w 2583711"/>
              <a:gd name="csY6" fmla="*/ 702889 h 841112"/>
              <a:gd name="csX7" fmla="*/ 2583711 w 2583711"/>
              <a:gd name="csY7" fmla="*/ 734787 h 841112"/>
              <a:gd name="csX0" fmla="*/ 0 w 2594344"/>
              <a:gd name="csY0" fmla="*/ 841112 h 841112"/>
              <a:gd name="csX1" fmla="*/ 467832 w 2594344"/>
              <a:gd name="csY1" fmla="*/ 681624 h 841112"/>
              <a:gd name="csX2" fmla="*/ 701748 w 2594344"/>
              <a:gd name="csY2" fmla="*/ 383912 h 841112"/>
              <a:gd name="csX3" fmla="*/ 903767 w 2594344"/>
              <a:gd name="csY3" fmla="*/ 1140 h 841112"/>
              <a:gd name="csX4" fmla="*/ 1275907 w 2594344"/>
              <a:gd name="csY4" fmla="*/ 277587 h 841112"/>
              <a:gd name="csX5" fmla="*/ 1658679 w 2594344"/>
              <a:gd name="csY5" fmla="*/ 607196 h 841112"/>
              <a:gd name="csX6" fmla="*/ 2222204 w 2594344"/>
              <a:gd name="csY6" fmla="*/ 702889 h 841112"/>
              <a:gd name="csX7" fmla="*/ 2594344 w 2594344"/>
              <a:gd name="csY7" fmla="*/ 787950 h 841112"/>
              <a:gd name="csX0" fmla="*/ 0 w 2594344"/>
              <a:gd name="csY0" fmla="*/ 841112 h 841112"/>
              <a:gd name="csX1" fmla="*/ 467832 w 2594344"/>
              <a:gd name="csY1" fmla="*/ 681624 h 841112"/>
              <a:gd name="csX2" fmla="*/ 701748 w 2594344"/>
              <a:gd name="csY2" fmla="*/ 383912 h 841112"/>
              <a:gd name="csX3" fmla="*/ 903767 w 2594344"/>
              <a:gd name="csY3" fmla="*/ 1140 h 841112"/>
              <a:gd name="csX4" fmla="*/ 1275907 w 2594344"/>
              <a:gd name="csY4" fmla="*/ 277587 h 841112"/>
              <a:gd name="csX5" fmla="*/ 1658679 w 2594344"/>
              <a:gd name="csY5" fmla="*/ 607196 h 841112"/>
              <a:gd name="csX6" fmla="*/ 2222204 w 2594344"/>
              <a:gd name="csY6" fmla="*/ 766684 h 841112"/>
              <a:gd name="csX7" fmla="*/ 2594344 w 2594344"/>
              <a:gd name="csY7" fmla="*/ 787950 h 841112"/>
              <a:gd name="csX0" fmla="*/ 0 w 2636875"/>
              <a:gd name="csY0" fmla="*/ 809214 h 809214"/>
              <a:gd name="csX1" fmla="*/ 510363 w 2636875"/>
              <a:gd name="csY1" fmla="*/ 681624 h 809214"/>
              <a:gd name="csX2" fmla="*/ 744279 w 2636875"/>
              <a:gd name="csY2" fmla="*/ 383912 h 809214"/>
              <a:gd name="csX3" fmla="*/ 946298 w 2636875"/>
              <a:gd name="csY3" fmla="*/ 1140 h 809214"/>
              <a:gd name="csX4" fmla="*/ 1318438 w 2636875"/>
              <a:gd name="csY4" fmla="*/ 277587 h 809214"/>
              <a:gd name="csX5" fmla="*/ 1701210 w 2636875"/>
              <a:gd name="csY5" fmla="*/ 607196 h 809214"/>
              <a:gd name="csX6" fmla="*/ 2264735 w 2636875"/>
              <a:gd name="csY6" fmla="*/ 766684 h 809214"/>
              <a:gd name="csX7" fmla="*/ 2636875 w 2636875"/>
              <a:gd name="csY7" fmla="*/ 787950 h 809214"/>
              <a:gd name="csX0" fmla="*/ 0 w 2700670"/>
              <a:gd name="csY0" fmla="*/ 787949 h 787950"/>
              <a:gd name="csX1" fmla="*/ 574158 w 2700670"/>
              <a:gd name="csY1" fmla="*/ 681624 h 787950"/>
              <a:gd name="csX2" fmla="*/ 808074 w 2700670"/>
              <a:gd name="csY2" fmla="*/ 383912 h 787950"/>
              <a:gd name="csX3" fmla="*/ 1010093 w 2700670"/>
              <a:gd name="csY3" fmla="*/ 1140 h 787950"/>
              <a:gd name="csX4" fmla="*/ 1382233 w 2700670"/>
              <a:gd name="csY4" fmla="*/ 277587 h 787950"/>
              <a:gd name="csX5" fmla="*/ 1765005 w 2700670"/>
              <a:gd name="csY5" fmla="*/ 607196 h 787950"/>
              <a:gd name="csX6" fmla="*/ 2328530 w 2700670"/>
              <a:gd name="csY6" fmla="*/ 766684 h 787950"/>
              <a:gd name="csX7" fmla="*/ 2700670 w 2700670"/>
              <a:gd name="csY7" fmla="*/ 787950 h 787950"/>
              <a:gd name="csX0" fmla="*/ 0 w 2700670"/>
              <a:gd name="csY0" fmla="*/ 789414 h 789415"/>
              <a:gd name="csX1" fmla="*/ 574158 w 2700670"/>
              <a:gd name="csY1" fmla="*/ 683089 h 789415"/>
              <a:gd name="csX2" fmla="*/ 754911 w 2700670"/>
              <a:gd name="csY2" fmla="*/ 172726 h 789415"/>
              <a:gd name="csX3" fmla="*/ 1010093 w 2700670"/>
              <a:gd name="csY3" fmla="*/ 2605 h 789415"/>
              <a:gd name="csX4" fmla="*/ 1382233 w 2700670"/>
              <a:gd name="csY4" fmla="*/ 279052 h 789415"/>
              <a:gd name="csX5" fmla="*/ 1765005 w 2700670"/>
              <a:gd name="csY5" fmla="*/ 608661 h 789415"/>
              <a:gd name="csX6" fmla="*/ 2328530 w 2700670"/>
              <a:gd name="csY6" fmla="*/ 768149 h 789415"/>
              <a:gd name="csX7" fmla="*/ 2700670 w 2700670"/>
              <a:gd name="csY7" fmla="*/ 789415 h 789415"/>
              <a:gd name="csX0" fmla="*/ 0 w 2700670"/>
              <a:gd name="csY0" fmla="*/ 788914 h 788915"/>
              <a:gd name="csX1" fmla="*/ 499730 w 2700670"/>
              <a:gd name="csY1" fmla="*/ 544366 h 788915"/>
              <a:gd name="csX2" fmla="*/ 754911 w 2700670"/>
              <a:gd name="csY2" fmla="*/ 172226 h 788915"/>
              <a:gd name="csX3" fmla="*/ 1010093 w 2700670"/>
              <a:gd name="csY3" fmla="*/ 2105 h 788915"/>
              <a:gd name="csX4" fmla="*/ 1382233 w 2700670"/>
              <a:gd name="csY4" fmla="*/ 278552 h 788915"/>
              <a:gd name="csX5" fmla="*/ 1765005 w 2700670"/>
              <a:gd name="csY5" fmla="*/ 608161 h 788915"/>
              <a:gd name="csX6" fmla="*/ 2328530 w 2700670"/>
              <a:gd name="csY6" fmla="*/ 767649 h 788915"/>
              <a:gd name="csX7" fmla="*/ 2700670 w 2700670"/>
              <a:gd name="csY7" fmla="*/ 788915 h 7889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00670" h="788915">
                <a:moveTo>
                  <a:pt x="0" y="788914"/>
                </a:moveTo>
                <a:cubicBezTo>
                  <a:pt x="175437" y="747270"/>
                  <a:pt x="373912" y="647147"/>
                  <a:pt x="499730" y="544366"/>
                </a:cubicBezTo>
                <a:cubicBezTo>
                  <a:pt x="625549" y="441585"/>
                  <a:pt x="669851" y="262603"/>
                  <a:pt x="754911" y="172226"/>
                </a:cubicBezTo>
                <a:cubicBezTo>
                  <a:pt x="839971" y="81849"/>
                  <a:pt x="905539" y="-15616"/>
                  <a:pt x="1010093" y="2105"/>
                </a:cubicBezTo>
                <a:cubicBezTo>
                  <a:pt x="1114647" y="19826"/>
                  <a:pt x="1256414" y="177543"/>
                  <a:pt x="1382233" y="278552"/>
                </a:cubicBezTo>
                <a:cubicBezTo>
                  <a:pt x="1508052" y="379561"/>
                  <a:pt x="1607289" y="526645"/>
                  <a:pt x="1765005" y="608161"/>
                </a:cubicBezTo>
                <a:cubicBezTo>
                  <a:pt x="1922721" y="689677"/>
                  <a:pt x="2174358" y="746384"/>
                  <a:pt x="2328530" y="767649"/>
                </a:cubicBezTo>
                <a:cubicBezTo>
                  <a:pt x="2482702" y="788914"/>
                  <a:pt x="2597002" y="783598"/>
                  <a:pt x="2700670" y="788915"/>
                </a:cubicBezTo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 w="38100">
            <a:solidFill>
              <a:schemeClr val="accent1">
                <a:shade val="1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B7197DEE-160A-8F1E-C6F1-15D3582E0143}"/>
              </a:ext>
            </a:extLst>
          </p:cNvPr>
          <p:cNvSpPr/>
          <p:nvPr/>
        </p:nvSpPr>
        <p:spPr>
          <a:xfrm>
            <a:off x="6584827" y="4401262"/>
            <a:ext cx="1767578" cy="1366824"/>
          </a:xfrm>
          <a:custGeom>
            <a:avLst/>
            <a:gdLst>
              <a:gd name="csX0" fmla="*/ 0 w 1031358"/>
              <a:gd name="csY0" fmla="*/ 1609295 h 1613245"/>
              <a:gd name="csX1" fmla="*/ 202019 w 1031358"/>
              <a:gd name="csY1" fmla="*/ 1566765 h 1613245"/>
              <a:gd name="csX2" fmla="*/ 287079 w 1031358"/>
              <a:gd name="csY2" fmla="*/ 1279686 h 1613245"/>
              <a:gd name="csX3" fmla="*/ 393405 w 1031358"/>
              <a:gd name="csY3" fmla="*/ 556672 h 1613245"/>
              <a:gd name="csX4" fmla="*/ 542260 w 1031358"/>
              <a:gd name="csY4" fmla="*/ 3779 h 1613245"/>
              <a:gd name="csX5" fmla="*/ 669851 w 1031358"/>
              <a:gd name="csY5" fmla="*/ 833118 h 1613245"/>
              <a:gd name="csX6" fmla="*/ 723014 w 1031358"/>
              <a:gd name="csY6" fmla="*/ 1300951 h 1613245"/>
              <a:gd name="csX7" fmla="*/ 808074 w 1031358"/>
              <a:gd name="csY7" fmla="*/ 1566765 h 1613245"/>
              <a:gd name="csX8" fmla="*/ 1031358 w 1031358"/>
              <a:gd name="csY8" fmla="*/ 1598663 h 1613245"/>
              <a:gd name="csX0" fmla="*/ 0 w 1275907"/>
              <a:gd name="csY0" fmla="*/ 1609295 h 1613420"/>
              <a:gd name="csX1" fmla="*/ 202019 w 1275907"/>
              <a:gd name="csY1" fmla="*/ 1566765 h 1613420"/>
              <a:gd name="csX2" fmla="*/ 287079 w 1275907"/>
              <a:gd name="csY2" fmla="*/ 1279686 h 1613420"/>
              <a:gd name="csX3" fmla="*/ 393405 w 1275907"/>
              <a:gd name="csY3" fmla="*/ 556672 h 1613420"/>
              <a:gd name="csX4" fmla="*/ 542260 w 1275907"/>
              <a:gd name="csY4" fmla="*/ 3779 h 1613420"/>
              <a:gd name="csX5" fmla="*/ 669851 w 1275907"/>
              <a:gd name="csY5" fmla="*/ 833118 h 1613420"/>
              <a:gd name="csX6" fmla="*/ 723014 w 1275907"/>
              <a:gd name="csY6" fmla="*/ 1300951 h 1613420"/>
              <a:gd name="csX7" fmla="*/ 808074 w 1275907"/>
              <a:gd name="csY7" fmla="*/ 1566765 h 1613420"/>
              <a:gd name="csX8" fmla="*/ 1275907 w 1275907"/>
              <a:gd name="csY8" fmla="*/ 1609295 h 1613420"/>
              <a:gd name="csX0" fmla="*/ 0 w 1275907"/>
              <a:gd name="csY0" fmla="*/ 1609295 h 1613245"/>
              <a:gd name="csX1" fmla="*/ 202019 w 1275907"/>
              <a:gd name="csY1" fmla="*/ 1566765 h 1613245"/>
              <a:gd name="csX2" fmla="*/ 287079 w 1275907"/>
              <a:gd name="csY2" fmla="*/ 1279686 h 1613245"/>
              <a:gd name="csX3" fmla="*/ 393405 w 1275907"/>
              <a:gd name="csY3" fmla="*/ 556672 h 1613245"/>
              <a:gd name="csX4" fmla="*/ 542260 w 1275907"/>
              <a:gd name="csY4" fmla="*/ 3779 h 1613245"/>
              <a:gd name="csX5" fmla="*/ 669851 w 1275907"/>
              <a:gd name="csY5" fmla="*/ 833118 h 1613245"/>
              <a:gd name="csX6" fmla="*/ 723014 w 1275907"/>
              <a:gd name="csY6" fmla="*/ 1300951 h 1613245"/>
              <a:gd name="csX7" fmla="*/ 925032 w 1275907"/>
              <a:gd name="csY7" fmla="*/ 1524235 h 1613245"/>
              <a:gd name="csX8" fmla="*/ 1275907 w 1275907"/>
              <a:gd name="csY8" fmla="*/ 1609295 h 1613245"/>
              <a:gd name="csX0" fmla="*/ 0 w 1275907"/>
              <a:gd name="csY0" fmla="*/ 1609835 h 1613785"/>
              <a:gd name="csX1" fmla="*/ 202019 w 1275907"/>
              <a:gd name="csY1" fmla="*/ 1567305 h 1613785"/>
              <a:gd name="csX2" fmla="*/ 287079 w 1275907"/>
              <a:gd name="csY2" fmla="*/ 1280226 h 1613785"/>
              <a:gd name="csX3" fmla="*/ 393405 w 1275907"/>
              <a:gd name="csY3" fmla="*/ 557212 h 1613785"/>
              <a:gd name="csX4" fmla="*/ 542260 w 1275907"/>
              <a:gd name="csY4" fmla="*/ 4319 h 1613785"/>
              <a:gd name="csX5" fmla="*/ 733646 w 1275907"/>
              <a:gd name="csY5" fmla="*/ 854923 h 1613785"/>
              <a:gd name="csX6" fmla="*/ 723014 w 1275907"/>
              <a:gd name="csY6" fmla="*/ 1301491 h 1613785"/>
              <a:gd name="csX7" fmla="*/ 925032 w 1275907"/>
              <a:gd name="csY7" fmla="*/ 1524775 h 1613785"/>
              <a:gd name="csX8" fmla="*/ 1275907 w 1275907"/>
              <a:gd name="csY8" fmla="*/ 1609835 h 1613785"/>
              <a:gd name="csX0" fmla="*/ 0 w 1275907"/>
              <a:gd name="csY0" fmla="*/ 1609835 h 1613785"/>
              <a:gd name="csX1" fmla="*/ 202019 w 1275907"/>
              <a:gd name="csY1" fmla="*/ 1567305 h 1613785"/>
              <a:gd name="csX2" fmla="*/ 287079 w 1275907"/>
              <a:gd name="csY2" fmla="*/ 1280226 h 1613785"/>
              <a:gd name="csX3" fmla="*/ 393405 w 1275907"/>
              <a:gd name="csY3" fmla="*/ 557212 h 1613785"/>
              <a:gd name="csX4" fmla="*/ 542260 w 1275907"/>
              <a:gd name="csY4" fmla="*/ 4319 h 1613785"/>
              <a:gd name="csX5" fmla="*/ 733646 w 1275907"/>
              <a:gd name="csY5" fmla="*/ 854923 h 1613785"/>
              <a:gd name="csX6" fmla="*/ 829340 w 1275907"/>
              <a:gd name="csY6" fmla="*/ 1301491 h 1613785"/>
              <a:gd name="csX7" fmla="*/ 925032 w 1275907"/>
              <a:gd name="csY7" fmla="*/ 1524775 h 1613785"/>
              <a:gd name="csX8" fmla="*/ 1275907 w 1275907"/>
              <a:gd name="csY8" fmla="*/ 1609835 h 1613785"/>
              <a:gd name="csX0" fmla="*/ 0 w 1275907"/>
              <a:gd name="csY0" fmla="*/ 1358811 h 1362761"/>
              <a:gd name="csX1" fmla="*/ 202019 w 1275907"/>
              <a:gd name="csY1" fmla="*/ 1316281 h 1362761"/>
              <a:gd name="csX2" fmla="*/ 287079 w 1275907"/>
              <a:gd name="csY2" fmla="*/ 1029202 h 1362761"/>
              <a:gd name="csX3" fmla="*/ 393405 w 1275907"/>
              <a:gd name="csY3" fmla="*/ 306188 h 1362761"/>
              <a:gd name="csX4" fmla="*/ 542260 w 1275907"/>
              <a:gd name="csY4" fmla="*/ 8476 h 1362761"/>
              <a:gd name="csX5" fmla="*/ 733646 w 1275907"/>
              <a:gd name="csY5" fmla="*/ 603899 h 1362761"/>
              <a:gd name="csX6" fmla="*/ 829340 w 1275907"/>
              <a:gd name="csY6" fmla="*/ 1050467 h 1362761"/>
              <a:gd name="csX7" fmla="*/ 925032 w 1275907"/>
              <a:gd name="csY7" fmla="*/ 1273751 h 1362761"/>
              <a:gd name="csX8" fmla="*/ 1275907 w 1275907"/>
              <a:gd name="csY8" fmla="*/ 1358811 h 1362761"/>
              <a:gd name="csX0" fmla="*/ 0 w 1275907"/>
              <a:gd name="csY0" fmla="*/ 1355244 h 1359194"/>
              <a:gd name="csX1" fmla="*/ 202019 w 1275907"/>
              <a:gd name="csY1" fmla="*/ 1312714 h 1359194"/>
              <a:gd name="csX2" fmla="*/ 287079 w 1275907"/>
              <a:gd name="csY2" fmla="*/ 1025635 h 1359194"/>
              <a:gd name="csX3" fmla="*/ 425302 w 1275907"/>
              <a:gd name="csY3" fmla="*/ 355783 h 1359194"/>
              <a:gd name="csX4" fmla="*/ 542260 w 1275907"/>
              <a:gd name="csY4" fmla="*/ 4909 h 1359194"/>
              <a:gd name="csX5" fmla="*/ 733646 w 1275907"/>
              <a:gd name="csY5" fmla="*/ 600332 h 1359194"/>
              <a:gd name="csX6" fmla="*/ 829340 w 1275907"/>
              <a:gd name="csY6" fmla="*/ 1046900 h 1359194"/>
              <a:gd name="csX7" fmla="*/ 925032 w 1275907"/>
              <a:gd name="csY7" fmla="*/ 1270184 h 1359194"/>
              <a:gd name="csX8" fmla="*/ 1275907 w 1275907"/>
              <a:gd name="csY8" fmla="*/ 1355244 h 1359194"/>
              <a:gd name="csX0" fmla="*/ 0 w 1382232"/>
              <a:gd name="csY0" fmla="*/ 1365876 h 1368202"/>
              <a:gd name="csX1" fmla="*/ 308344 w 1382232"/>
              <a:gd name="csY1" fmla="*/ 1312714 h 1368202"/>
              <a:gd name="csX2" fmla="*/ 393404 w 1382232"/>
              <a:gd name="csY2" fmla="*/ 1025635 h 1368202"/>
              <a:gd name="csX3" fmla="*/ 531627 w 1382232"/>
              <a:gd name="csY3" fmla="*/ 355783 h 1368202"/>
              <a:gd name="csX4" fmla="*/ 648585 w 1382232"/>
              <a:gd name="csY4" fmla="*/ 4909 h 1368202"/>
              <a:gd name="csX5" fmla="*/ 839971 w 1382232"/>
              <a:gd name="csY5" fmla="*/ 600332 h 1368202"/>
              <a:gd name="csX6" fmla="*/ 935665 w 1382232"/>
              <a:gd name="csY6" fmla="*/ 1046900 h 1368202"/>
              <a:gd name="csX7" fmla="*/ 1031357 w 1382232"/>
              <a:gd name="csY7" fmla="*/ 1270184 h 1368202"/>
              <a:gd name="csX8" fmla="*/ 1382232 w 1382232"/>
              <a:gd name="csY8" fmla="*/ 1355244 h 1368202"/>
              <a:gd name="csX0" fmla="*/ 0 w 1382232"/>
              <a:gd name="csY0" fmla="*/ 1365876 h 1366279"/>
              <a:gd name="csX1" fmla="*/ 233916 w 1382232"/>
              <a:gd name="csY1" fmla="*/ 1248919 h 1366279"/>
              <a:gd name="csX2" fmla="*/ 393404 w 1382232"/>
              <a:gd name="csY2" fmla="*/ 1025635 h 1366279"/>
              <a:gd name="csX3" fmla="*/ 531627 w 1382232"/>
              <a:gd name="csY3" fmla="*/ 355783 h 1366279"/>
              <a:gd name="csX4" fmla="*/ 648585 w 1382232"/>
              <a:gd name="csY4" fmla="*/ 4909 h 1366279"/>
              <a:gd name="csX5" fmla="*/ 839971 w 1382232"/>
              <a:gd name="csY5" fmla="*/ 600332 h 1366279"/>
              <a:gd name="csX6" fmla="*/ 935665 w 1382232"/>
              <a:gd name="csY6" fmla="*/ 1046900 h 1366279"/>
              <a:gd name="csX7" fmla="*/ 1031357 w 1382232"/>
              <a:gd name="csY7" fmla="*/ 1270184 h 1366279"/>
              <a:gd name="csX8" fmla="*/ 1382232 w 1382232"/>
              <a:gd name="csY8" fmla="*/ 1355244 h 1366279"/>
              <a:gd name="csX0" fmla="*/ 0 w 1477925"/>
              <a:gd name="csY0" fmla="*/ 1365876 h 1366824"/>
              <a:gd name="csX1" fmla="*/ 233916 w 1477925"/>
              <a:gd name="csY1" fmla="*/ 1248919 h 1366824"/>
              <a:gd name="csX2" fmla="*/ 393404 w 1477925"/>
              <a:gd name="csY2" fmla="*/ 1025635 h 1366824"/>
              <a:gd name="csX3" fmla="*/ 531627 w 1477925"/>
              <a:gd name="csY3" fmla="*/ 355783 h 1366824"/>
              <a:gd name="csX4" fmla="*/ 648585 w 1477925"/>
              <a:gd name="csY4" fmla="*/ 4909 h 1366824"/>
              <a:gd name="csX5" fmla="*/ 839971 w 1477925"/>
              <a:gd name="csY5" fmla="*/ 600332 h 1366824"/>
              <a:gd name="csX6" fmla="*/ 935665 w 1477925"/>
              <a:gd name="csY6" fmla="*/ 1046900 h 1366824"/>
              <a:gd name="csX7" fmla="*/ 1031357 w 1477925"/>
              <a:gd name="csY7" fmla="*/ 1270184 h 1366824"/>
              <a:gd name="csX8" fmla="*/ 1477925 w 1477925"/>
              <a:gd name="csY8" fmla="*/ 1365877 h 1366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77925" h="1366824">
                <a:moveTo>
                  <a:pt x="0" y="1365876"/>
                </a:moveTo>
                <a:cubicBezTo>
                  <a:pt x="77086" y="1372078"/>
                  <a:pt x="168349" y="1305626"/>
                  <a:pt x="233916" y="1248919"/>
                </a:cubicBezTo>
                <a:cubicBezTo>
                  <a:pt x="299483" y="1192212"/>
                  <a:pt x="343786" y="1174491"/>
                  <a:pt x="393404" y="1025635"/>
                </a:cubicBezTo>
                <a:cubicBezTo>
                  <a:pt x="443022" y="876779"/>
                  <a:pt x="489097" y="525904"/>
                  <a:pt x="531627" y="355783"/>
                </a:cubicBezTo>
                <a:cubicBezTo>
                  <a:pt x="574157" y="185662"/>
                  <a:pt x="597194" y="-35849"/>
                  <a:pt x="648585" y="4909"/>
                </a:cubicBezTo>
                <a:cubicBezTo>
                  <a:pt x="699976" y="45667"/>
                  <a:pt x="792124" y="426667"/>
                  <a:pt x="839971" y="600332"/>
                </a:cubicBezTo>
                <a:cubicBezTo>
                  <a:pt x="887818" y="773997"/>
                  <a:pt x="903767" y="935258"/>
                  <a:pt x="935665" y="1046900"/>
                </a:cubicBezTo>
                <a:cubicBezTo>
                  <a:pt x="967563" y="1158542"/>
                  <a:pt x="979966" y="1220565"/>
                  <a:pt x="1031357" y="1270184"/>
                </a:cubicBezTo>
                <a:cubicBezTo>
                  <a:pt x="1082748" y="1319803"/>
                  <a:pt x="1391978" y="1374737"/>
                  <a:pt x="1477925" y="1365877"/>
                </a:cubicBezTo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 w="38100"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BC5FE4-62A5-C2A7-621E-0FB9247AE8C4}"/>
              </a:ext>
            </a:extLst>
          </p:cNvPr>
          <p:cNvSpPr txBox="1"/>
          <p:nvPr/>
        </p:nvSpPr>
        <p:spPr>
          <a:xfrm>
            <a:off x="9251033" y="3883043"/>
            <a:ext cx="196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“Good” Mapping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5E70F71-00D0-D6A9-505A-4E8036D46355}"/>
                  </a:ext>
                </a:extLst>
              </p:cNvPr>
              <p:cNvSpPr txBox="1"/>
              <p:nvPr/>
            </p:nvSpPr>
            <p:spPr>
              <a:xfrm>
                <a:off x="5802155" y="4313908"/>
                <a:ext cx="1164805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̃"/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5E70F71-00D0-D6A9-505A-4E8036D46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155" y="4313908"/>
                <a:ext cx="1164805" cy="404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8AA8B70-05F3-FC55-906E-2029246C38DF}"/>
                  </a:ext>
                </a:extLst>
              </p:cNvPr>
              <p:cNvSpPr txBox="1"/>
              <p:nvPr/>
            </p:nvSpPr>
            <p:spPr>
              <a:xfrm>
                <a:off x="8475117" y="4644895"/>
                <a:ext cx="96558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8AA8B70-05F3-FC55-906E-2029246C3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5117" y="4644895"/>
                <a:ext cx="965580" cy="4049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 64">
            <a:extLst>
              <a:ext uri="{FF2B5EF4-FFF2-40B4-BE49-F238E27FC236}">
                <a16:creationId xmlns:a16="http://schemas.microsoft.com/office/drawing/2014/main" id="{2BFE2D58-305E-224E-F9F9-5912F467B2E4}"/>
              </a:ext>
            </a:extLst>
          </p:cNvPr>
          <p:cNvSpPr/>
          <p:nvPr/>
        </p:nvSpPr>
        <p:spPr>
          <a:xfrm>
            <a:off x="7743027" y="5755112"/>
            <a:ext cx="1117049" cy="276278"/>
          </a:xfrm>
          <a:custGeom>
            <a:avLst/>
            <a:gdLst>
              <a:gd name="csX0" fmla="*/ 630 w 1117049"/>
              <a:gd name="csY0" fmla="*/ 0 h 276278"/>
              <a:gd name="csX1" fmla="*/ 181384 w 1117049"/>
              <a:gd name="csY1" fmla="*/ 244549 h 276278"/>
              <a:gd name="csX2" fmla="*/ 1117049 w 1117049"/>
              <a:gd name="csY2" fmla="*/ 265814 h 276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17049" h="276278">
                <a:moveTo>
                  <a:pt x="630" y="0"/>
                </a:moveTo>
                <a:cubicBezTo>
                  <a:pt x="-2028" y="100123"/>
                  <a:pt x="-4686" y="200247"/>
                  <a:pt x="181384" y="244549"/>
                </a:cubicBezTo>
                <a:cubicBezTo>
                  <a:pt x="367454" y="288851"/>
                  <a:pt x="742251" y="277332"/>
                  <a:pt x="1117049" y="265814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9E58DA-E5EE-453B-4D29-5C0B21161301}"/>
              </a:ext>
            </a:extLst>
          </p:cNvPr>
          <p:cNvSpPr txBox="1"/>
          <p:nvPr/>
        </p:nvSpPr>
        <p:spPr>
          <a:xfrm>
            <a:off x="8860076" y="5851612"/>
            <a:ext cx="1509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Relevant Overlap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CFCF911-E03C-C5E6-5EBA-7D004BC3F3E8}"/>
              </a:ext>
            </a:extLst>
          </p:cNvPr>
          <p:cNvGrpSpPr/>
          <p:nvPr/>
        </p:nvGrpSpPr>
        <p:grpSpPr>
          <a:xfrm>
            <a:off x="5933472" y="3547807"/>
            <a:ext cx="5611495" cy="2596298"/>
            <a:chOff x="5933472" y="3547807"/>
            <a:chExt cx="5611495" cy="2596298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E8FDC0F-148E-FCA6-5D44-80686CDEFE86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6239371" y="4862159"/>
              <a:ext cx="0" cy="10972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83BBB06-A656-5462-E962-E1D90C90060A}"/>
                </a:ext>
              </a:extLst>
            </p:cNvPr>
            <p:cNvCxnSpPr>
              <a:cxnSpLocks/>
            </p:cNvCxnSpPr>
            <p:nvPr/>
          </p:nvCxnSpPr>
          <p:spPr>
            <a:xfrm>
              <a:off x="6027429" y="5780096"/>
              <a:ext cx="524763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C5CCFC9-CD3E-820A-3EF8-2ACBB3ED0DBB}"/>
                </a:ext>
              </a:extLst>
            </p:cNvPr>
            <p:cNvSpPr/>
            <p:nvPr/>
          </p:nvSpPr>
          <p:spPr>
            <a:xfrm>
              <a:off x="6451314" y="4166851"/>
              <a:ext cx="1233490" cy="1613245"/>
            </a:xfrm>
            <a:custGeom>
              <a:avLst/>
              <a:gdLst>
                <a:gd name="csX0" fmla="*/ 0 w 1031358"/>
                <a:gd name="csY0" fmla="*/ 1609295 h 1613245"/>
                <a:gd name="csX1" fmla="*/ 202019 w 1031358"/>
                <a:gd name="csY1" fmla="*/ 1566765 h 1613245"/>
                <a:gd name="csX2" fmla="*/ 287079 w 1031358"/>
                <a:gd name="csY2" fmla="*/ 1279686 h 1613245"/>
                <a:gd name="csX3" fmla="*/ 393405 w 1031358"/>
                <a:gd name="csY3" fmla="*/ 556672 h 1613245"/>
                <a:gd name="csX4" fmla="*/ 542260 w 1031358"/>
                <a:gd name="csY4" fmla="*/ 3779 h 1613245"/>
                <a:gd name="csX5" fmla="*/ 669851 w 1031358"/>
                <a:gd name="csY5" fmla="*/ 833118 h 1613245"/>
                <a:gd name="csX6" fmla="*/ 723014 w 1031358"/>
                <a:gd name="csY6" fmla="*/ 1300951 h 1613245"/>
                <a:gd name="csX7" fmla="*/ 808074 w 1031358"/>
                <a:gd name="csY7" fmla="*/ 1566765 h 1613245"/>
                <a:gd name="csX8" fmla="*/ 1031358 w 1031358"/>
                <a:gd name="csY8" fmla="*/ 1598663 h 16132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31358" h="1613245">
                  <a:moveTo>
                    <a:pt x="0" y="1609295"/>
                  </a:moveTo>
                  <a:cubicBezTo>
                    <a:pt x="77086" y="1615497"/>
                    <a:pt x="154173" y="1621700"/>
                    <a:pt x="202019" y="1566765"/>
                  </a:cubicBezTo>
                  <a:cubicBezTo>
                    <a:pt x="249865" y="1511830"/>
                    <a:pt x="255181" y="1448035"/>
                    <a:pt x="287079" y="1279686"/>
                  </a:cubicBezTo>
                  <a:cubicBezTo>
                    <a:pt x="318977" y="1111337"/>
                    <a:pt x="350875" y="769323"/>
                    <a:pt x="393405" y="556672"/>
                  </a:cubicBezTo>
                  <a:cubicBezTo>
                    <a:pt x="435935" y="344021"/>
                    <a:pt x="496186" y="-42295"/>
                    <a:pt x="542260" y="3779"/>
                  </a:cubicBezTo>
                  <a:cubicBezTo>
                    <a:pt x="588334" y="49853"/>
                    <a:pt x="639725" y="616923"/>
                    <a:pt x="669851" y="833118"/>
                  </a:cubicBezTo>
                  <a:cubicBezTo>
                    <a:pt x="699977" y="1049313"/>
                    <a:pt x="699977" y="1178677"/>
                    <a:pt x="723014" y="1300951"/>
                  </a:cubicBezTo>
                  <a:cubicBezTo>
                    <a:pt x="746051" y="1423225"/>
                    <a:pt x="756683" y="1517146"/>
                    <a:pt x="808074" y="1566765"/>
                  </a:cubicBezTo>
                  <a:cubicBezTo>
                    <a:pt x="859465" y="1616384"/>
                    <a:pt x="945411" y="1607523"/>
                    <a:pt x="1031358" y="1598663"/>
                  </a:cubicBezTo>
                </a:path>
              </a:pathLst>
            </a:custGeom>
            <a:solidFill>
              <a:schemeClr val="accent1">
                <a:lumMod val="75000"/>
                <a:alpha val="4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0B3DAFB-5B3A-B18B-A26F-D63694BDED17}"/>
                </a:ext>
              </a:extLst>
            </p:cNvPr>
            <p:cNvSpPr/>
            <p:nvPr/>
          </p:nvSpPr>
          <p:spPr>
            <a:xfrm>
              <a:off x="7667845" y="5491712"/>
              <a:ext cx="3318978" cy="294264"/>
            </a:xfrm>
            <a:custGeom>
              <a:avLst/>
              <a:gdLst>
                <a:gd name="csX0" fmla="*/ 0 w 2647507"/>
                <a:gd name="csY0" fmla="*/ 269047 h 269047"/>
                <a:gd name="csX1" fmla="*/ 435935 w 2647507"/>
                <a:gd name="csY1" fmla="*/ 226517 h 269047"/>
                <a:gd name="csX2" fmla="*/ 956930 w 2647507"/>
                <a:gd name="csY2" fmla="*/ 45763 h 269047"/>
                <a:gd name="csX3" fmla="*/ 1424763 w 2647507"/>
                <a:gd name="csY3" fmla="*/ 3233 h 269047"/>
                <a:gd name="csX4" fmla="*/ 1871330 w 2647507"/>
                <a:gd name="csY4" fmla="*/ 109559 h 269047"/>
                <a:gd name="csX5" fmla="*/ 2200939 w 2647507"/>
                <a:gd name="csY5" fmla="*/ 205252 h 269047"/>
                <a:gd name="csX6" fmla="*/ 2647507 w 2647507"/>
                <a:gd name="csY6" fmla="*/ 194619 h 269047"/>
                <a:gd name="csX0" fmla="*/ 0 w 2775097"/>
                <a:gd name="csY0" fmla="*/ 269047 h 269047"/>
                <a:gd name="csX1" fmla="*/ 435935 w 2775097"/>
                <a:gd name="csY1" fmla="*/ 226517 h 269047"/>
                <a:gd name="csX2" fmla="*/ 956930 w 2775097"/>
                <a:gd name="csY2" fmla="*/ 45763 h 269047"/>
                <a:gd name="csX3" fmla="*/ 1424763 w 2775097"/>
                <a:gd name="csY3" fmla="*/ 3233 h 269047"/>
                <a:gd name="csX4" fmla="*/ 1871330 w 2775097"/>
                <a:gd name="csY4" fmla="*/ 109559 h 269047"/>
                <a:gd name="csX5" fmla="*/ 2200939 w 2775097"/>
                <a:gd name="csY5" fmla="*/ 205252 h 269047"/>
                <a:gd name="csX6" fmla="*/ 2775097 w 2775097"/>
                <a:gd name="csY6" fmla="*/ 258414 h 269047"/>
                <a:gd name="csX0" fmla="*/ 0 w 2775097"/>
                <a:gd name="csY0" fmla="*/ 269047 h 269047"/>
                <a:gd name="csX1" fmla="*/ 435935 w 2775097"/>
                <a:gd name="csY1" fmla="*/ 226517 h 269047"/>
                <a:gd name="csX2" fmla="*/ 956930 w 2775097"/>
                <a:gd name="csY2" fmla="*/ 45763 h 269047"/>
                <a:gd name="csX3" fmla="*/ 1424763 w 2775097"/>
                <a:gd name="csY3" fmla="*/ 3233 h 269047"/>
                <a:gd name="csX4" fmla="*/ 1871330 w 2775097"/>
                <a:gd name="csY4" fmla="*/ 109559 h 269047"/>
                <a:gd name="csX5" fmla="*/ 2264735 w 2775097"/>
                <a:gd name="csY5" fmla="*/ 247782 h 269047"/>
                <a:gd name="csX6" fmla="*/ 2775097 w 2775097"/>
                <a:gd name="csY6" fmla="*/ 258414 h 269047"/>
                <a:gd name="csX0" fmla="*/ 0 w 2775097"/>
                <a:gd name="csY0" fmla="*/ 269047 h 275362"/>
                <a:gd name="csX1" fmla="*/ 435935 w 2775097"/>
                <a:gd name="csY1" fmla="*/ 226517 h 275362"/>
                <a:gd name="csX2" fmla="*/ 956930 w 2775097"/>
                <a:gd name="csY2" fmla="*/ 45763 h 275362"/>
                <a:gd name="csX3" fmla="*/ 1424763 w 2775097"/>
                <a:gd name="csY3" fmla="*/ 3233 h 275362"/>
                <a:gd name="csX4" fmla="*/ 1871330 w 2775097"/>
                <a:gd name="csY4" fmla="*/ 109559 h 275362"/>
                <a:gd name="csX5" fmla="*/ 2264735 w 2775097"/>
                <a:gd name="csY5" fmla="*/ 269047 h 275362"/>
                <a:gd name="csX6" fmla="*/ 2775097 w 2775097"/>
                <a:gd name="csY6" fmla="*/ 258414 h 275362"/>
                <a:gd name="csX0" fmla="*/ 0 w 2775097"/>
                <a:gd name="csY0" fmla="*/ 269047 h 285586"/>
                <a:gd name="csX1" fmla="*/ 435935 w 2775097"/>
                <a:gd name="csY1" fmla="*/ 226517 h 285586"/>
                <a:gd name="csX2" fmla="*/ 956930 w 2775097"/>
                <a:gd name="csY2" fmla="*/ 45763 h 285586"/>
                <a:gd name="csX3" fmla="*/ 1424763 w 2775097"/>
                <a:gd name="csY3" fmla="*/ 3233 h 285586"/>
                <a:gd name="csX4" fmla="*/ 1871330 w 2775097"/>
                <a:gd name="csY4" fmla="*/ 109559 h 285586"/>
                <a:gd name="csX5" fmla="*/ 2264735 w 2775097"/>
                <a:gd name="csY5" fmla="*/ 269047 h 285586"/>
                <a:gd name="csX6" fmla="*/ 2775097 w 2775097"/>
                <a:gd name="csY6" fmla="*/ 279679 h 285586"/>
                <a:gd name="csX0" fmla="*/ 0 w 2775097"/>
                <a:gd name="csY0" fmla="*/ 269047 h 294264"/>
                <a:gd name="csX1" fmla="*/ 435935 w 2775097"/>
                <a:gd name="csY1" fmla="*/ 226517 h 294264"/>
                <a:gd name="csX2" fmla="*/ 956930 w 2775097"/>
                <a:gd name="csY2" fmla="*/ 45763 h 294264"/>
                <a:gd name="csX3" fmla="*/ 1424763 w 2775097"/>
                <a:gd name="csY3" fmla="*/ 3233 h 294264"/>
                <a:gd name="csX4" fmla="*/ 1871330 w 2775097"/>
                <a:gd name="csY4" fmla="*/ 109559 h 294264"/>
                <a:gd name="csX5" fmla="*/ 2264735 w 2775097"/>
                <a:gd name="csY5" fmla="*/ 269047 h 294264"/>
                <a:gd name="csX6" fmla="*/ 2775097 w 2775097"/>
                <a:gd name="csY6" fmla="*/ 290312 h 2942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775097" h="294264">
                  <a:moveTo>
                    <a:pt x="0" y="269047"/>
                  </a:moveTo>
                  <a:cubicBezTo>
                    <a:pt x="138223" y="266389"/>
                    <a:pt x="276447" y="263731"/>
                    <a:pt x="435935" y="226517"/>
                  </a:cubicBezTo>
                  <a:cubicBezTo>
                    <a:pt x="595423" y="189303"/>
                    <a:pt x="792125" y="82977"/>
                    <a:pt x="956930" y="45763"/>
                  </a:cubicBezTo>
                  <a:cubicBezTo>
                    <a:pt x="1121735" y="8549"/>
                    <a:pt x="1272363" y="-7400"/>
                    <a:pt x="1424763" y="3233"/>
                  </a:cubicBezTo>
                  <a:cubicBezTo>
                    <a:pt x="1577163" y="13866"/>
                    <a:pt x="1731335" y="65257"/>
                    <a:pt x="1871330" y="109559"/>
                  </a:cubicBezTo>
                  <a:cubicBezTo>
                    <a:pt x="2011325" y="153861"/>
                    <a:pt x="2135372" y="254870"/>
                    <a:pt x="2264735" y="269047"/>
                  </a:cubicBezTo>
                  <a:cubicBezTo>
                    <a:pt x="2394098" y="283224"/>
                    <a:pt x="2616494" y="302717"/>
                    <a:pt x="2775097" y="290312"/>
                  </a:cubicBezTo>
                </a:path>
              </a:pathLst>
            </a:custGeom>
            <a:solidFill>
              <a:schemeClr val="accent1">
                <a:lumMod val="75000"/>
                <a:alpha val="40000"/>
              </a:schemeClr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FE68AD0-42EF-9D36-45A2-09C4D918CA52}"/>
                    </a:ext>
                  </a:extLst>
                </p:cNvPr>
                <p:cNvSpPr txBox="1"/>
                <p:nvPr/>
              </p:nvSpPr>
              <p:spPr>
                <a:xfrm>
                  <a:off x="5933472" y="3824155"/>
                  <a:ext cx="9021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FE68AD0-42EF-9D36-45A2-09C4D918CA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3472" y="3824155"/>
                  <a:ext cx="90217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5556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61978E6-05EA-B0AB-953E-E1B32F29C44A}"/>
                    </a:ext>
                  </a:extLst>
                </p:cNvPr>
                <p:cNvSpPr txBox="1"/>
                <p:nvPr/>
              </p:nvSpPr>
              <p:spPr>
                <a:xfrm>
                  <a:off x="10054482" y="5284085"/>
                  <a:ext cx="7343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61978E6-05EA-B0AB-953E-E1B32F29C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4482" y="5284085"/>
                  <a:ext cx="734367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6780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5395397-852F-DB85-C2F7-8473A2F4398C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7740836" y="3672446"/>
              <a:ext cx="0" cy="210312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C4426FDB-15AB-298E-6864-92754CDF870D}"/>
                    </a:ext>
                  </a:extLst>
                </p:cNvPr>
                <p:cNvSpPr txBox="1"/>
                <p:nvPr/>
              </p:nvSpPr>
              <p:spPr>
                <a:xfrm>
                  <a:off x="7802009" y="3547807"/>
                  <a:ext cx="4010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C4426FDB-15AB-298E-6864-92754CDF87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2009" y="3547807"/>
                  <a:ext cx="401047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FFA2768B-4D08-F0F3-1AE3-9AA5D8637801}"/>
                    </a:ext>
                  </a:extLst>
                </p:cNvPr>
                <p:cNvSpPr txBox="1"/>
                <p:nvPr/>
              </p:nvSpPr>
              <p:spPr>
                <a:xfrm>
                  <a:off x="11061186" y="5774773"/>
                  <a:ext cx="48378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FFA2768B-4D08-F0F3-1AE3-9AA5D8637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1186" y="5774773"/>
                  <a:ext cx="48378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8BF6D7F-3D8E-1009-FADB-4D0E4A9C70CE}"/>
              </a:ext>
            </a:extLst>
          </p:cNvPr>
          <p:cNvSpPr txBox="1"/>
          <p:nvPr/>
        </p:nvSpPr>
        <p:spPr>
          <a:xfrm>
            <a:off x="9057326" y="4127636"/>
            <a:ext cx="2162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“Perfect” Mapping </a:t>
            </a:r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3F42E57E-AE0E-46B6-8FBD-3DE82508C6B3}"/>
              </a:ext>
            </a:extLst>
          </p:cNvPr>
          <p:cNvSpPr/>
          <p:nvPr/>
        </p:nvSpPr>
        <p:spPr>
          <a:xfrm>
            <a:off x="7595423" y="3824155"/>
            <a:ext cx="405401" cy="1960705"/>
          </a:xfrm>
          <a:custGeom>
            <a:avLst/>
            <a:gdLst>
              <a:gd name="csX0" fmla="*/ 0 w 552893"/>
              <a:gd name="csY0" fmla="*/ 2201614 h 2210177"/>
              <a:gd name="csX1" fmla="*/ 202019 w 552893"/>
              <a:gd name="csY1" fmla="*/ 2180349 h 2210177"/>
              <a:gd name="csX2" fmla="*/ 223284 w 552893"/>
              <a:gd name="csY2" fmla="*/ 1957065 h 2210177"/>
              <a:gd name="csX3" fmla="*/ 212651 w 552893"/>
              <a:gd name="csY3" fmla="*/ 1255316 h 2210177"/>
              <a:gd name="csX4" fmla="*/ 202019 w 552893"/>
              <a:gd name="csY4" fmla="*/ 596098 h 2210177"/>
              <a:gd name="csX5" fmla="*/ 191386 w 552893"/>
              <a:gd name="csY5" fmla="*/ 170795 h 2210177"/>
              <a:gd name="csX6" fmla="*/ 233917 w 552893"/>
              <a:gd name="csY6" fmla="*/ 32572 h 2210177"/>
              <a:gd name="csX7" fmla="*/ 265814 w 552893"/>
              <a:gd name="csY7" fmla="*/ 170795 h 2210177"/>
              <a:gd name="csX8" fmla="*/ 308345 w 552893"/>
              <a:gd name="csY8" fmla="*/ 1659354 h 2210177"/>
              <a:gd name="csX9" fmla="*/ 340242 w 552893"/>
              <a:gd name="csY9" fmla="*/ 2127186 h 2210177"/>
              <a:gd name="csX10" fmla="*/ 552893 w 552893"/>
              <a:gd name="csY10" fmla="*/ 2190981 h 2210177"/>
              <a:gd name="csX0" fmla="*/ 0 w 552893"/>
              <a:gd name="csY0" fmla="*/ 3147237 h 3155800"/>
              <a:gd name="csX1" fmla="*/ 202019 w 552893"/>
              <a:gd name="csY1" fmla="*/ 3125972 h 3155800"/>
              <a:gd name="csX2" fmla="*/ 223284 w 552893"/>
              <a:gd name="csY2" fmla="*/ 2902688 h 3155800"/>
              <a:gd name="csX3" fmla="*/ 212651 w 552893"/>
              <a:gd name="csY3" fmla="*/ 2200939 h 3155800"/>
              <a:gd name="csX4" fmla="*/ 202019 w 552893"/>
              <a:gd name="csY4" fmla="*/ 1541721 h 3155800"/>
              <a:gd name="csX5" fmla="*/ 191386 w 552893"/>
              <a:gd name="csY5" fmla="*/ 1116418 h 3155800"/>
              <a:gd name="csX6" fmla="*/ 202020 w 552893"/>
              <a:gd name="csY6" fmla="*/ 0 h 3155800"/>
              <a:gd name="csX7" fmla="*/ 265814 w 552893"/>
              <a:gd name="csY7" fmla="*/ 1116418 h 3155800"/>
              <a:gd name="csX8" fmla="*/ 308345 w 552893"/>
              <a:gd name="csY8" fmla="*/ 2604977 h 3155800"/>
              <a:gd name="csX9" fmla="*/ 340242 w 552893"/>
              <a:gd name="csY9" fmla="*/ 3072809 h 3155800"/>
              <a:gd name="csX10" fmla="*/ 552893 w 552893"/>
              <a:gd name="csY10" fmla="*/ 3136604 h 3155800"/>
              <a:gd name="csX0" fmla="*/ 0 w 595423"/>
              <a:gd name="csY0" fmla="*/ 3147237 h 3179134"/>
              <a:gd name="csX1" fmla="*/ 202019 w 595423"/>
              <a:gd name="csY1" fmla="*/ 3125972 h 3179134"/>
              <a:gd name="csX2" fmla="*/ 223284 w 595423"/>
              <a:gd name="csY2" fmla="*/ 2902688 h 3179134"/>
              <a:gd name="csX3" fmla="*/ 212651 w 595423"/>
              <a:gd name="csY3" fmla="*/ 2200939 h 3179134"/>
              <a:gd name="csX4" fmla="*/ 202019 w 595423"/>
              <a:gd name="csY4" fmla="*/ 1541721 h 3179134"/>
              <a:gd name="csX5" fmla="*/ 191386 w 595423"/>
              <a:gd name="csY5" fmla="*/ 1116418 h 3179134"/>
              <a:gd name="csX6" fmla="*/ 202020 w 595423"/>
              <a:gd name="csY6" fmla="*/ 0 h 3179134"/>
              <a:gd name="csX7" fmla="*/ 265814 w 595423"/>
              <a:gd name="csY7" fmla="*/ 1116418 h 3179134"/>
              <a:gd name="csX8" fmla="*/ 308345 w 595423"/>
              <a:gd name="csY8" fmla="*/ 2604977 h 3179134"/>
              <a:gd name="csX9" fmla="*/ 340242 w 595423"/>
              <a:gd name="csY9" fmla="*/ 3072809 h 3179134"/>
              <a:gd name="csX10" fmla="*/ 595423 w 595423"/>
              <a:gd name="csY10" fmla="*/ 3179134 h 3179134"/>
              <a:gd name="csX0" fmla="*/ 0 w 595423"/>
              <a:gd name="csY0" fmla="*/ 3147237 h 3186137"/>
              <a:gd name="csX1" fmla="*/ 202019 w 595423"/>
              <a:gd name="csY1" fmla="*/ 3125972 h 3186137"/>
              <a:gd name="csX2" fmla="*/ 223284 w 595423"/>
              <a:gd name="csY2" fmla="*/ 2902688 h 3186137"/>
              <a:gd name="csX3" fmla="*/ 212651 w 595423"/>
              <a:gd name="csY3" fmla="*/ 2200939 h 3186137"/>
              <a:gd name="csX4" fmla="*/ 202019 w 595423"/>
              <a:gd name="csY4" fmla="*/ 1541721 h 3186137"/>
              <a:gd name="csX5" fmla="*/ 191386 w 595423"/>
              <a:gd name="csY5" fmla="*/ 1116418 h 3186137"/>
              <a:gd name="csX6" fmla="*/ 202020 w 595423"/>
              <a:gd name="csY6" fmla="*/ 0 h 3186137"/>
              <a:gd name="csX7" fmla="*/ 265814 w 595423"/>
              <a:gd name="csY7" fmla="*/ 1116418 h 3186137"/>
              <a:gd name="csX8" fmla="*/ 308345 w 595423"/>
              <a:gd name="csY8" fmla="*/ 2604977 h 3186137"/>
              <a:gd name="csX9" fmla="*/ 340242 w 595423"/>
              <a:gd name="csY9" fmla="*/ 3136604 h 3186137"/>
              <a:gd name="csX10" fmla="*/ 595423 w 595423"/>
              <a:gd name="csY10" fmla="*/ 3179134 h 3186137"/>
              <a:gd name="csX0" fmla="*/ 0 w 595423"/>
              <a:gd name="csY0" fmla="*/ 3147237 h 3186137"/>
              <a:gd name="csX1" fmla="*/ 202019 w 595423"/>
              <a:gd name="csY1" fmla="*/ 3168502 h 3186137"/>
              <a:gd name="csX2" fmla="*/ 223284 w 595423"/>
              <a:gd name="csY2" fmla="*/ 2902688 h 3186137"/>
              <a:gd name="csX3" fmla="*/ 212651 w 595423"/>
              <a:gd name="csY3" fmla="*/ 2200939 h 3186137"/>
              <a:gd name="csX4" fmla="*/ 202019 w 595423"/>
              <a:gd name="csY4" fmla="*/ 1541721 h 3186137"/>
              <a:gd name="csX5" fmla="*/ 191386 w 595423"/>
              <a:gd name="csY5" fmla="*/ 1116418 h 3186137"/>
              <a:gd name="csX6" fmla="*/ 202020 w 595423"/>
              <a:gd name="csY6" fmla="*/ 0 h 3186137"/>
              <a:gd name="csX7" fmla="*/ 265814 w 595423"/>
              <a:gd name="csY7" fmla="*/ 1116418 h 3186137"/>
              <a:gd name="csX8" fmla="*/ 308345 w 595423"/>
              <a:gd name="csY8" fmla="*/ 2604977 h 3186137"/>
              <a:gd name="csX9" fmla="*/ 340242 w 595423"/>
              <a:gd name="csY9" fmla="*/ 3136604 h 3186137"/>
              <a:gd name="csX10" fmla="*/ 595423 w 595423"/>
              <a:gd name="csY10" fmla="*/ 3179134 h 3186137"/>
              <a:gd name="csX0" fmla="*/ 0 w 595423"/>
              <a:gd name="csY0" fmla="*/ 3179134 h 3195108"/>
              <a:gd name="csX1" fmla="*/ 202019 w 595423"/>
              <a:gd name="csY1" fmla="*/ 3168502 h 3195108"/>
              <a:gd name="csX2" fmla="*/ 223284 w 595423"/>
              <a:gd name="csY2" fmla="*/ 2902688 h 3195108"/>
              <a:gd name="csX3" fmla="*/ 212651 w 595423"/>
              <a:gd name="csY3" fmla="*/ 2200939 h 3195108"/>
              <a:gd name="csX4" fmla="*/ 202019 w 595423"/>
              <a:gd name="csY4" fmla="*/ 1541721 h 3195108"/>
              <a:gd name="csX5" fmla="*/ 191386 w 595423"/>
              <a:gd name="csY5" fmla="*/ 1116418 h 3195108"/>
              <a:gd name="csX6" fmla="*/ 202020 w 595423"/>
              <a:gd name="csY6" fmla="*/ 0 h 3195108"/>
              <a:gd name="csX7" fmla="*/ 265814 w 595423"/>
              <a:gd name="csY7" fmla="*/ 1116418 h 3195108"/>
              <a:gd name="csX8" fmla="*/ 308345 w 595423"/>
              <a:gd name="csY8" fmla="*/ 2604977 h 3195108"/>
              <a:gd name="csX9" fmla="*/ 340242 w 595423"/>
              <a:gd name="csY9" fmla="*/ 3136604 h 3195108"/>
              <a:gd name="csX10" fmla="*/ 595423 w 595423"/>
              <a:gd name="csY10" fmla="*/ 3179134 h 3195108"/>
              <a:gd name="csX0" fmla="*/ 0 w 606055"/>
              <a:gd name="csY0" fmla="*/ 3179134 h 3211032"/>
              <a:gd name="csX1" fmla="*/ 202019 w 606055"/>
              <a:gd name="csY1" fmla="*/ 3168502 h 3211032"/>
              <a:gd name="csX2" fmla="*/ 223284 w 606055"/>
              <a:gd name="csY2" fmla="*/ 2902688 h 3211032"/>
              <a:gd name="csX3" fmla="*/ 212651 w 606055"/>
              <a:gd name="csY3" fmla="*/ 2200939 h 3211032"/>
              <a:gd name="csX4" fmla="*/ 202019 w 606055"/>
              <a:gd name="csY4" fmla="*/ 1541721 h 3211032"/>
              <a:gd name="csX5" fmla="*/ 191386 w 606055"/>
              <a:gd name="csY5" fmla="*/ 1116418 h 3211032"/>
              <a:gd name="csX6" fmla="*/ 202020 w 606055"/>
              <a:gd name="csY6" fmla="*/ 0 h 3211032"/>
              <a:gd name="csX7" fmla="*/ 265814 w 606055"/>
              <a:gd name="csY7" fmla="*/ 1116418 h 3211032"/>
              <a:gd name="csX8" fmla="*/ 308345 w 606055"/>
              <a:gd name="csY8" fmla="*/ 2604977 h 3211032"/>
              <a:gd name="csX9" fmla="*/ 340242 w 606055"/>
              <a:gd name="csY9" fmla="*/ 3136604 h 3211032"/>
              <a:gd name="csX10" fmla="*/ 606055 w 606055"/>
              <a:gd name="csY10" fmla="*/ 3211032 h 3211032"/>
              <a:gd name="csX0" fmla="*/ 0 w 616688"/>
              <a:gd name="csY0" fmla="*/ 3179134 h 3195108"/>
              <a:gd name="csX1" fmla="*/ 202019 w 616688"/>
              <a:gd name="csY1" fmla="*/ 3168502 h 3195108"/>
              <a:gd name="csX2" fmla="*/ 223284 w 616688"/>
              <a:gd name="csY2" fmla="*/ 2902688 h 3195108"/>
              <a:gd name="csX3" fmla="*/ 212651 w 616688"/>
              <a:gd name="csY3" fmla="*/ 2200939 h 3195108"/>
              <a:gd name="csX4" fmla="*/ 202019 w 616688"/>
              <a:gd name="csY4" fmla="*/ 1541721 h 3195108"/>
              <a:gd name="csX5" fmla="*/ 191386 w 616688"/>
              <a:gd name="csY5" fmla="*/ 1116418 h 3195108"/>
              <a:gd name="csX6" fmla="*/ 202020 w 616688"/>
              <a:gd name="csY6" fmla="*/ 0 h 3195108"/>
              <a:gd name="csX7" fmla="*/ 265814 w 616688"/>
              <a:gd name="csY7" fmla="*/ 1116418 h 3195108"/>
              <a:gd name="csX8" fmla="*/ 308345 w 616688"/>
              <a:gd name="csY8" fmla="*/ 2604977 h 3195108"/>
              <a:gd name="csX9" fmla="*/ 340242 w 616688"/>
              <a:gd name="csY9" fmla="*/ 3136604 h 3195108"/>
              <a:gd name="csX10" fmla="*/ 616688 w 616688"/>
              <a:gd name="csY10" fmla="*/ 3179134 h 3195108"/>
              <a:gd name="csX0" fmla="*/ 0 w 648585"/>
              <a:gd name="csY0" fmla="*/ 3200399 h 3207682"/>
              <a:gd name="csX1" fmla="*/ 233916 w 648585"/>
              <a:gd name="csY1" fmla="*/ 3168502 h 3207682"/>
              <a:gd name="csX2" fmla="*/ 255181 w 648585"/>
              <a:gd name="csY2" fmla="*/ 2902688 h 3207682"/>
              <a:gd name="csX3" fmla="*/ 244548 w 648585"/>
              <a:gd name="csY3" fmla="*/ 2200939 h 3207682"/>
              <a:gd name="csX4" fmla="*/ 233916 w 648585"/>
              <a:gd name="csY4" fmla="*/ 1541721 h 3207682"/>
              <a:gd name="csX5" fmla="*/ 223283 w 648585"/>
              <a:gd name="csY5" fmla="*/ 1116418 h 3207682"/>
              <a:gd name="csX6" fmla="*/ 233917 w 648585"/>
              <a:gd name="csY6" fmla="*/ 0 h 3207682"/>
              <a:gd name="csX7" fmla="*/ 297711 w 648585"/>
              <a:gd name="csY7" fmla="*/ 1116418 h 3207682"/>
              <a:gd name="csX8" fmla="*/ 340242 w 648585"/>
              <a:gd name="csY8" fmla="*/ 2604977 h 3207682"/>
              <a:gd name="csX9" fmla="*/ 372139 w 648585"/>
              <a:gd name="csY9" fmla="*/ 3136604 h 3207682"/>
              <a:gd name="csX10" fmla="*/ 648585 w 648585"/>
              <a:gd name="csY10" fmla="*/ 3179134 h 3207682"/>
              <a:gd name="csX0" fmla="*/ 0 w 648585"/>
              <a:gd name="csY0" fmla="*/ 3148530 h 3155813"/>
              <a:gd name="csX1" fmla="*/ 233916 w 648585"/>
              <a:gd name="csY1" fmla="*/ 3116633 h 3155813"/>
              <a:gd name="csX2" fmla="*/ 255181 w 648585"/>
              <a:gd name="csY2" fmla="*/ 2850819 h 3155813"/>
              <a:gd name="csX3" fmla="*/ 244548 w 648585"/>
              <a:gd name="csY3" fmla="*/ 2149070 h 3155813"/>
              <a:gd name="csX4" fmla="*/ 233916 w 648585"/>
              <a:gd name="csY4" fmla="*/ 1489852 h 3155813"/>
              <a:gd name="csX5" fmla="*/ 223283 w 648585"/>
              <a:gd name="csY5" fmla="*/ 1064549 h 3155813"/>
              <a:gd name="csX6" fmla="*/ 251869 w 648585"/>
              <a:gd name="csY6" fmla="*/ 0 h 3155813"/>
              <a:gd name="csX7" fmla="*/ 297711 w 648585"/>
              <a:gd name="csY7" fmla="*/ 1064549 h 3155813"/>
              <a:gd name="csX8" fmla="*/ 340242 w 648585"/>
              <a:gd name="csY8" fmla="*/ 2553108 h 3155813"/>
              <a:gd name="csX9" fmla="*/ 372139 w 648585"/>
              <a:gd name="csY9" fmla="*/ 3084735 h 3155813"/>
              <a:gd name="csX10" fmla="*/ 648585 w 648585"/>
              <a:gd name="csY10" fmla="*/ 3127265 h 3155813"/>
              <a:gd name="csX0" fmla="*/ 0 w 648585"/>
              <a:gd name="csY0" fmla="*/ 3148530 h 3185146"/>
              <a:gd name="csX1" fmla="*/ 233916 w 648585"/>
              <a:gd name="csY1" fmla="*/ 3116633 h 3185146"/>
              <a:gd name="csX2" fmla="*/ 255181 w 648585"/>
              <a:gd name="csY2" fmla="*/ 2850819 h 3185146"/>
              <a:gd name="csX3" fmla="*/ 244548 w 648585"/>
              <a:gd name="csY3" fmla="*/ 2149070 h 3185146"/>
              <a:gd name="csX4" fmla="*/ 233916 w 648585"/>
              <a:gd name="csY4" fmla="*/ 1489852 h 3185146"/>
              <a:gd name="csX5" fmla="*/ 223283 w 648585"/>
              <a:gd name="csY5" fmla="*/ 1064549 h 3185146"/>
              <a:gd name="csX6" fmla="*/ 251869 w 648585"/>
              <a:gd name="csY6" fmla="*/ 0 h 3185146"/>
              <a:gd name="csX7" fmla="*/ 297711 w 648585"/>
              <a:gd name="csY7" fmla="*/ 1064549 h 3185146"/>
              <a:gd name="csX8" fmla="*/ 340242 w 648585"/>
              <a:gd name="csY8" fmla="*/ 2553108 h 3185146"/>
              <a:gd name="csX9" fmla="*/ 354186 w 648585"/>
              <a:gd name="csY9" fmla="*/ 3153893 h 3185146"/>
              <a:gd name="csX10" fmla="*/ 648585 w 648585"/>
              <a:gd name="csY10" fmla="*/ 3127265 h 3185146"/>
              <a:gd name="csX0" fmla="*/ 0 w 684489"/>
              <a:gd name="csY0" fmla="*/ 3148530 h 3188312"/>
              <a:gd name="csX1" fmla="*/ 233916 w 684489"/>
              <a:gd name="csY1" fmla="*/ 3116633 h 3188312"/>
              <a:gd name="csX2" fmla="*/ 255181 w 684489"/>
              <a:gd name="csY2" fmla="*/ 2850819 h 3188312"/>
              <a:gd name="csX3" fmla="*/ 244548 w 684489"/>
              <a:gd name="csY3" fmla="*/ 2149070 h 3188312"/>
              <a:gd name="csX4" fmla="*/ 233916 w 684489"/>
              <a:gd name="csY4" fmla="*/ 1489852 h 3188312"/>
              <a:gd name="csX5" fmla="*/ 223283 w 684489"/>
              <a:gd name="csY5" fmla="*/ 1064549 h 3188312"/>
              <a:gd name="csX6" fmla="*/ 251869 w 684489"/>
              <a:gd name="csY6" fmla="*/ 0 h 3188312"/>
              <a:gd name="csX7" fmla="*/ 297711 w 684489"/>
              <a:gd name="csY7" fmla="*/ 1064549 h 3188312"/>
              <a:gd name="csX8" fmla="*/ 340242 w 684489"/>
              <a:gd name="csY8" fmla="*/ 2553108 h 3188312"/>
              <a:gd name="csX9" fmla="*/ 354186 w 684489"/>
              <a:gd name="csY9" fmla="*/ 3153893 h 3188312"/>
              <a:gd name="csX10" fmla="*/ 684489 w 684489"/>
              <a:gd name="csY10" fmla="*/ 3144554 h 3188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84489" h="3188312">
                <a:moveTo>
                  <a:pt x="0" y="3148530"/>
                </a:moveTo>
                <a:cubicBezTo>
                  <a:pt x="82402" y="3158276"/>
                  <a:pt x="191386" y="3166251"/>
                  <a:pt x="233916" y="3116633"/>
                </a:cubicBezTo>
                <a:cubicBezTo>
                  <a:pt x="276446" y="3067015"/>
                  <a:pt x="253409" y="3012079"/>
                  <a:pt x="255181" y="2850819"/>
                </a:cubicBezTo>
                <a:cubicBezTo>
                  <a:pt x="256953" y="2689559"/>
                  <a:pt x="248092" y="2375898"/>
                  <a:pt x="244548" y="2149070"/>
                </a:cubicBezTo>
                <a:cubicBezTo>
                  <a:pt x="241004" y="1922242"/>
                  <a:pt x="237460" y="1670605"/>
                  <a:pt x="233916" y="1489852"/>
                </a:cubicBezTo>
                <a:cubicBezTo>
                  <a:pt x="230372" y="1309099"/>
                  <a:pt x="220291" y="1312858"/>
                  <a:pt x="223283" y="1064549"/>
                </a:cubicBezTo>
                <a:cubicBezTo>
                  <a:pt x="226275" y="816240"/>
                  <a:pt x="239464" y="0"/>
                  <a:pt x="251869" y="0"/>
                </a:cubicBezTo>
                <a:cubicBezTo>
                  <a:pt x="264274" y="0"/>
                  <a:pt x="282982" y="639031"/>
                  <a:pt x="297711" y="1064549"/>
                </a:cubicBezTo>
                <a:cubicBezTo>
                  <a:pt x="312440" y="1490067"/>
                  <a:pt x="330830" y="2204884"/>
                  <a:pt x="340242" y="2553108"/>
                </a:cubicBezTo>
                <a:cubicBezTo>
                  <a:pt x="349654" y="2901332"/>
                  <a:pt x="313428" y="3065289"/>
                  <a:pt x="354186" y="3153893"/>
                </a:cubicBezTo>
                <a:cubicBezTo>
                  <a:pt x="394944" y="3242497"/>
                  <a:pt x="641959" y="3130377"/>
                  <a:pt x="684489" y="3144554"/>
                </a:cubicBezTo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FC3EAEE-37AE-05BF-1E14-A1B7AD724896}"/>
              </a:ext>
            </a:extLst>
          </p:cNvPr>
          <p:cNvGrpSpPr/>
          <p:nvPr/>
        </p:nvGrpSpPr>
        <p:grpSpPr>
          <a:xfrm>
            <a:off x="1628905" y="4758601"/>
            <a:ext cx="3283848" cy="1232883"/>
            <a:chOff x="1628905" y="4758601"/>
            <a:chExt cx="3283848" cy="12328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88B5B09D-7142-26E2-6ECE-1532D6C9897E}"/>
                    </a:ext>
                  </a:extLst>
                </p:cNvPr>
                <p:cNvSpPr txBox="1"/>
                <p:nvPr/>
              </p:nvSpPr>
              <p:spPr>
                <a:xfrm>
                  <a:off x="1628905" y="5269042"/>
                  <a:ext cx="3283848" cy="7224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1=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̃"/>
                                                    <m:ctrlP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𝑊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sz="16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𝑅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p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∆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𝐹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→</m:t>
                                                </m:r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p>
                                            </m:sSup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600" dirty="0"/>
                                              <m:t> 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ℙ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acc>
                                                  <m:accPr>
                                                    <m:chr m:val="̃"/>
                                                    <m:ctrlP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𝑊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sz="16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16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𝐹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p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)+∆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𝐹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→</m:t>
                                                </m:r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p>
                                            </m:sSup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600" dirty="0"/>
                                              <m:t> 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ℙ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88B5B09D-7142-26E2-6ECE-1532D6C989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8905" y="5269042"/>
                  <a:ext cx="3283848" cy="722442"/>
                </a:xfrm>
                <a:prstGeom prst="rect">
                  <a:avLst/>
                </a:prstGeom>
                <a:blipFill>
                  <a:blip r:embed="rId12"/>
                  <a:stretch>
                    <a:fillRect l="-1158" t="-3448" b="-517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B5143B6-8774-EFDC-BC8A-8AE63674FE01}"/>
                </a:ext>
              </a:extLst>
            </p:cNvPr>
            <p:cNvSpPr txBox="1"/>
            <p:nvPr/>
          </p:nvSpPr>
          <p:spPr>
            <a:xfrm>
              <a:off x="2159177" y="4758601"/>
              <a:ext cx="22812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Targeted BAR (TBAR)</a:t>
              </a:r>
            </a:p>
          </p:txBody>
        </p:sp>
      </p:grp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AB484E5-AF96-FC0B-1FDE-FE0CB9C562C2}"/>
              </a:ext>
            </a:extLst>
          </p:cNvPr>
          <p:cNvCxnSpPr/>
          <p:nvPr/>
        </p:nvCxnSpPr>
        <p:spPr>
          <a:xfrm>
            <a:off x="6835642" y="4516399"/>
            <a:ext cx="511456" cy="522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2A6DDD7-85C9-C108-808B-59DEF6031136}"/>
              </a:ext>
            </a:extLst>
          </p:cNvPr>
          <p:cNvCxnSpPr>
            <a:cxnSpLocks/>
          </p:cNvCxnSpPr>
          <p:nvPr/>
        </p:nvCxnSpPr>
        <p:spPr>
          <a:xfrm>
            <a:off x="6840863" y="4517597"/>
            <a:ext cx="888509" cy="4796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095350E-FEA1-28A4-3372-64F81BF8D00D}"/>
              </a:ext>
            </a:extLst>
          </p:cNvPr>
          <p:cNvCxnSpPr>
            <a:cxnSpLocks/>
          </p:cNvCxnSpPr>
          <p:nvPr/>
        </p:nvCxnSpPr>
        <p:spPr>
          <a:xfrm flipH="1">
            <a:off x="7750845" y="4873732"/>
            <a:ext cx="811425" cy="1177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CA4CFEE3-3EBD-A7F9-3F31-C9D4F7E3FFB1}"/>
              </a:ext>
            </a:extLst>
          </p:cNvPr>
          <p:cNvSpPr/>
          <p:nvPr/>
        </p:nvSpPr>
        <p:spPr>
          <a:xfrm>
            <a:off x="410341" y="1091314"/>
            <a:ext cx="11530364" cy="62329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overlap between Boltzmann distributions is determined by the overlap of 1D distributions of the “</a:t>
            </a:r>
            <a:r>
              <a:rPr lang="en-US" i="1" dirty="0">
                <a:solidFill>
                  <a:schemeClr val="tx1"/>
                </a:solidFill>
              </a:rPr>
              <a:t>work of infinitely fast switching</a:t>
            </a:r>
            <a:r>
              <a:rPr lang="en-US" dirty="0">
                <a:solidFill>
                  <a:schemeClr val="tx1"/>
                </a:solidFill>
              </a:rPr>
              <a:t>” between ensembles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CC38F7-D0E9-F3D9-8465-D6DCED47FD2A}"/>
                  </a:ext>
                </a:extLst>
              </p:cNvPr>
              <p:cNvSpPr txBox="1"/>
              <p:nvPr/>
            </p:nvSpPr>
            <p:spPr>
              <a:xfrm>
                <a:off x="1127180" y="1857653"/>
                <a:ext cx="3016050" cy="683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CC38F7-D0E9-F3D9-8465-D6DCED47F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80" y="1857653"/>
                <a:ext cx="3016050" cy="683520"/>
              </a:xfrm>
              <a:prstGeom prst="rect">
                <a:avLst/>
              </a:prstGeom>
              <a:blipFill>
                <a:blip r:embed="rId13"/>
                <a:stretch>
                  <a:fillRect b="-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00C2BEB-E076-C4C5-A81A-77F2B60BD9F6}"/>
                  </a:ext>
                </a:extLst>
              </p:cNvPr>
              <p:cNvSpPr txBox="1"/>
              <p:nvPr/>
            </p:nvSpPr>
            <p:spPr>
              <a:xfrm>
                <a:off x="5230875" y="1829675"/>
                <a:ext cx="5833943" cy="728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det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𝒥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00C2BEB-E076-C4C5-A81A-77F2B60BD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875" y="1829675"/>
                <a:ext cx="5833943" cy="728020"/>
              </a:xfrm>
              <a:prstGeom prst="rect">
                <a:avLst/>
              </a:prstGeom>
              <a:blipFill>
                <a:blip r:embed="rId14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982600C-696E-A475-E5E3-E68D76DA8619}"/>
                  </a:ext>
                </a:extLst>
              </p:cNvPr>
              <p:cNvSpPr txBox="1"/>
              <p:nvPr/>
            </p:nvSpPr>
            <p:spPr>
              <a:xfrm>
                <a:off x="4348798" y="1980695"/>
                <a:ext cx="645626" cy="3843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vertJc m:val="bot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groupCh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982600C-696E-A475-E5E3-E68D76DA8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798" y="1980695"/>
                <a:ext cx="645626" cy="384336"/>
              </a:xfrm>
              <a:prstGeom prst="rect">
                <a:avLst/>
              </a:prstGeom>
              <a:blipFill>
                <a:blip r:embed="rId15"/>
                <a:stretch>
                  <a:fillRect l="-1923" t="-6452"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187109-4A24-079D-700E-E42338621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26478"/>
            <a:ext cx="2743200" cy="365125"/>
          </a:xfrm>
        </p:spPr>
        <p:txBody>
          <a:bodyPr/>
          <a:lstStyle/>
          <a:p>
            <a:fld id="{57FA8C4A-3364-AF4B-A283-FA38924849CE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0FB42-D76C-3F28-C33F-1A1C3838AE08}"/>
              </a:ext>
            </a:extLst>
          </p:cNvPr>
          <p:cNvSpPr txBox="1"/>
          <p:nvPr/>
        </p:nvSpPr>
        <p:spPr>
          <a:xfrm>
            <a:off x="339492" y="6604426"/>
            <a:ext cx="63746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[1] A. M. Hahn &amp; H. Then. 2009. Using bijective maps to improve free energy estimates. 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Phys. Rev. E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. 79.</a:t>
            </a:r>
          </a:p>
        </p:txBody>
      </p:sp>
    </p:spTree>
    <p:extLst>
      <p:ext uri="{BB962C8B-B14F-4D97-AF65-F5344CB8AC3E}">
        <p14:creationId xmlns:p14="http://schemas.microsoft.com/office/powerpoint/2010/main" val="427232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4" grpId="0" animBg="1"/>
      <p:bldP spid="50" grpId="0" animBg="1"/>
      <p:bldP spid="50" grpId="1" animBg="1"/>
      <p:bldP spid="51" grpId="0" animBg="1"/>
      <p:bldP spid="51" grpId="1" animBg="1"/>
      <p:bldP spid="52" grpId="0"/>
      <p:bldP spid="52" grpId="1"/>
      <p:bldP spid="63" grpId="0"/>
      <p:bldP spid="64" grpId="0"/>
      <p:bldP spid="65" grpId="0" animBg="1"/>
      <p:bldP spid="66" grpId="0"/>
      <p:bldP spid="79" grpId="0"/>
      <p:bldP spid="80" grpId="0" animBg="1"/>
      <p:bldP spid="102" grpId="0" animBg="1"/>
      <p:bldP spid="58" grpId="0"/>
      <p:bldP spid="61" grpId="0"/>
      <p:bldP spid="10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F9A31B-07B3-693D-6E4D-696B13778E2E}"/>
              </a:ext>
            </a:extLst>
          </p:cNvPr>
          <p:cNvSpPr txBox="1">
            <a:spLocks/>
          </p:cNvSpPr>
          <p:nvPr/>
        </p:nvSpPr>
        <p:spPr>
          <a:xfrm>
            <a:off x="341586" y="182944"/>
            <a:ext cx="10057056" cy="613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Training &amp; Constructing Normalizing Flows in Chemical Physics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14AFA4-02FE-EA9D-FAB5-2590178E5A72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9F57D4-D212-DF05-E6A2-68C9286366AA}"/>
              </a:ext>
            </a:extLst>
          </p:cNvPr>
          <p:cNvSpPr/>
          <p:nvPr/>
        </p:nvSpPr>
        <p:spPr>
          <a:xfrm>
            <a:off x="1169113" y="1001185"/>
            <a:ext cx="9875310" cy="43031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“Boltzmann Generators” </a:t>
            </a:r>
            <a:r>
              <a:rPr lang="en-US" i="1" dirty="0">
                <a:solidFill>
                  <a:schemeClr val="tx1"/>
                </a:solidFill>
              </a:rPr>
              <a:t>must obey the symmetries present in the molecular simulations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F32D0F42-B4C1-8548-0C3C-FB4456A2595A}"/>
                  </a:ext>
                </a:extLst>
              </p:cNvPr>
              <p:cNvSpPr/>
              <p:nvPr/>
            </p:nvSpPr>
            <p:spPr>
              <a:xfrm>
                <a:off x="330818" y="4240006"/>
                <a:ext cx="11530364" cy="2275657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 form of the Boltzmann distribution allows us to express the KLD loss function as an ensemble average.</a:t>
                </a:r>
              </a:p>
              <a:p>
                <a:pPr algn="ctr"/>
                <a:endParaRPr lang="en-US" sz="8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𝔻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ℙ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𝔻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ℙ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p>
                                    <m:sSupPr>
                                      <m:ctrlP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p>
                                      <m: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𝔻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useful if we want to avoid generating samples from an expensive target potential (state 1)! </a:t>
                </a:r>
                <a:r>
                  <a:rPr lang="en-US" b="1" dirty="0">
                    <a:solidFill>
                      <a:schemeClr val="tx1"/>
                    </a:solidFill>
                  </a:rPr>
                  <a:t>Generally, minimizing these losses is </a:t>
                </a:r>
                <a:r>
                  <a:rPr lang="en-US" b="1" i="1" dirty="0">
                    <a:solidFill>
                      <a:schemeClr val="tx1"/>
                    </a:solidFill>
                  </a:rPr>
                  <a:t>very expensive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F32D0F42-B4C1-8548-0C3C-FB4456A25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18" y="4240006"/>
                <a:ext cx="11530364" cy="227565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DB74ECD7-38FC-8840-E383-1975FFD58B78}"/>
              </a:ext>
            </a:extLst>
          </p:cNvPr>
          <p:cNvGrpSpPr/>
          <p:nvPr/>
        </p:nvGrpSpPr>
        <p:grpSpPr>
          <a:xfrm>
            <a:off x="410341" y="3310549"/>
            <a:ext cx="5892623" cy="652551"/>
            <a:chOff x="410341" y="3310549"/>
            <a:chExt cx="5892623" cy="65255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364E3C0-CF2B-661D-4695-F8968738D1B9}"/>
                </a:ext>
              </a:extLst>
            </p:cNvPr>
            <p:cNvSpPr/>
            <p:nvPr/>
          </p:nvSpPr>
          <p:spPr>
            <a:xfrm>
              <a:off x="410341" y="3323284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C74DB3B-EDC6-8A40-6BB1-E8F6D0564F0D}"/>
                    </a:ext>
                  </a:extLst>
                </p:cNvPr>
                <p:cNvSpPr txBox="1"/>
                <p:nvPr/>
              </p:nvSpPr>
              <p:spPr>
                <a:xfrm>
                  <a:off x="822870" y="3310549"/>
                  <a:ext cx="5480094" cy="6525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Periodic Boundary Conditions (PBCs) </a:t>
                  </a:r>
                  <a14:m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…,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𝕋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C74DB3B-EDC6-8A40-6BB1-E8F6D0564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870" y="3310549"/>
                  <a:ext cx="5480094" cy="652551"/>
                </a:xfrm>
                <a:prstGeom prst="rect">
                  <a:avLst/>
                </a:prstGeom>
                <a:blipFill>
                  <a:blip r:embed="rId4"/>
                  <a:stretch>
                    <a:fillRect l="-924" t="-3846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1D28F04-EA1A-69DA-8361-F7B15F0E8A28}"/>
              </a:ext>
            </a:extLst>
          </p:cNvPr>
          <p:cNvGrpSpPr/>
          <p:nvPr/>
        </p:nvGrpSpPr>
        <p:grpSpPr>
          <a:xfrm>
            <a:off x="410341" y="1777342"/>
            <a:ext cx="5714125" cy="384834"/>
            <a:chOff x="410341" y="1777342"/>
            <a:chExt cx="5714125" cy="38483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A943057-C12A-C7D6-38F5-DFDFD10D4D44}"/>
                </a:ext>
              </a:extLst>
            </p:cNvPr>
            <p:cNvSpPr/>
            <p:nvPr/>
          </p:nvSpPr>
          <p:spPr>
            <a:xfrm>
              <a:off x="410341" y="1796416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F50CC09-5603-162E-935A-1B2B7F3CE614}"/>
                </a:ext>
              </a:extLst>
            </p:cNvPr>
            <p:cNvSpPr txBox="1"/>
            <p:nvPr/>
          </p:nvSpPr>
          <p:spPr>
            <a:xfrm>
              <a:off x="851336" y="1777342"/>
              <a:ext cx="5273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Rigid translations</a:t>
              </a:r>
              <a:endParaRPr lang="en-US" sz="16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CFECD0-687F-B8A7-D67F-B5583B97ECE1}"/>
              </a:ext>
            </a:extLst>
          </p:cNvPr>
          <p:cNvGrpSpPr/>
          <p:nvPr/>
        </p:nvGrpSpPr>
        <p:grpSpPr>
          <a:xfrm>
            <a:off x="410341" y="2786678"/>
            <a:ext cx="5002619" cy="396960"/>
            <a:chOff x="410341" y="2786678"/>
            <a:chExt cx="5002619" cy="39696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4350318-6357-6198-AD59-FB20E9B109DC}"/>
                </a:ext>
              </a:extLst>
            </p:cNvPr>
            <p:cNvSpPr/>
            <p:nvPr/>
          </p:nvSpPr>
          <p:spPr>
            <a:xfrm>
              <a:off x="410341" y="2817878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DDD13B-09EE-E576-492F-F808EAD9818B}"/>
                </a:ext>
              </a:extLst>
            </p:cNvPr>
            <p:cNvSpPr txBox="1"/>
            <p:nvPr/>
          </p:nvSpPr>
          <p:spPr>
            <a:xfrm>
              <a:off x="822870" y="2786678"/>
              <a:ext cx="45900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Particle permutation invariance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288155-735E-5DC4-8929-A9034FCE0897}"/>
              </a:ext>
            </a:extLst>
          </p:cNvPr>
          <p:cNvGrpSpPr/>
          <p:nvPr/>
        </p:nvGrpSpPr>
        <p:grpSpPr>
          <a:xfrm>
            <a:off x="410341" y="2278812"/>
            <a:ext cx="5685659" cy="378495"/>
            <a:chOff x="410341" y="2278812"/>
            <a:chExt cx="5685659" cy="37849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74C8EAE-A9E1-41A8-5E50-4B3BD19E87DE}"/>
                </a:ext>
              </a:extLst>
            </p:cNvPr>
            <p:cNvSpPr/>
            <p:nvPr/>
          </p:nvSpPr>
          <p:spPr>
            <a:xfrm>
              <a:off x="410341" y="2291547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E6EE807-9F70-06AD-93AB-203C912934AD}"/>
                </a:ext>
              </a:extLst>
            </p:cNvPr>
            <p:cNvSpPr txBox="1"/>
            <p:nvPr/>
          </p:nvSpPr>
          <p:spPr>
            <a:xfrm>
              <a:off x="822870" y="2278812"/>
              <a:ext cx="5273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Reflections / Rotations from </a:t>
              </a:r>
              <a:r>
                <a:rPr lang="en-US" i="1" dirty="0"/>
                <a:t>Octahedral group</a:t>
              </a:r>
              <a:endParaRPr lang="en-US" sz="1600" i="1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F4F492E-53E3-6937-D40F-0F61DBDC3112}"/>
              </a:ext>
            </a:extLst>
          </p:cNvPr>
          <p:cNvGrpSpPr/>
          <p:nvPr/>
        </p:nvGrpSpPr>
        <p:grpSpPr>
          <a:xfrm>
            <a:off x="6457617" y="1661032"/>
            <a:ext cx="5281611" cy="1417320"/>
            <a:chOff x="6457617" y="1661032"/>
            <a:chExt cx="5281611" cy="1417320"/>
          </a:xfrm>
        </p:grpSpPr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FF05AB44-94B5-04C5-281A-CFA26A1541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457617" y="1661032"/>
              <a:ext cx="3737568" cy="1417320"/>
              <a:chOff x="6095899" y="1658223"/>
              <a:chExt cx="4832398" cy="1832490"/>
            </a:xfrm>
          </p:grpSpPr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E9CABFA3-ACE1-9430-CDBD-50DB7F230405}"/>
                  </a:ext>
                </a:extLst>
              </p:cNvPr>
              <p:cNvGrpSpPr/>
              <p:nvPr/>
            </p:nvGrpSpPr>
            <p:grpSpPr>
              <a:xfrm rot="5400000">
                <a:off x="9164113" y="1671923"/>
                <a:ext cx="1699564" cy="1766013"/>
                <a:chOff x="6858690" y="2232671"/>
                <a:chExt cx="1699564" cy="1766013"/>
              </a:xfrm>
            </p:grpSpPr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80DDCDEF-92FC-2F8A-46FD-C99DDAFA076A}"/>
                    </a:ext>
                  </a:extLst>
                </p:cNvPr>
                <p:cNvSpPr/>
                <p:nvPr/>
              </p:nvSpPr>
              <p:spPr>
                <a:xfrm rot="5400000">
                  <a:off x="7918404" y="3126578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99559976-979D-F3C7-A37B-D9AC405227C5}"/>
                    </a:ext>
                  </a:extLst>
                </p:cNvPr>
                <p:cNvSpPr/>
                <p:nvPr/>
              </p:nvSpPr>
              <p:spPr>
                <a:xfrm rot="5400000">
                  <a:off x="7904011" y="2624340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20040810-F0CD-6709-8AE4-D3DC0CA788D1}"/>
                    </a:ext>
                  </a:extLst>
                </p:cNvPr>
                <p:cNvSpPr/>
                <p:nvPr/>
              </p:nvSpPr>
              <p:spPr>
                <a:xfrm rot="5400000">
                  <a:off x="7851729" y="3481045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DE8F3ED4-1AF2-46E2-48A6-7D20A45FB068}"/>
                    </a:ext>
                  </a:extLst>
                </p:cNvPr>
                <p:cNvSpPr/>
                <p:nvPr/>
              </p:nvSpPr>
              <p:spPr>
                <a:xfrm rot="5400000">
                  <a:off x="7276103" y="2802064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4DED50E8-14B1-E459-A246-91C9B4A31722}"/>
                    </a:ext>
                  </a:extLst>
                </p:cNvPr>
                <p:cNvSpPr/>
                <p:nvPr/>
              </p:nvSpPr>
              <p:spPr>
                <a:xfrm rot="5400000">
                  <a:off x="7453371" y="2452382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04FC551A-91C0-68C5-4F35-44A2CBE7C58A}"/>
                    </a:ext>
                  </a:extLst>
                </p:cNvPr>
                <p:cNvSpPr/>
                <p:nvPr/>
              </p:nvSpPr>
              <p:spPr>
                <a:xfrm rot="5400000">
                  <a:off x="7631268" y="3305526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42983A82-E84B-E797-089B-7A55E658D2B5}"/>
                    </a:ext>
                  </a:extLst>
                </p:cNvPr>
                <p:cNvSpPr/>
                <p:nvPr/>
              </p:nvSpPr>
              <p:spPr>
                <a:xfrm rot="5400000">
                  <a:off x="7119167" y="3369133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2C6C05F9-568A-0223-6237-9593EFA4D73C}"/>
                    </a:ext>
                  </a:extLst>
                </p:cNvPr>
                <p:cNvSpPr/>
                <p:nvPr/>
              </p:nvSpPr>
              <p:spPr>
                <a:xfrm rot="5400000">
                  <a:off x="7378245" y="3308425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44A0BDAA-8EAD-E861-E269-2A365AADF62B}"/>
                    </a:ext>
                  </a:extLst>
                </p:cNvPr>
                <p:cNvSpPr/>
                <p:nvPr/>
              </p:nvSpPr>
              <p:spPr>
                <a:xfrm rot="5400000">
                  <a:off x="8182668" y="3282245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3A8818BA-EFE2-EE35-19F6-904620539027}"/>
                    </a:ext>
                  </a:extLst>
                </p:cNvPr>
                <p:cNvSpPr/>
                <p:nvPr/>
              </p:nvSpPr>
              <p:spPr>
                <a:xfrm rot="5400000">
                  <a:off x="7979962" y="2850599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C8A339BD-11FA-492E-851B-DD0614C58FD6}"/>
                    </a:ext>
                  </a:extLst>
                </p:cNvPr>
                <p:cNvSpPr/>
                <p:nvPr/>
              </p:nvSpPr>
              <p:spPr>
                <a:xfrm rot="5400000">
                  <a:off x="8098756" y="3576077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E6ED21E0-0A0F-7DA6-1317-14D7D6208159}"/>
                    </a:ext>
                  </a:extLst>
                </p:cNvPr>
                <p:cNvSpPr/>
                <p:nvPr/>
              </p:nvSpPr>
              <p:spPr>
                <a:xfrm rot="5400000">
                  <a:off x="7349198" y="3031545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A855AF7B-D817-3E75-FD24-63C0A946C4F6}"/>
                    </a:ext>
                  </a:extLst>
                </p:cNvPr>
                <p:cNvSpPr/>
                <p:nvPr/>
              </p:nvSpPr>
              <p:spPr>
                <a:xfrm rot="5400000">
                  <a:off x="7619316" y="2708408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EF427022-8F16-5563-2409-7BA06B9AF7CE}"/>
                    </a:ext>
                  </a:extLst>
                </p:cNvPr>
                <p:cNvSpPr/>
                <p:nvPr/>
              </p:nvSpPr>
              <p:spPr>
                <a:xfrm rot="5400000">
                  <a:off x="7622330" y="3027196"/>
                  <a:ext cx="190067" cy="190067"/>
                </a:xfrm>
                <a:prstGeom prst="ellipse">
                  <a:avLst/>
                </a:prstGeom>
                <a:pattFill prst="ltUpDiag">
                  <a:fgClr>
                    <a:schemeClr val="accent2">
                      <a:lumMod val="75000"/>
                    </a:schemeClr>
                  </a:fgClr>
                  <a:bgClr>
                    <a:schemeClr val="bg1"/>
                  </a:bgClr>
                </a:patt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15B5C77B-56F1-1149-3924-2D0B8D163751}"/>
                    </a:ext>
                  </a:extLst>
                </p:cNvPr>
                <p:cNvSpPr/>
                <p:nvPr/>
              </p:nvSpPr>
              <p:spPr>
                <a:xfrm rot="5400000">
                  <a:off x="7311143" y="3565417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536FDCBC-514E-C895-FF21-204B5328C483}"/>
                    </a:ext>
                  </a:extLst>
                </p:cNvPr>
                <p:cNvSpPr/>
                <p:nvPr/>
              </p:nvSpPr>
              <p:spPr>
                <a:xfrm rot="5400000">
                  <a:off x="7580803" y="3683980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CF0F5FEF-56E4-5F74-581A-EBDA0B1D4A0D}"/>
                    </a:ext>
                  </a:extLst>
                </p:cNvPr>
                <p:cNvSpPr/>
                <p:nvPr/>
              </p:nvSpPr>
              <p:spPr>
                <a:xfrm rot="5400000">
                  <a:off x="8337594" y="3015009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81E40DA0-CFDA-EC2C-405A-DF8BDC3AC7B1}"/>
                    </a:ext>
                  </a:extLst>
                </p:cNvPr>
                <p:cNvSpPr/>
                <p:nvPr/>
              </p:nvSpPr>
              <p:spPr>
                <a:xfrm rot="5400000">
                  <a:off x="7095180" y="3091733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54B8FB60-AF6C-133F-282D-40AEDE9AA70F}"/>
                    </a:ext>
                  </a:extLst>
                </p:cNvPr>
                <p:cNvSpPr/>
                <p:nvPr/>
              </p:nvSpPr>
              <p:spPr>
                <a:xfrm rot="5400000">
                  <a:off x="6932106" y="2821270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FA035E41-DE34-02B0-3ABB-66CFD025BC63}"/>
                    </a:ext>
                  </a:extLst>
                </p:cNvPr>
                <p:cNvSpPr/>
                <p:nvPr/>
              </p:nvSpPr>
              <p:spPr>
                <a:xfrm rot="5400000">
                  <a:off x="7209377" y="2547414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C44A67D4-679A-9EAD-755C-1B8A27D68951}"/>
                    </a:ext>
                  </a:extLst>
                </p:cNvPr>
                <p:cNvSpPr/>
                <p:nvPr/>
              </p:nvSpPr>
              <p:spPr>
                <a:xfrm rot="5400000">
                  <a:off x="6981549" y="3774671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D2CFFCE0-90BB-B02A-906B-CA9544CFE81E}"/>
                    </a:ext>
                  </a:extLst>
                </p:cNvPr>
                <p:cNvSpPr/>
                <p:nvPr/>
              </p:nvSpPr>
              <p:spPr>
                <a:xfrm rot="5400000">
                  <a:off x="6861109" y="2276144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1C29A0FA-6863-ED8F-5768-3534FF619F27}"/>
                    </a:ext>
                  </a:extLst>
                </p:cNvPr>
                <p:cNvSpPr/>
                <p:nvPr/>
              </p:nvSpPr>
              <p:spPr>
                <a:xfrm rot="5400000">
                  <a:off x="8308790" y="2743072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315B2EEC-F1DD-73C7-DADA-B34A7BDC4793}"/>
                    </a:ext>
                  </a:extLst>
                </p:cNvPr>
                <p:cNvSpPr/>
                <p:nvPr/>
              </p:nvSpPr>
              <p:spPr>
                <a:xfrm rot="5400000">
                  <a:off x="7758511" y="2419990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AF02078C-7702-1490-0738-AE3B7728B0FE}"/>
                    </a:ext>
                  </a:extLst>
                </p:cNvPr>
                <p:cNvSpPr/>
                <p:nvPr/>
              </p:nvSpPr>
              <p:spPr>
                <a:xfrm rot="5400000">
                  <a:off x="8108471" y="2486345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12F72225-BD4F-5F9E-4483-8020CBA5F4E4}"/>
                    </a:ext>
                  </a:extLst>
                </p:cNvPr>
                <p:cNvSpPr/>
                <p:nvPr/>
              </p:nvSpPr>
              <p:spPr>
                <a:xfrm rot="5400000">
                  <a:off x="6893383" y="3510847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A4EF82A4-1246-1AB4-6A64-ACC771F633F6}"/>
                    </a:ext>
                  </a:extLst>
                </p:cNvPr>
                <p:cNvSpPr/>
                <p:nvPr/>
              </p:nvSpPr>
              <p:spPr>
                <a:xfrm rot="5400000">
                  <a:off x="7883452" y="3774672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5368D172-2B88-E1DA-006A-7BEC2CD73C88}"/>
                    </a:ext>
                  </a:extLst>
                </p:cNvPr>
                <p:cNvSpPr/>
                <p:nvPr/>
              </p:nvSpPr>
              <p:spPr>
                <a:xfrm rot="5400000">
                  <a:off x="7194899" y="2249817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228AECD1-61BD-18B0-901E-E01865EE7C19}"/>
                    </a:ext>
                  </a:extLst>
                </p:cNvPr>
                <p:cNvSpPr/>
                <p:nvPr/>
              </p:nvSpPr>
              <p:spPr>
                <a:xfrm rot="5400000">
                  <a:off x="8314637" y="3769879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5FAABDE7-73CE-9E99-18E3-CC1415F04CDB}"/>
                    </a:ext>
                  </a:extLst>
                </p:cNvPr>
                <p:cNvSpPr/>
                <p:nvPr/>
              </p:nvSpPr>
              <p:spPr>
                <a:xfrm rot="5400000">
                  <a:off x="8368187" y="3481044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F226B43E-2F40-8EB4-CCC7-6E58B2067563}"/>
                    </a:ext>
                  </a:extLst>
                </p:cNvPr>
                <p:cNvSpPr/>
                <p:nvPr/>
              </p:nvSpPr>
              <p:spPr>
                <a:xfrm rot="5400000">
                  <a:off x="8367478" y="2367742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2EB537F7-DAE9-1409-18DE-051547340577}"/>
                    </a:ext>
                  </a:extLst>
                </p:cNvPr>
                <p:cNvSpPr/>
                <p:nvPr/>
              </p:nvSpPr>
              <p:spPr>
                <a:xfrm rot="5400000">
                  <a:off x="8037750" y="2232671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8AB5A394-6AE1-D691-CC9E-C4BD87185368}"/>
                    </a:ext>
                  </a:extLst>
                </p:cNvPr>
                <p:cNvSpPr/>
                <p:nvPr/>
              </p:nvSpPr>
              <p:spPr>
                <a:xfrm rot="5400000">
                  <a:off x="6947159" y="2538684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E9DADC3C-3DB4-9C6B-BD36-B3F2510F136D}"/>
                    </a:ext>
                  </a:extLst>
                </p:cNvPr>
                <p:cNvSpPr/>
                <p:nvPr/>
              </p:nvSpPr>
              <p:spPr>
                <a:xfrm rot="5400000">
                  <a:off x="6858690" y="3156090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3D46F97C-C8D4-2036-02F1-8E10B61D0F8C}"/>
                    </a:ext>
                  </a:extLst>
                </p:cNvPr>
                <p:cNvSpPr/>
                <p:nvPr/>
              </p:nvSpPr>
              <p:spPr>
                <a:xfrm rot="5400000">
                  <a:off x="7600885" y="2236209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694F2F97-450A-5726-511B-300B82F85E7A}"/>
                    </a:ext>
                  </a:extLst>
                </p:cNvPr>
                <p:cNvSpPr/>
                <p:nvPr/>
              </p:nvSpPr>
              <p:spPr>
                <a:xfrm rot="5400000">
                  <a:off x="7299026" y="3808617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5201416F-4973-CA20-5AE0-3A3BA8E90ABD}"/>
                  </a:ext>
                </a:extLst>
              </p:cNvPr>
              <p:cNvGrpSpPr/>
              <p:nvPr/>
            </p:nvGrpSpPr>
            <p:grpSpPr>
              <a:xfrm>
                <a:off x="6159425" y="1695867"/>
                <a:ext cx="1699564" cy="1766013"/>
                <a:chOff x="6858690" y="2232671"/>
                <a:chExt cx="1699564" cy="1766013"/>
              </a:xfrm>
            </p:grpSpPr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0139AF0C-B3B0-9359-4606-FCC19876668E}"/>
                    </a:ext>
                  </a:extLst>
                </p:cNvPr>
                <p:cNvSpPr/>
                <p:nvPr/>
              </p:nvSpPr>
              <p:spPr>
                <a:xfrm rot="5400000">
                  <a:off x="7918404" y="3126578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FAE09949-3E24-9230-5D61-799FBD04DC0A}"/>
                    </a:ext>
                  </a:extLst>
                </p:cNvPr>
                <p:cNvSpPr/>
                <p:nvPr/>
              </p:nvSpPr>
              <p:spPr>
                <a:xfrm rot="5400000">
                  <a:off x="7904011" y="2624340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7DEC1EAC-66CA-A26D-D50B-908C768C23F8}"/>
                    </a:ext>
                  </a:extLst>
                </p:cNvPr>
                <p:cNvSpPr/>
                <p:nvPr/>
              </p:nvSpPr>
              <p:spPr>
                <a:xfrm rot="5400000">
                  <a:off x="7851729" y="3481045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101F92C1-8398-79CE-9425-82A2C62217A7}"/>
                    </a:ext>
                  </a:extLst>
                </p:cNvPr>
                <p:cNvSpPr/>
                <p:nvPr/>
              </p:nvSpPr>
              <p:spPr>
                <a:xfrm rot="5400000">
                  <a:off x="7276103" y="2802064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0A034C68-1A82-2478-2866-388107785738}"/>
                    </a:ext>
                  </a:extLst>
                </p:cNvPr>
                <p:cNvSpPr/>
                <p:nvPr/>
              </p:nvSpPr>
              <p:spPr>
                <a:xfrm rot="5400000">
                  <a:off x="7453371" y="2452382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9E637950-1420-B7F2-8140-ED7E9C6FF5F6}"/>
                    </a:ext>
                  </a:extLst>
                </p:cNvPr>
                <p:cNvSpPr/>
                <p:nvPr/>
              </p:nvSpPr>
              <p:spPr>
                <a:xfrm rot="5400000">
                  <a:off x="7631268" y="3305526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84D206E2-4B66-CDDE-87B7-7CB92B0FD4D7}"/>
                    </a:ext>
                  </a:extLst>
                </p:cNvPr>
                <p:cNvSpPr/>
                <p:nvPr/>
              </p:nvSpPr>
              <p:spPr>
                <a:xfrm rot="5400000">
                  <a:off x="7119167" y="3369133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05945D28-9489-B9B7-9FBC-A7008315C3AF}"/>
                    </a:ext>
                  </a:extLst>
                </p:cNvPr>
                <p:cNvSpPr/>
                <p:nvPr/>
              </p:nvSpPr>
              <p:spPr>
                <a:xfrm rot="5400000">
                  <a:off x="7378245" y="3308425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ECA8CAF0-13FC-6F54-4C05-262F8FAD6583}"/>
                    </a:ext>
                  </a:extLst>
                </p:cNvPr>
                <p:cNvSpPr/>
                <p:nvPr/>
              </p:nvSpPr>
              <p:spPr>
                <a:xfrm rot="5400000">
                  <a:off x="8182668" y="3282245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54B0E664-C804-02B9-1867-F3CD0DCC7E2D}"/>
                    </a:ext>
                  </a:extLst>
                </p:cNvPr>
                <p:cNvSpPr/>
                <p:nvPr/>
              </p:nvSpPr>
              <p:spPr>
                <a:xfrm rot="5400000">
                  <a:off x="7979962" y="2850599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A61B79D2-360F-43D7-7D34-FC8E69C50047}"/>
                    </a:ext>
                  </a:extLst>
                </p:cNvPr>
                <p:cNvSpPr/>
                <p:nvPr/>
              </p:nvSpPr>
              <p:spPr>
                <a:xfrm rot="5400000">
                  <a:off x="8098756" y="3576077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26125A78-5649-F082-B606-C4813632427B}"/>
                    </a:ext>
                  </a:extLst>
                </p:cNvPr>
                <p:cNvSpPr/>
                <p:nvPr/>
              </p:nvSpPr>
              <p:spPr>
                <a:xfrm rot="5400000">
                  <a:off x="7349198" y="3031545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EE1A690E-5A6A-7B6E-41F4-9955972FF27E}"/>
                    </a:ext>
                  </a:extLst>
                </p:cNvPr>
                <p:cNvSpPr/>
                <p:nvPr/>
              </p:nvSpPr>
              <p:spPr>
                <a:xfrm rot="5400000">
                  <a:off x="7619316" y="2708408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28E91877-0907-5042-8B6A-C936980132CC}"/>
                    </a:ext>
                  </a:extLst>
                </p:cNvPr>
                <p:cNvSpPr/>
                <p:nvPr/>
              </p:nvSpPr>
              <p:spPr>
                <a:xfrm rot="5400000">
                  <a:off x="7622330" y="3027196"/>
                  <a:ext cx="190067" cy="190067"/>
                </a:xfrm>
                <a:prstGeom prst="ellipse">
                  <a:avLst/>
                </a:prstGeom>
                <a:pattFill prst="ltUpDiag">
                  <a:fgClr>
                    <a:schemeClr val="accent2">
                      <a:lumMod val="75000"/>
                    </a:schemeClr>
                  </a:fgClr>
                  <a:bgClr>
                    <a:schemeClr val="bg1"/>
                  </a:bgClr>
                </a:patt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10071EA6-73A4-BA2F-3D5F-22C52EE4CCC5}"/>
                    </a:ext>
                  </a:extLst>
                </p:cNvPr>
                <p:cNvSpPr/>
                <p:nvPr/>
              </p:nvSpPr>
              <p:spPr>
                <a:xfrm rot="5400000">
                  <a:off x="7311143" y="3565417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807B73DB-0582-B7FD-9FD3-C6BEB08D2E5F}"/>
                    </a:ext>
                  </a:extLst>
                </p:cNvPr>
                <p:cNvSpPr/>
                <p:nvPr/>
              </p:nvSpPr>
              <p:spPr>
                <a:xfrm rot="5400000">
                  <a:off x="7580803" y="3683980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14CD4D21-128D-D5F6-D7E6-08402AA49DEC}"/>
                    </a:ext>
                  </a:extLst>
                </p:cNvPr>
                <p:cNvSpPr/>
                <p:nvPr/>
              </p:nvSpPr>
              <p:spPr>
                <a:xfrm rot="5400000">
                  <a:off x="8337594" y="3015009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BA0B85ED-98CA-B8C0-335B-FBF0D58BC588}"/>
                    </a:ext>
                  </a:extLst>
                </p:cNvPr>
                <p:cNvSpPr/>
                <p:nvPr/>
              </p:nvSpPr>
              <p:spPr>
                <a:xfrm rot="5400000">
                  <a:off x="7095180" y="3091733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D92942C4-88B3-3E6A-2F0C-E53C513872D5}"/>
                    </a:ext>
                  </a:extLst>
                </p:cNvPr>
                <p:cNvSpPr/>
                <p:nvPr/>
              </p:nvSpPr>
              <p:spPr>
                <a:xfrm rot="5400000">
                  <a:off x="6932106" y="2821270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BAFA5C81-EA6F-9D98-ABF1-A8BF62176BFB}"/>
                    </a:ext>
                  </a:extLst>
                </p:cNvPr>
                <p:cNvSpPr/>
                <p:nvPr/>
              </p:nvSpPr>
              <p:spPr>
                <a:xfrm rot="5400000">
                  <a:off x="7209377" y="2547414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CA894829-1FFD-D378-1900-358702117870}"/>
                    </a:ext>
                  </a:extLst>
                </p:cNvPr>
                <p:cNvSpPr/>
                <p:nvPr/>
              </p:nvSpPr>
              <p:spPr>
                <a:xfrm rot="5400000">
                  <a:off x="6981549" y="3774671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A2BC1C40-06E7-2A74-02FB-F710FCFA01D8}"/>
                    </a:ext>
                  </a:extLst>
                </p:cNvPr>
                <p:cNvSpPr/>
                <p:nvPr/>
              </p:nvSpPr>
              <p:spPr>
                <a:xfrm rot="5400000">
                  <a:off x="6861109" y="2276144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227A1843-BAD6-D2F2-C74A-09FE60C702B9}"/>
                    </a:ext>
                  </a:extLst>
                </p:cNvPr>
                <p:cNvSpPr/>
                <p:nvPr/>
              </p:nvSpPr>
              <p:spPr>
                <a:xfrm rot="5400000">
                  <a:off x="8308790" y="2743072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EB4BDB09-C4FB-9AE6-DAB8-E77F61E301A4}"/>
                    </a:ext>
                  </a:extLst>
                </p:cNvPr>
                <p:cNvSpPr/>
                <p:nvPr/>
              </p:nvSpPr>
              <p:spPr>
                <a:xfrm rot="5400000">
                  <a:off x="7758511" y="2419990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CCB4054D-E43F-012F-5667-6ED66DF0FD46}"/>
                    </a:ext>
                  </a:extLst>
                </p:cNvPr>
                <p:cNvSpPr/>
                <p:nvPr/>
              </p:nvSpPr>
              <p:spPr>
                <a:xfrm rot="5400000">
                  <a:off x="8108471" y="2486345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20AF6B4E-1F02-40A6-9020-325284F6EF57}"/>
                    </a:ext>
                  </a:extLst>
                </p:cNvPr>
                <p:cNvSpPr/>
                <p:nvPr/>
              </p:nvSpPr>
              <p:spPr>
                <a:xfrm rot="5400000">
                  <a:off x="6893383" y="3510847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656E47A0-FE13-C4C7-BC26-1D42EBCFA12C}"/>
                    </a:ext>
                  </a:extLst>
                </p:cNvPr>
                <p:cNvSpPr/>
                <p:nvPr/>
              </p:nvSpPr>
              <p:spPr>
                <a:xfrm rot="5400000">
                  <a:off x="7883452" y="3774672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D2FC52D6-E81B-91FA-2AD6-D41426BBC910}"/>
                    </a:ext>
                  </a:extLst>
                </p:cNvPr>
                <p:cNvSpPr/>
                <p:nvPr/>
              </p:nvSpPr>
              <p:spPr>
                <a:xfrm rot="5400000">
                  <a:off x="7194899" y="2249817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B32DCA64-1470-F6BF-5D84-6022AF1F4428}"/>
                    </a:ext>
                  </a:extLst>
                </p:cNvPr>
                <p:cNvSpPr/>
                <p:nvPr/>
              </p:nvSpPr>
              <p:spPr>
                <a:xfrm rot="5400000">
                  <a:off x="8314637" y="3769879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2CEEED99-6AE3-BA4D-C552-BC6AB2BAE1EC}"/>
                    </a:ext>
                  </a:extLst>
                </p:cNvPr>
                <p:cNvSpPr/>
                <p:nvPr/>
              </p:nvSpPr>
              <p:spPr>
                <a:xfrm rot="5400000">
                  <a:off x="8368187" y="3481044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69C3F011-D98F-6758-6B5C-101D03FAD128}"/>
                    </a:ext>
                  </a:extLst>
                </p:cNvPr>
                <p:cNvSpPr/>
                <p:nvPr/>
              </p:nvSpPr>
              <p:spPr>
                <a:xfrm rot="5400000">
                  <a:off x="8367478" y="2367742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EFA7B757-3BE1-11F6-9DB9-85915C8B3489}"/>
                    </a:ext>
                  </a:extLst>
                </p:cNvPr>
                <p:cNvSpPr/>
                <p:nvPr/>
              </p:nvSpPr>
              <p:spPr>
                <a:xfrm rot="5400000">
                  <a:off x="8037750" y="2232671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312F635E-6106-5A61-369F-76A8901F89CC}"/>
                    </a:ext>
                  </a:extLst>
                </p:cNvPr>
                <p:cNvSpPr/>
                <p:nvPr/>
              </p:nvSpPr>
              <p:spPr>
                <a:xfrm rot="5400000">
                  <a:off x="6947159" y="2538684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BEA2EEB1-54C5-52B7-5B36-14A6FA334A55}"/>
                    </a:ext>
                  </a:extLst>
                </p:cNvPr>
                <p:cNvSpPr/>
                <p:nvPr/>
              </p:nvSpPr>
              <p:spPr>
                <a:xfrm rot="5400000">
                  <a:off x="6858690" y="3156090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A894369D-7AE1-A575-DB52-88021E1F8B8A}"/>
                    </a:ext>
                  </a:extLst>
                </p:cNvPr>
                <p:cNvSpPr/>
                <p:nvPr/>
              </p:nvSpPr>
              <p:spPr>
                <a:xfrm rot="5400000">
                  <a:off x="7600885" y="2236209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EF7C3109-DA55-C6DF-62B9-A9B18A850177}"/>
                    </a:ext>
                  </a:extLst>
                </p:cNvPr>
                <p:cNvSpPr/>
                <p:nvPr/>
              </p:nvSpPr>
              <p:spPr>
                <a:xfrm rot="5400000">
                  <a:off x="7299026" y="3808617"/>
                  <a:ext cx="190067" cy="1900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285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B4C52DE1-2435-7BC5-EDFB-668CC33A2395}"/>
                  </a:ext>
                </a:extLst>
              </p:cNvPr>
              <p:cNvGrpSpPr/>
              <p:nvPr/>
            </p:nvGrpSpPr>
            <p:grpSpPr>
              <a:xfrm>
                <a:off x="6095899" y="1661913"/>
                <a:ext cx="1828800" cy="1828800"/>
                <a:chOff x="6677158" y="2004455"/>
                <a:chExt cx="1828800" cy="1828800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E60A144C-4317-319A-7FAD-F0ABA8209A19}"/>
                    </a:ext>
                  </a:extLst>
                </p:cNvPr>
                <p:cNvSpPr/>
                <p:nvPr/>
              </p:nvSpPr>
              <p:spPr>
                <a:xfrm>
                  <a:off x="6677158" y="2004455"/>
                  <a:ext cx="1828800" cy="18288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8C8FDE29-C500-00D3-7C34-6540E3846328}"/>
                    </a:ext>
                  </a:extLst>
                </p:cNvPr>
                <p:cNvCxnSpPr>
                  <a:cxnSpLocks/>
                  <a:stCxn id="63" idx="0"/>
                  <a:endCxn id="63" idx="2"/>
                </p:cNvCxnSpPr>
                <p:nvPr/>
              </p:nvCxnSpPr>
              <p:spPr>
                <a:xfrm>
                  <a:off x="7591558" y="2004455"/>
                  <a:ext cx="0" cy="18288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9AB523A3-498D-FB0A-8DD1-9A310A1E532E}"/>
                    </a:ext>
                  </a:extLst>
                </p:cNvPr>
                <p:cNvCxnSpPr>
                  <a:cxnSpLocks/>
                  <a:stCxn id="63" idx="1"/>
                  <a:endCxn id="63" idx="3"/>
                </p:cNvCxnSpPr>
                <p:nvPr/>
              </p:nvCxnSpPr>
              <p:spPr>
                <a:xfrm>
                  <a:off x="6677158" y="2918855"/>
                  <a:ext cx="18288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E1AECBC1-2EC9-4B41-3FD3-182BBF5B137A}"/>
                  </a:ext>
                </a:extLst>
              </p:cNvPr>
              <p:cNvGrpSpPr/>
              <p:nvPr/>
            </p:nvGrpSpPr>
            <p:grpSpPr>
              <a:xfrm>
                <a:off x="9099497" y="1658223"/>
                <a:ext cx="1828800" cy="1828800"/>
                <a:chOff x="6677158" y="2004455"/>
                <a:chExt cx="1828800" cy="1828800"/>
              </a:xfrm>
            </p:grpSpPr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F04F49C7-AAF8-63F8-8BF3-891DD6D318B7}"/>
                    </a:ext>
                  </a:extLst>
                </p:cNvPr>
                <p:cNvSpPr/>
                <p:nvPr/>
              </p:nvSpPr>
              <p:spPr>
                <a:xfrm>
                  <a:off x="6677158" y="2004455"/>
                  <a:ext cx="1828800" cy="18288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1B06AA06-9E8F-23D0-36C3-224AB56A5D56}"/>
                    </a:ext>
                  </a:extLst>
                </p:cNvPr>
                <p:cNvCxnSpPr>
                  <a:cxnSpLocks/>
                  <a:stCxn id="181" idx="0"/>
                  <a:endCxn id="181" idx="2"/>
                </p:cNvCxnSpPr>
                <p:nvPr/>
              </p:nvCxnSpPr>
              <p:spPr>
                <a:xfrm>
                  <a:off x="7591558" y="2004455"/>
                  <a:ext cx="0" cy="18288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501F022C-0136-0E87-4730-EBAE88AC4FE5}"/>
                    </a:ext>
                  </a:extLst>
                </p:cNvPr>
                <p:cNvCxnSpPr>
                  <a:cxnSpLocks/>
                  <a:stCxn id="181" idx="1"/>
                  <a:endCxn id="181" idx="3"/>
                </p:cNvCxnSpPr>
                <p:nvPr/>
              </p:nvCxnSpPr>
              <p:spPr>
                <a:xfrm>
                  <a:off x="6677158" y="2918855"/>
                  <a:ext cx="18288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2" name="Straight Arrow Connector 221">
                <a:extLst>
                  <a:ext uri="{FF2B5EF4-FFF2-40B4-BE49-F238E27FC236}">
                    <a16:creationId xmlns:a16="http://schemas.microsoft.com/office/drawing/2014/main" id="{CF849A2F-0A01-79A3-0A45-C06AA246C2B2}"/>
                  </a:ext>
                </a:extLst>
              </p:cNvPr>
              <p:cNvCxnSpPr>
                <a:stCxn id="63" idx="3"/>
                <a:endCxn id="181" idx="1"/>
              </p:cNvCxnSpPr>
              <p:nvPr/>
            </p:nvCxnSpPr>
            <p:spPr>
              <a:xfrm flipV="1">
                <a:off x="7924699" y="2572623"/>
                <a:ext cx="1174798" cy="36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3" name="Curved Down Arrow 222">
                <a:extLst>
                  <a:ext uri="{FF2B5EF4-FFF2-40B4-BE49-F238E27FC236}">
                    <a16:creationId xmlns:a16="http://schemas.microsoft.com/office/drawing/2014/main" id="{7EC21555-EFF8-28BD-5CEC-75F4E84C1C8B}"/>
                  </a:ext>
                </a:extLst>
              </p:cNvPr>
              <p:cNvSpPr/>
              <p:nvPr/>
            </p:nvSpPr>
            <p:spPr>
              <a:xfrm>
                <a:off x="8059147" y="2215770"/>
                <a:ext cx="443346" cy="207516"/>
              </a:xfrm>
              <a:prstGeom prst="curvedDown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4" name="TextBox 223">
                    <a:extLst>
                      <a:ext uri="{FF2B5EF4-FFF2-40B4-BE49-F238E27FC236}">
                        <a16:creationId xmlns:a16="http://schemas.microsoft.com/office/drawing/2014/main" id="{25367B28-7562-D4AF-4C1E-8F677FF30C49}"/>
                      </a:ext>
                    </a:extLst>
                  </p:cNvPr>
                  <p:cNvSpPr txBox="1"/>
                  <p:nvPr/>
                </p:nvSpPr>
                <p:spPr>
                  <a:xfrm>
                    <a:off x="8566224" y="2217892"/>
                    <a:ext cx="389530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4" name="TextBox 223">
                    <a:extLst>
                      <a:ext uri="{FF2B5EF4-FFF2-40B4-BE49-F238E27FC236}">
                        <a16:creationId xmlns:a16="http://schemas.microsoft.com/office/drawing/2014/main" id="{25367B28-7562-D4AF-4C1E-8F677FF30C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66224" y="2217892"/>
                    <a:ext cx="389530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9167" r="-37500" b="-3888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7E1CDA41-5561-4975-4A15-445F091048F2}"/>
                </a:ext>
              </a:extLst>
            </p:cNvPr>
            <p:cNvSpPr/>
            <p:nvPr/>
          </p:nvSpPr>
          <p:spPr>
            <a:xfrm>
              <a:off x="10546209" y="2186492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F4CE9EC5-92CA-151A-92F9-8AAA8D969A37}"/>
                </a:ext>
              </a:extLst>
            </p:cNvPr>
            <p:cNvSpPr/>
            <p:nvPr/>
          </p:nvSpPr>
          <p:spPr>
            <a:xfrm>
              <a:off x="11159344" y="2186492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51035632-C31E-9988-29F0-5B14F93DC0F6}"/>
                </a:ext>
              </a:extLst>
            </p:cNvPr>
            <p:cNvSpPr txBox="1"/>
            <p:nvPr/>
          </p:nvSpPr>
          <p:spPr>
            <a:xfrm>
              <a:off x="10366736" y="2182920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          +          )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9B9D84-BCC6-DDA8-11DA-CC5B00044372}"/>
              </a:ext>
            </a:extLst>
          </p:cNvPr>
          <p:cNvGrpSpPr/>
          <p:nvPr/>
        </p:nvGrpSpPr>
        <p:grpSpPr>
          <a:xfrm>
            <a:off x="8655670" y="3219260"/>
            <a:ext cx="3511721" cy="1237455"/>
            <a:chOff x="8655670" y="3219260"/>
            <a:chExt cx="3511721" cy="1237455"/>
          </a:xfrm>
        </p:grpSpPr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9A18A6AD-919E-213B-AAC6-F60674C7CD21}"/>
                </a:ext>
              </a:extLst>
            </p:cNvPr>
            <p:cNvSpPr/>
            <p:nvPr/>
          </p:nvSpPr>
          <p:spPr>
            <a:xfrm>
              <a:off x="8655670" y="3257422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007D8EBF-2042-EC71-5243-5E1283B75E80}"/>
                    </a:ext>
                  </a:extLst>
                </p:cNvPr>
                <p:cNvSpPr txBox="1"/>
                <p:nvPr/>
              </p:nvSpPr>
              <p:spPr>
                <a:xfrm>
                  <a:off x="8838550" y="3219260"/>
                  <a:ext cx="3328841" cy="12374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b="0" dirty="0"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𝜕𝜏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bSup>
                          </m:den>
                        </m:f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𝜕𝜏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bSup>
                          </m:den>
                        </m:f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en-US" dirty="0">
                    <a:ea typeface="Cambria Math" panose="02040503050406030204" pitchFamily="18" charset="0"/>
                  </a:endParaRPr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007D8EBF-2042-EC71-5243-5E1283B75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8550" y="3219260"/>
                  <a:ext cx="3328841" cy="123745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5AB064-8CCB-A18D-F666-31DB0B5C5E4B}"/>
              </a:ext>
            </a:extLst>
          </p:cNvPr>
          <p:cNvGrpSpPr/>
          <p:nvPr/>
        </p:nvGrpSpPr>
        <p:grpSpPr>
          <a:xfrm>
            <a:off x="4791734" y="3263715"/>
            <a:ext cx="3877807" cy="758939"/>
            <a:chOff x="4791734" y="3263715"/>
            <a:chExt cx="3877807" cy="758939"/>
          </a:xfrm>
        </p:grpSpPr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678154EA-40E0-7DCE-6603-6ABCFE0D2792}"/>
                </a:ext>
              </a:extLst>
            </p:cNvPr>
            <p:cNvSpPr/>
            <p:nvPr/>
          </p:nvSpPr>
          <p:spPr>
            <a:xfrm>
              <a:off x="6547758" y="3263715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5630BBD0-464C-63BA-BC45-78F8BB96FAF6}"/>
                    </a:ext>
                  </a:extLst>
                </p:cNvPr>
                <p:cNvSpPr txBox="1"/>
                <p:nvPr/>
              </p:nvSpPr>
              <p:spPr>
                <a:xfrm>
                  <a:off x="4791734" y="3653322"/>
                  <a:ext cx="387780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5630BBD0-464C-63BA-BC45-78F8BB96F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1734" y="3653322"/>
                  <a:ext cx="3877807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C1FE84C-89A5-0361-646D-1EB7F001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15845"/>
            <a:ext cx="2743200" cy="365125"/>
          </a:xfrm>
        </p:spPr>
        <p:txBody>
          <a:bodyPr/>
          <a:lstStyle/>
          <a:p>
            <a:fld id="{57FA8C4A-3364-AF4B-A283-FA38924849CE}" type="slidenum">
              <a:rPr lang="en-US" smtClean="0"/>
              <a:t>9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BAE3BD-7F50-F8C0-2E72-00E7A3115BE2}"/>
              </a:ext>
            </a:extLst>
          </p:cNvPr>
          <p:cNvSpPr txBox="1"/>
          <p:nvPr/>
        </p:nvSpPr>
        <p:spPr>
          <a:xfrm>
            <a:off x="330818" y="6590685"/>
            <a:ext cx="63746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[1] P.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Wirnsberger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et al. 2020. Targeted free energy estimation using learned mappings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. J. Chem. Phys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. 153, 144112.</a:t>
            </a:r>
          </a:p>
        </p:txBody>
      </p:sp>
    </p:spTree>
    <p:extLst>
      <p:ext uri="{BB962C8B-B14F-4D97-AF65-F5344CB8AC3E}">
        <p14:creationId xmlns:p14="http://schemas.microsoft.com/office/powerpoint/2010/main" val="1959344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06CFB7-B862-1653-A550-FB2F9F9BE577}"/>
              </a:ext>
            </a:extLst>
          </p:cNvPr>
          <p:cNvSpPr txBox="1">
            <a:spLocks/>
          </p:cNvSpPr>
          <p:nvPr/>
        </p:nvSpPr>
        <p:spPr>
          <a:xfrm>
            <a:off x="341586" y="182944"/>
            <a:ext cx="8450317" cy="613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One-Dimensional Toy Problem (Setup)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204843-AE92-B9C1-AB45-9DC48D287454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nf_example">
            <a:hlinkClick r:id="" action="ppaction://media"/>
            <a:extLst>
              <a:ext uri="{FF2B5EF4-FFF2-40B4-BE49-F238E27FC236}">
                <a16:creationId xmlns:a16="http://schemas.microsoft.com/office/drawing/2014/main" id="{9C884D2D-8AFD-F974-111D-D5AE9BBB53E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41585" y="1939149"/>
            <a:ext cx="11508828" cy="4603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FE304FF3-7707-3536-E06A-82CB3CD6EEFB}"/>
                  </a:ext>
                </a:extLst>
              </p:cNvPr>
              <p:cNvSpPr/>
              <p:nvPr/>
            </p:nvSpPr>
            <p:spPr>
              <a:xfrm>
                <a:off x="251293" y="1146613"/>
                <a:ext cx="11689411" cy="792536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u="sng" dirty="0">
                    <a:solidFill>
                      <a:schemeClr val="tx1"/>
                    </a:solidFill>
                  </a:rPr>
                  <a:t>1-Dimensional Toy Problem: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Can we accelerate the estimation of the free energy difference between a free particle existing under a double well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and a harmonic well potential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)? 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FE304FF3-7707-3536-E06A-82CB3CD6EE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93" y="1146613"/>
                <a:ext cx="11689411" cy="792536"/>
              </a:xfrm>
              <a:prstGeom prst="roundRect">
                <a:avLst/>
              </a:prstGeom>
              <a:blipFill>
                <a:blip r:embed="rId6"/>
                <a:stretch>
                  <a:fillRect b="-15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BC379-EFA4-C6B1-326E-E29387F6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9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2BF3A84B-71E6-F9D8-0C0C-956E701126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1586" y="182944"/>
                <a:ext cx="8450317" cy="61397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3600" dirty="0"/>
                  <a:t>One-Dimensional Toy Problem (Training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dirty="0"/>
                  <a:t>)</a:t>
                </a: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2BF3A84B-71E6-F9D8-0C0C-956E70112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86" y="182944"/>
                <a:ext cx="8450317" cy="613979"/>
              </a:xfrm>
              <a:prstGeom prst="rect">
                <a:avLst/>
              </a:prstGeom>
              <a:blipFill>
                <a:blip r:embed="rId5"/>
                <a:stretch>
                  <a:fillRect l="-2099" t="-20408" r="-750" b="-3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2E7DAD-F01A-D0B9-9E1B-B6C63CF2D4E2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spline_training_example.mp4">
            <a:hlinkClick r:id="" action="ppaction://media"/>
            <a:extLst>
              <a:ext uri="{FF2B5EF4-FFF2-40B4-BE49-F238E27FC236}">
                <a16:creationId xmlns:a16="http://schemas.microsoft.com/office/drawing/2014/main" id="{065D9008-458D-CB16-199E-38602DCA3C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7500" t="4686" r="8604"/>
          <a:stretch>
            <a:fillRect/>
          </a:stretch>
        </p:blipFill>
        <p:spPr>
          <a:xfrm>
            <a:off x="1779912" y="2588780"/>
            <a:ext cx="8632176" cy="40862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3B0A581-B35D-0AA6-D785-6D10B5CDB784}"/>
                  </a:ext>
                </a:extLst>
              </p:cNvPr>
              <p:cNvSpPr/>
              <p:nvPr/>
            </p:nvSpPr>
            <p:spPr>
              <a:xfrm>
                <a:off x="251294" y="1054048"/>
                <a:ext cx="11689411" cy="1450640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We define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as a rational quadratic spline such that on the interval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we have that –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chosen such that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𝛻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3B0A581-B35D-0AA6-D785-6D10B5CDB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94" y="1054048"/>
                <a:ext cx="11689411" cy="145064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9BF0C3-B61C-FDB0-2E9C-D251DBC0B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5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3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B44135F-3F2B-2103-D67A-8D46EE141236}"/>
              </a:ext>
            </a:extLst>
          </p:cNvPr>
          <p:cNvSpPr txBox="1">
            <a:spLocks/>
          </p:cNvSpPr>
          <p:nvPr/>
        </p:nvSpPr>
        <p:spPr>
          <a:xfrm>
            <a:off x="341586" y="182944"/>
            <a:ext cx="8450317" cy="613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One-Dimensional Toy Problem (Results)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80283D-C1E1-7F18-1C36-04FFAD02AA29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nf_example">
            <a:hlinkClick r:id="" action="ppaction://media"/>
            <a:extLst>
              <a:ext uri="{FF2B5EF4-FFF2-40B4-BE49-F238E27FC236}">
                <a16:creationId xmlns:a16="http://schemas.microsoft.com/office/drawing/2014/main" id="{4C4A580C-06E1-95DF-491F-1CA2542B02B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9575" y="965090"/>
            <a:ext cx="11372850" cy="4549827"/>
          </a:xfr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C0A5C8-4366-9348-B554-CEF0B3D65EA5}"/>
              </a:ext>
            </a:extLst>
          </p:cNvPr>
          <p:cNvSpPr/>
          <p:nvPr/>
        </p:nvSpPr>
        <p:spPr>
          <a:xfrm>
            <a:off x="251294" y="5882520"/>
            <a:ext cx="11689411" cy="79253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Our optimal map leads to the convergence of our TFEP estimator </a:t>
            </a:r>
            <a:r>
              <a:rPr lang="en-US" i="1" dirty="0">
                <a:solidFill>
                  <a:schemeClr val="tx1"/>
                </a:solidFill>
              </a:rPr>
              <a:t>in a single sample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b="1" dirty="0">
                <a:solidFill>
                  <a:schemeClr val="tx1"/>
                </a:solidFill>
              </a:rPr>
              <a:t>We have constructed a true Boltzmann Generator!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6EEA0C-7A39-41D4-2272-8BA51D9D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9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DC1589-C4EE-6359-76EF-FD1B23D2968D}"/>
              </a:ext>
            </a:extLst>
          </p:cNvPr>
          <p:cNvSpPr/>
          <p:nvPr/>
        </p:nvSpPr>
        <p:spPr>
          <a:xfrm>
            <a:off x="341586" y="1336876"/>
            <a:ext cx="11508828" cy="418424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ysClr val="windowText" lastClr="000000"/>
                </a:solidFill>
              </a:rPr>
              <a:t>Part III</a:t>
            </a:r>
          </a:p>
          <a:p>
            <a:pPr algn="ctr"/>
            <a:r>
              <a:rPr lang="en-US" sz="3600" dirty="0">
                <a:solidFill>
                  <a:sysClr val="windowText" lastClr="000000"/>
                </a:solidFill>
              </a:rPr>
              <a:t>Application to Chemical Physics Research: </a:t>
            </a:r>
          </a:p>
          <a:p>
            <a:pPr algn="ctr"/>
            <a:r>
              <a:rPr lang="en-US" sz="3600" i="1" dirty="0">
                <a:solidFill>
                  <a:sysClr val="windowText" lastClr="000000"/>
                </a:solidFill>
              </a:rPr>
              <a:t>Efficient mapping of phase diagrams with conditional Boltzmann Generators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[</a:t>
            </a:r>
            <a:r>
              <a:rPr lang="en-US" dirty="0">
                <a:solidFill>
                  <a:schemeClr val="tx1"/>
                </a:solidFill>
              </a:rPr>
              <a:t>M. </a:t>
            </a:r>
            <a:r>
              <a:rPr lang="en-US" dirty="0" err="1">
                <a:solidFill>
                  <a:schemeClr val="tx1"/>
                </a:solidFill>
              </a:rPr>
              <a:t>Schebek</a:t>
            </a:r>
            <a:r>
              <a:rPr lang="en-US" dirty="0">
                <a:solidFill>
                  <a:schemeClr val="tx1"/>
                </a:solidFill>
              </a:rPr>
              <a:t>, M. Invernizzi, F. Noé, and J. Rogal, 2024 Mach. Learn.: Sci. Technol.</a:t>
            </a:r>
            <a:r>
              <a:rPr lang="en-US" dirty="0">
                <a:solidFill>
                  <a:sysClr val="windowText" lastClr="000000"/>
                </a:solidFill>
              </a:rPr>
              <a:t>]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444BA0-7888-F643-6494-B766C04A1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03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0A3700-F76E-9BB5-7F2E-62ED20B1E1C5}"/>
              </a:ext>
            </a:extLst>
          </p:cNvPr>
          <p:cNvSpPr txBox="1">
            <a:spLocks/>
          </p:cNvSpPr>
          <p:nvPr/>
        </p:nvSpPr>
        <p:spPr>
          <a:xfrm>
            <a:off x="341586" y="182944"/>
            <a:ext cx="8450317" cy="613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Phase Coexistence Line Prediction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00D9B9-9FF9-6769-1888-5F34E49D0A08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B426918-66BB-74BE-70F9-E7C08B078971}"/>
                  </a:ext>
                </a:extLst>
              </p:cNvPr>
              <p:cNvSpPr/>
              <p:nvPr/>
            </p:nvSpPr>
            <p:spPr>
              <a:xfrm>
                <a:off x="251294" y="1005542"/>
                <a:ext cx="11689411" cy="1009769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Under NPT conditions, phase coexistence occurs (say between phases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),  at points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where their Gibbs Free Energies are equal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It is of great interest to be able to draw such coexistence lines in the 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plane.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B426918-66BB-74BE-70F9-E7C08B078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94" y="1005542"/>
                <a:ext cx="11689411" cy="1009769"/>
              </a:xfrm>
              <a:prstGeom prst="roundRect">
                <a:avLst/>
              </a:prstGeom>
              <a:blipFill>
                <a:blip r:embed="rId3"/>
                <a:stretch>
                  <a:fillRect b="-365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0A1F21-DF09-FAE4-F22E-422BF263155E}"/>
              </a:ext>
            </a:extLst>
          </p:cNvPr>
          <p:cNvCxnSpPr>
            <a:cxnSpLocks/>
          </p:cNvCxnSpPr>
          <p:nvPr/>
        </p:nvCxnSpPr>
        <p:spPr>
          <a:xfrm flipV="1">
            <a:off x="3680460" y="2388870"/>
            <a:ext cx="0" cy="34632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8E61ED-BC6B-F6AB-6A85-E99FF3A34B6C}"/>
              </a:ext>
            </a:extLst>
          </p:cNvPr>
          <p:cNvCxnSpPr>
            <a:cxnSpLocks noChangeAspect="1"/>
          </p:cNvCxnSpPr>
          <p:nvPr/>
        </p:nvCxnSpPr>
        <p:spPr>
          <a:xfrm>
            <a:off x="3680460" y="5844540"/>
            <a:ext cx="457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1039AA-E421-0AFC-44D1-E2893B81D10C}"/>
                  </a:ext>
                </a:extLst>
              </p:cNvPr>
              <p:cNvSpPr txBox="1"/>
              <p:nvPr/>
            </p:nvSpPr>
            <p:spPr>
              <a:xfrm>
                <a:off x="8220519" y="5753221"/>
                <a:ext cx="4486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1039AA-E421-0AFC-44D1-E2893B81D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519" y="5753221"/>
                <a:ext cx="44862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71BD59-24D2-067F-C202-5F7C7DF90816}"/>
                  </a:ext>
                </a:extLst>
              </p:cNvPr>
              <p:cNvSpPr txBox="1"/>
              <p:nvPr/>
            </p:nvSpPr>
            <p:spPr>
              <a:xfrm>
                <a:off x="3231835" y="2192005"/>
                <a:ext cx="4486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71BD59-24D2-067F-C202-5F7C7DF90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835" y="2192005"/>
                <a:ext cx="44862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4BF2BB51-E4F0-8919-747F-01C1FDB7E2DF}"/>
              </a:ext>
            </a:extLst>
          </p:cNvPr>
          <p:cNvSpPr/>
          <p:nvPr/>
        </p:nvSpPr>
        <p:spPr>
          <a:xfrm>
            <a:off x="4521024" y="579882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581CE5-579C-AFC7-7226-12CAB6E86894}"/>
              </a:ext>
            </a:extLst>
          </p:cNvPr>
          <p:cNvSpPr/>
          <p:nvPr/>
        </p:nvSpPr>
        <p:spPr>
          <a:xfrm>
            <a:off x="5434714" y="579882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B07A40-16CC-4406-750A-6438C8542581}"/>
              </a:ext>
            </a:extLst>
          </p:cNvPr>
          <p:cNvSpPr/>
          <p:nvPr/>
        </p:nvSpPr>
        <p:spPr>
          <a:xfrm>
            <a:off x="6340043" y="579882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1F197E4-18F8-48A4-6EC4-CF987683D70F}"/>
              </a:ext>
            </a:extLst>
          </p:cNvPr>
          <p:cNvSpPr/>
          <p:nvPr/>
        </p:nvSpPr>
        <p:spPr>
          <a:xfrm>
            <a:off x="7264852" y="579882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54FE440-2A83-C4A5-66AE-F73219239791}"/>
              </a:ext>
            </a:extLst>
          </p:cNvPr>
          <p:cNvSpPr/>
          <p:nvPr/>
        </p:nvSpPr>
        <p:spPr>
          <a:xfrm>
            <a:off x="3633052" y="489384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9623A78-BD51-C0D1-DB72-01B25DEC57D2}"/>
              </a:ext>
            </a:extLst>
          </p:cNvPr>
          <p:cNvSpPr/>
          <p:nvPr/>
        </p:nvSpPr>
        <p:spPr>
          <a:xfrm>
            <a:off x="3633052" y="398887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E3A19CC-04FF-0D44-1771-691AE69005A3}"/>
              </a:ext>
            </a:extLst>
          </p:cNvPr>
          <p:cNvSpPr/>
          <p:nvPr/>
        </p:nvSpPr>
        <p:spPr>
          <a:xfrm>
            <a:off x="3633052" y="3083898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15229C3-2B3C-410B-BB5B-814F8BF343C4}"/>
              </a:ext>
            </a:extLst>
          </p:cNvPr>
          <p:cNvCxnSpPr>
            <a:cxnSpLocks/>
          </p:cNvCxnSpPr>
          <p:nvPr/>
        </p:nvCxnSpPr>
        <p:spPr>
          <a:xfrm flipV="1">
            <a:off x="4567661" y="2381250"/>
            <a:ext cx="0" cy="346329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9E2722-AEC0-36B6-E5E2-032DA99E03CA}"/>
              </a:ext>
            </a:extLst>
          </p:cNvPr>
          <p:cNvCxnSpPr>
            <a:cxnSpLocks/>
          </p:cNvCxnSpPr>
          <p:nvPr/>
        </p:nvCxnSpPr>
        <p:spPr>
          <a:xfrm flipV="1">
            <a:off x="5467482" y="2376671"/>
            <a:ext cx="0" cy="346329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81A9E3B-E5DB-67AD-D93A-D139167A0D8B}"/>
              </a:ext>
            </a:extLst>
          </p:cNvPr>
          <p:cNvCxnSpPr>
            <a:cxnSpLocks/>
          </p:cNvCxnSpPr>
          <p:nvPr/>
        </p:nvCxnSpPr>
        <p:spPr>
          <a:xfrm flipV="1">
            <a:off x="6384532" y="2376671"/>
            <a:ext cx="0" cy="346329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CC40163-43FC-6698-180B-67EEE82856E0}"/>
              </a:ext>
            </a:extLst>
          </p:cNvPr>
          <p:cNvCxnSpPr>
            <a:cxnSpLocks/>
          </p:cNvCxnSpPr>
          <p:nvPr/>
        </p:nvCxnSpPr>
        <p:spPr>
          <a:xfrm flipV="1">
            <a:off x="7316153" y="2376671"/>
            <a:ext cx="0" cy="346329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5537842-B16C-07FF-FCC4-CBFD988E1390}"/>
              </a:ext>
            </a:extLst>
          </p:cNvPr>
          <p:cNvCxnSpPr>
            <a:cxnSpLocks noChangeAspect="1"/>
          </p:cNvCxnSpPr>
          <p:nvPr/>
        </p:nvCxnSpPr>
        <p:spPr>
          <a:xfrm>
            <a:off x="3680460" y="4942192"/>
            <a:ext cx="457200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79E889-9AC5-0D4C-8552-8DBE4A2B09AA}"/>
              </a:ext>
            </a:extLst>
          </p:cNvPr>
          <p:cNvCxnSpPr>
            <a:cxnSpLocks noChangeAspect="1"/>
          </p:cNvCxnSpPr>
          <p:nvPr/>
        </p:nvCxnSpPr>
        <p:spPr>
          <a:xfrm>
            <a:off x="3680460" y="4034296"/>
            <a:ext cx="457200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FB6C41E-11EB-9B00-DFDE-798A1A7C544C}"/>
              </a:ext>
            </a:extLst>
          </p:cNvPr>
          <p:cNvCxnSpPr>
            <a:cxnSpLocks noChangeAspect="1"/>
          </p:cNvCxnSpPr>
          <p:nvPr/>
        </p:nvCxnSpPr>
        <p:spPr>
          <a:xfrm>
            <a:off x="3680460" y="3121223"/>
            <a:ext cx="457200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3D526BFE-6858-D2EF-4852-AE2B67DB09D0}"/>
              </a:ext>
            </a:extLst>
          </p:cNvPr>
          <p:cNvSpPr/>
          <p:nvPr/>
        </p:nvSpPr>
        <p:spPr>
          <a:xfrm>
            <a:off x="4343224" y="5417820"/>
            <a:ext cx="91440" cy="9144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3AD8B9E-05F1-6FC2-ADD2-C952D2C4C76B}"/>
              </a:ext>
            </a:extLst>
          </p:cNvPr>
          <p:cNvSpPr/>
          <p:nvPr/>
        </p:nvSpPr>
        <p:spPr>
          <a:xfrm>
            <a:off x="5225874" y="5088566"/>
            <a:ext cx="91440" cy="9144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62A2419-52AB-F44F-4612-8DBE4281A8C8}"/>
              </a:ext>
            </a:extLst>
          </p:cNvPr>
          <p:cNvSpPr/>
          <p:nvPr/>
        </p:nvSpPr>
        <p:spPr>
          <a:xfrm>
            <a:off x="6097093" y="4683112"/>
            <a:ext cx="91440" cy="9144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45F12D7-BE8F-004F-73AC-DE8AAF61514D}"/>
              </a:ext>
            </a:extLst>
          </p:cNvPr>
          <p:cNvSpPr/>
          <p:nvPr/>
        </p:nvSpPr>
        <p:spPr>
          <a:xfrm>
            <a:off x="6947993" y="4518485"/>
            <a:ext cx="91440" cy="9144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6D812D3-1C57-E66A-5B55-905B59D29859}"/>
              </a:ext>
            </a:extLst>
          </p:cNvPr>
          <p:cNvSpPr/>
          <p:nvPr/>
        </p:nvSpPr>
        <p:spPr>
          <a:xfrm>
            <a:off x="7862393" y="4132015"/>
            <a:ext cx="91440" cy="9144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F4378117-88D8-AE01-7921-01C1B3363972}"/>
              </a:ext>
            </a:extLst>
          </p:cNvPr>
          <p:cNvSpPr/>
          <p:nvPr/>
        </p:nvSpPr>
        <p:spPr>
          <a:xfrm>
            <a:off x="3673919" y="3879770"/>
            <a:ext cx="4565650" cy="1733550"/>
          </a:xfrm>
          <a:custGeom>
            <a:avLst/>
            <a:gdLst>
              <a:gd name="csX0" fmla="*/ 0 w 4565650"/>
              <a:gd name="csY0" fmla="*/ 1733550 h 1733550"/>
              <a:gd name="csX1" fmla="*/ 704850 w 4565650"/>
              <a:gd name="csY1" fmla="*/ 1593850 h 1733550"/>
              <a:gd name="csX2" fmla="*/ 1581150 w 4565650"/>
              <a:gd name="csY2" fmla="*/ 1263650 h 1733550"/>
              <a:gd name="csX3" fmla="*/ 2463800 w 4565650"/>
              <a:gd name="csY3" fmla="*/ 857250 h 1733550"/>
              <a:gd name="csX4" fmla="*/ 3308350 w 4565650"/>
              <a:gd name="csY4" fmla="*/ 698500 h 1733550"/>
              <a:gd name="csX5" fmla="*/ 4222750 w 4565650"/>
              <a:gd name="csY5" fmla="*/ 311150 h 1733550"/>
              <a:gd name="csX6" fmla="*/ 4565650 w 4565650"/>
              <a:gd name="csY6" fmla="*/ 0 h 1733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565650" h="1733550">
                <a:moveTo>
                  <a:pt x="0" y="1733550"/>
                </a:moveTo>
                <a:cubicBezTo>
                  <a:pt x="220662" y="1702858"/>
                  <a:pt x="441325" y="1672167"/>
                  <a:pt x="704850" y="1593850"/>
                </a:cubicBezTo>
                <a:cubicBezTo>
                  <a:pt x="968375" y="1515533"/>
                  <a:pt x="1287992" y="1386417"/>
                  <a:pt x="1581150" y="1263650"/>
                </a:cubicBezTo>
                <a:cubicBezTo>
                  <a:pt x="1874308" y="1140883"/>
                  <a:pt x="2175933" y="951442"/>
                  <a:pt x="2463800" y="857250"/>
                </a:cubicBezTo>
                <a:cubicBezTo>
                  <a:pt x="2751667" y="763058"/>
                  <a:pt x="3015192" y="789517"/>
                  <a:pt x="3308350" y="698500"/>
                </a:cubicBezTo>
                <a:cubicBezTo>
                  <a:pt x="3601508" y="607483"/>
                  <a:pt x="4013200" y="427567"/>
                  <a:pt x="4222750" y="311150"/>
                </a:cubicBezTo>
                <a:cubicBezTo>
                  <a:pt x="4432300" y="194733"/>
                  <a:pt x="4498975" y="97366"/>
                  <a:pt x="4565650" y="0"/>
                </a:cubicBezTo>
              </a:path>
            </a:pathLst>
          </a:cu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F997A02-AECA-98E2-D372-EEC2CE64051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157" t="7305" r="15552" b="6169"/>
          <a:stretch>
            <a:fillRect/>
          </a:stretch>
        </p:blipFill>
        <p:spPr>
          <a:xfrm>
            <a:off x="8839561" y="4815054"/>
            <a:ext cx="1980859" cy="1828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B54EB83-1310-304F-EAFF-925E00706D2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843" t="3303" r="12468" b="2113"/>
          <a:stretch>
            <a:fillRect/>
          </a:stretch>
        </p:blipFill>
        <p:spPr>
          <a:xfrm>
            <a:off x="1295800" y="2083294"/>
            <a:ext cx="1925492" cy="182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9F09BE8-F8C5-E5A4-B961-6DA254C64773}"/>
                  </a:ext>
                </a:extLst>
              </p:cNvPr>
              <p:cNvSpPr txBox="1"/>
              <p:nvPr/>
            </p:nvSpPr>
            <p:spPr>
              <a:xfrm>
                <a:off x="5363350" y="6003888"/>
                <a:ext cx="2341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9F09BE8-F8C5-E5A4-B961-6DA254C64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350" y="6003888"/>
                <a:ext cx="234167" cy="276999"/>
              </a:xfrm>
              <a:prstGeom prst="rect">
                <a:avLst/>
              </a:prstGeom>
              <a:blipFill>
                <a:blip r:embed="rId8"/>
                <a:stretch>
                  <a:fillRect l="-21053" r="-10526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F17334D-7C0A-9D38-E8BA-B981A2DAAF66}"/>
                  </a:ext>
                </a:extLst>
              </p:cNvPr>
              <p:cNvSpPr txBox="1"/>
              <p:nvPr/>
            </p:nvSpPr>
            <p:spPr>
              <a:xfrm>
                <a:off x="6267715" y="6003887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F17334D-7C0A-9D38-E8BA-B981A2DAA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715" y="6003887"/>
                <a:ext cx="276614" cy="276999"/>
              </a:xfrm>
              <a:prstGeom prst="rect">
                <a:avLst/>
              </a:prstGeom>
              <a:blipFill>
                <a:blip r:embed="rId9"/>
                <a:stretch>
                  <a:fillRect l="-17391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74E345E-3F4A-6D97-B5CE-C7CDA1F09E34}"/>
                  </a:ext>
                </a:extLst>
              </p:cNvPr>
              <p:cNvSpPr txBox="1"/>
              <p:nvPr/>
            </p:nvSpPr>
            <p:spPr>
              <a:xfrm>
                <a:off x="3345175" y="4774552"/>
                <a:ext cx="237694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74E345E-3F4A-6D97-B5CE-C7CDA1F09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75" y="4774552"/>
                <a:ext cx="237694" cy="299313"/>
              </a:xfrm>
              <a:prstGeom prst="rect">
                <a:avLst/>
              </a:prstGeom>
              <a:blipFill>
                <a:blip r:embed="rId10"/>
                <a:stretch>
                  <a:fillRect l="-20000" r="-15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DE2C619-D6BE-F081-B985-1F4A0B5C54B9}"/>
                  </a:ext>
                </a:extLst>
              </p:cNvPr>
              <p:cNvSpPr txBox="1"/>
              <p:nvPr/>
            </p:nvSpPr>
            <p:spPr>
              <a:xfrm>
                <a:off x="3350556" y="2971566"/>
                <a:ext cx="238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DE2C619-D6BE-F081-B985-1F4A0B5C5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556" y="2971566"/>
                <a:ext cx="238976" cy="276999"/>
              </a:xfrm>
              <a:prstGeom prst="rect">
                <a:avLst/>
              </a:prstGeom>
              <a:blipFill>
                <a:blip r:embed="rId11"/>
                <a:stretch>
                  <a:fillRect l="-26316" r="-526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371538A4-6F07-340D-AFBB-66630EC318FE}"/>
              </a:ext>
            </a:extLst>
          </p:cNvPr>
          <p:cNvGrpSpPr/>
          <p:nvPr/>
        </p:nvGrpSpPr>
        <p:grpSpPr>
          <a:xfrm>
            <a:off x="5426040" y="2366661"/>
            <a:ext cx="6652541" cy="2626428"/>
            <a:chOff x="5426040" y="2366661"/>
            <a:chExt cx="6652541" cy="26264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2C921C3-36FF-985F-639F-56A817932A22}"/>
                    </a:ext>
                  </a:extLst>
                </p:cNvPr>
                <p:cNvSpPr txBox="1"/>
                <p:nvPr/>
              </p:nvSpPr>
              <p:spPr>
                <a:xfrm>
                  <a:off x="8688194" y="2366661"/>
                  <a:ext cx="3390387" cy="155061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Standard methods to get 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𝑘𝑙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/>
                    <a:t> for both phases require MD simulation at all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dirty="0"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dirty="0"/>
                    <a:t> grid points [expensive!] </a:t>
                  </a: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2C921C3-36FF-985F-639F-56A817932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8194" y="2366661"/>
                  <a:ext cx="3390387" cy="1550617"/>
                </a:xfrm>
                <a:prstGeom prst="rect">
                  <a:avLst/>
                </a:prstGeom>
                <a:blipFill>
                  <a:blip r:embed="rId12"/>
                  <a:stretch>
                    <a:fillRect b="-3150"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4F9A86C-FDAD-D823-D6D8-BEA593D58FDE}"/>
                </a:ext>
              </a:extLst>
            </p:cNvPr>
            <p:cNvSpPr/>
            <p:nvPr/>
          </p:nvSpPr>
          <p:spPr>
            <a:xfrm>
              <a:off x="5426040" y="490164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C437B85-E815-6EC0-E063-87B7214AC846}"/>
                </a:ext>
              </a:extLst>
            </p:cNvPr>
            <p:cNvSpPr/>
            <p:nvPr/>
          </p:nvSpPr>
          <p:spPr>
            <a:xfrm>
              <a:off x="6340043" y="3068073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E31EF4B9-4A04-F2E6-056A-5B4B1C175CDC}"/>
                </a:ext>
              </a:extLst>
            </p:cNvPr>
            <p:cNvSpPr/>
            <p:nvPr/>
          </p:nvSpPr>
          <p:spPr>
            <a:xfrm>
              <a:off x="6443330" y="2756591"/>
              <a:ext cx="2247014" cy="426088"/>
            </a:xfrm>
            <a:custGeom>
              <a:avLst/>
              <a:gdLst>
                <a:gd name="csX0" fmla="*/ 2247014 w 2247014"/>
                <a:gd name="csY0" fmla="*/ 426088 h 426088"/>
                <a:gd name="csX1" fmla="*/ 1297172 w 2247014"/>
                <a:gd name="csY1" fmla="*/ 786 h 426088"/>
                <a:gd name="csX2" fmla="*/ 0 w 2247014"/>
                <a:gd name="csY2" fmla="*/ 319762 h 4260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47014" h="426088">
                  <a:moveTo>
                    <a:pt x="2247014" y="426088"/>
                  </a:moveTo>
                  <a:cubicBezTo>
                    <a:pt x="1959344" y="222297"/>
                    <a:pt x="1671674" y="18507"/>
                    <a:pt x="1297172" y="786"/>
                  </a:cubicBezTo>
                  <a:cubicBezTo>
                    <a:pt x="922670" y="-16935"/>
                    <a:pt x="211470" y="270144"/>
                    <a:pt x="0" y="319762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CCFE477B-F0CF-27F9-D333-0E02E695909E}"/>
                </a:ext>
              </a:extLst>
            </p:cNvPr>
            <p:cNvSpPr/>
            <p:nvPr/>
          </p:nvSpPr>
          <p:spPr>
            <a:xfrm>
              <a:off x="5507665" y="3182679"/>
              <a:ext cx="3175591" cy="1679944"/>
            </a:xfrm>
            <a:custGeom>
              <a:avLst/>
              <a:gdLst>
                <a:gd name="csX0" fmla="*/ 3175591 w 3175591"/>
                <a:gd name="csY0" fmla="*/ 0 h 1679944"/>
                <a:gd name="csX1" fmla="*/ 935665 w 3175591"/>
                <a:gd name="csY1" fmla="*/ 730102 h 1679944"/>
                <a:gd name="csX2" fmla="*/ 0 w 3175591"/>
                <a:gd name="csY2" fmla="*/ 1679944 h 1679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175591" h="1679944">
                  <a:moveTo>
                    <a:pt x="3175591" y="0"/>
                  </a:moveTo>
                  <a:cubicBezTo>
                    <a:pt x="2320260" y="225055"/>
                    <a:pt x="1464930" y="450111"/>
                    <a:pt x="935665" y="730102"/>
                  </a:cubicBezTo>
                  <a:cubicBezTo>
                    <a:pt x="406400" y="1010093"/>
                    <a:pt x="203200" y="1345018"/>
                    <a:pt x="0" y="1679944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BFF242E-38F3-AC1D-8CDE-0AE584EE5043}"/>
                  </a:ext>
                </a:extLst>
              </p:cNvPr>
              <p:cNvSpPr txBox="1"/>
              <p:nvPr/>
            </p:nvSpPr>
            <p:spPr>
              <a:xfrm>
                <a:off x="335915" y="4204647"/>
                <a:ext cx="2827074" cy="230832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What if we train a conditional flow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 for each phase to transform samples from a prior distribution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to samples from a distribution at any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BFF242E-38F3-AC1D-8CDE-0AE584EE5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15" y="4204647"/>
                <a:ext cx="2827074" cy="2308324"/>
              </a:xfrm>
              <a:prstGeom prst="rect">
                <a:avLst/>
              </a:prstGeom>
              <a:blipFill>
                <a:blip r:embed="rId13"/>
                <a:stretch>
                  <a:fillRect t="-538" b="-215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BEBC0D3C-BE82-4857-59D5-EB6EA1214FB6}"/>
              </a:ext>
            </a:extLst>
          </p:cNvPr>
          <p:cNvGrpSpPr/>
          <p:nvPr/>
        </p:nvGrpSpPr>
        <p:grpSpPr>
          <a:xfrm>
            <a:off x="5989493" y="3664688"/>
            <a:ext cx="3439643" cy="1948632"/>
            <a:chOff x="5989493" y="3664688"/>
            <a:chExt cx="3439643" cy="1948632"/>
          </a:xfrm>
        </p:grpSpPr>
        <p:sp>
          <p:nvSpPr>
            <p:cNvPr id="65" name="5-Point Star 64">
              <a:extLst>
                <a:ext uri="{FF2B5EF4-FFF2-40B4-BE49-F238E27FC236}">
                  <a16:creationId xmlns:a16="http://schemas.microsoft.com/office/drawing/2014/main" id="{DB1B44D2-1469-78D7-776C-50D4A4205010}"/>
                </a:ext>
              </a:extLst>
            </p:cNvPr>
            <p:cNvSpPr/>
            <p:nvPr/>
          </p:nvSpPr>
          <p:spPr>
            <a:xfrm>
              <a:off x="7690884" y="5358809"/>
              <a:ext cx="262949" cy="254511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8EF87A0-346B-7FC9-3CDF-D4171937CC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9493" y="5520808"/>
              <a:ext cx="156881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F24B07D9-EBBB-B460-585F-EF2EB49093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6584" y="4531678"/>
              <a:ext cx="1260253" cy="85982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C7449973-D9D1-787C-79E4-A54B196453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7905" y="3859674"/>
              <a:ext cx="978148" cy="138209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13864075-BEC9-868B-49F0-4B718EB6E8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2358" y="3664688"/>
              <a:ext cx="0" cy="157707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6F8D6943-3F83-1AB1-899F-AEBE5A17F219}"/>
                    </a:ext>
                  </a:extLst>
                </p:cNvPr>
                <p:cNvSpPr txBox="1"/>
                <p:nvPr/>
              </p:nvSpPr>
              <p:spPr>
                <a:xfrm>
                  <a:off x="7930392" y="4375529"/>
                  <a:ext cx="1498744" cy="2874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𝜱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𝒍𝒊𝒒</m:t>
                            </m:r>
                          </m:sup>
                        </m:s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6F8D6943-3F83-1AB1-899F-AEBE5A17F2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0392" y="4375529"/>
                  <a:ext cx="1498744" cy="287451"/>
                </a:xfrm>
                <a:prstGeom prst="rect">
                  <a:avLst/>
                </a:prstGeom>
                <a:blipFill>
                  <a:blip r:embed="rId14"/>
                  <a:stretch>
                    <a:fillRect l="-3361" t="-8333" r="-504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38311F6-6557-27C3-4B6F-36FE17A5C891}"/>
              </a:ext>
            </a:extLst>
          </p:cNvPr>
          <p:cNvGrpSpPr/>
          <p:nvPr/>
        </p:nvGrpSpPr>
        <p:grpSpPr>
          <a:xfrm>
            <a:off x="4014602" y="2076693"/>
            <a:ext cx="1806470" cy="2606419"/>
            <a:chOff x="4014602" y="2076693"/>
            <a:chExt cx="1806470" cy="2606419"/>
          </a:xfrm>
        </p:grpSpPr>
        <p:sp>
          <p:nvSpPr>
            <p:cNvPr id="66" name="5-Point Star 65">
              <a:extLst>
                <a:ext uri="{FF2B5EF4-FFF2-40B4-BE49-F238E27FC236}">
                  <a16:creationId xmlns:a16="http://schemas.microsoft.com/office/drawing/2014/main" id="{19945AF9-5175-3614-15A9-083404D14160}"/>
                </a:ext>
              </a:extLst>
            </p:cNvPr>
            <p:cNvSpPr/>
            <p:nvPr/>
          </p:nvSpPr>
          <p:spPr>
            <a:xfrm>
              <a:off x="4014602" y="2637035"/>
              <a:ext cx="262949" cy="254511"/>
            </a:xfrm>
            <a:prstGeom prst="star5">
              <a:avLst/>
            </a:prstGeom>
            <a:solidFill>
              <a:srgbClr val="1631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551B6170-24AD-CA41-3C78-4AE036CB4A00}"/>
                </a:ext>
              </a:extLst>
            </p:cNvPr>
            <p:cNvCxnSpPr>
              <a:cxnSpLocks/>
            </p:cNvCxnSpPr>
            <p:nvPr/>
          </p:nvCxnSpPr>
          <p:spPr>
            <a:xfrm>
              <a:off x="4146076" y="2969635"/>
              <a:ext cx="0" cy="1713477"/>
            </a:xfrm>
            <a:prstGeom prst="straightConnector1">
              <a:avLst/>
            </a:prstGeom>
            <a:ln>
              <a:solidFill>
                <a:srgbClr val="1631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A9B9A905-BD27-A934-B2F2-F0BFA7F038F8}"/>
                </a:ext>
              </a:extLst>
            </p:cNvPr>
            <p:cNvCxnSpPr>
              <a:cxnSpLocks/>
            </p:cNvCxnSpPr>
            <p:nvPr/>
          </p:nvCxnSpPr>
          <p:spPr>
            <a:xfrm>
              <a:off x="4298071" y="2952071"/>
              <a:ext cx="719359" cy="1219714"/>
            </a:xfrm>
            <a:prstGeom prst="straightConnector1">
              <a:avLst/>
            </a:prstGeom>
            <a:ln>
              <a:solidFill>
                <a:srgbClr val="1631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050E9C1-E213-C038-695E-29B77FF1E13D}"/>
                </a:ext>
              </a:extLst>
            </p:cNvPr>
            <p:cNvCxnSpPr>
              <a:cxnSpLocks/>
            </p:cNvCxnSpPr>
            <p:nvPr/>
          </p:nvCxnSpPr>
          <p:spPr>
            <a:xfrm>
              <a:off x="4359045" y="2802937"/>
              <a:ext cx="1403452" cy="755732"/>
            </a:xfrm>
            <a:prstGeom prst="straightConnector1">
              <a:avLst/>
            </a:prstGeom>
            <a:ln>
              <a:solidFill>
                <a:srgbClr val="1631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5F30CABF-369A-726B-E438-4104BEB7726C}"/>
                </a:ext>
              </a:extLst>
            </p:cNvPr>
            <p:cNvCxnSpPr>
              <a:cxnSpLocks/>
            </p:cNvCxnSpPr>
            <p:nvPr/>
          </p:nvCxnSpPr>
          <p:spPr>
            <a:xfrm>
              <a:off x="4414497" y="2694149"/>
              <a:ext cx="1406575" cy="0"/>
            </a:xfrm>
            <a:prstGeom prst="straightConnector1">
              <a:avLst/>
            </a:prstGeom>
            <a:ln>
              <a:solidFill>
                <a:srgbClr val="1631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80C0C9F-80BF-FC58-43FD-CC27C3AECF75}"/>
                    </a:ext>
                  </a:extLst>
                </p:cNvPr>
                <p:cNvSpPr txBox="1"/>
                <p:nvPr/>
              </p:nvSpPr>
              <p:spPr>
                <a:xfrm>
                  <a:off x="4259241" y="2076693"/>
                  <a:ext cx="1516377" cy="2874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1631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b="1" i="1" smtClean="0">
                                <a:solidFill>
                                  <a:srgbClr val="1631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𝜱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1631FF"/>
                                </a:solidFill>
                                <a:latin typeface="Cambria Math" panose="02040503050406030204" pitchFamily="18" charset="0"/>
                              </a:rPr>
                              <m:t>𝒔𝒐𝒍</m:t>
                            </m:r>
                          </m:sup>
                        </m:sSup>
                        <m:r>
                          <a:rPr lang="en-US" b="1" i="1" smtClean="0">
                            <a:solidFill>
                              <a:srgbClr val="1631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1631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solidFill>
                              <a:srgbClr val="1631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1631FF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b="1" i="1" smtClean="0">
                            <a:solidFill>
                              <a:srgbClr val="1631F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1" i="1" smtClean="0">
                            <a:solidFill>
                              <a:srgbClr val="1631FF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b="1" i="1" smtClean="0">
                            <a:solidFill>
                              <a:srgbClr val="1631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1631FF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b="1" i="1" smtClean="0">
                            <a:solidFill>
                              <a:srgbClr val="1631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solidFill>
                      <a:srgbClr val="1631FF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80C0C9F-80BF-FC58-43FD-CC27C3AEC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9241" y="2076693"/>
                  <a:ext cx="1516377" cy="287451"/>
                </a:xfrm>
                <a:prstGeom prst="rect">
                  <a:avLst/>
                </a:prstGeom>
                <a:blipFill>
                  <a:blip r:embed="rId15"/>
                  <a:stretch>
                    <a:fillRect l="-3333" t="-4167" r="-5833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E98C76-056E-6ADB-A2ED-9867724B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385DFE-515C-E6A9-72B0-E9925C079EE9}"/>
              </a:ext>
            </a:extLst>
          </p:cNvPr>
          <p:cNvSpPr txBox="1"/>
          <p:nvPr/>
        </p:nvSpPr>
        <p:spPr>
          <a:xfrm>
            <a:off x="335915" y="6590749"/>
            <a:ext cx="63746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[1] M.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Schebek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et al. 2024. Efficient mapping of phase diagrams with conditional Boltzmann Generators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. Mach. Learn.: Sci. Technol. 5 045045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451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>
            <a:extLst>
              <a:ext uri="{FF2B5EF4-FFF2-40B4-BE49-F238E27FC236}">
                <a16:creationId xmlns:a16="http://schemas.microsoft.com/office/drawing/2014/main" id="{1F6DFE35-9BDD-5D09-664E-5A4CE272B183}"/>
              </a:ext>
            </a:extLst>
          </p:cNvPr>
          <p:cNvSpPr txBox="1">
            <a:spLocks/>
          </p:cNvSpPr>
          <p:nvPr/>
        </p:nvSpPr>
        <p:spPr>
          <a:xfrm>
            <a:off x="341586" y="182944"/>
            <a:ext cx="10019740" cy="613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Conditional Boltzmann Generator Architecture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A4D40D9-9A6A-EB7C-F957-EA22BDB8FAE6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ounded Rectangle 96">
                <a:extLst>
                  <a:ext uri="{FF2B5EF4-FFF2-40B4-BE49-F238E27FC236}">
                    <a16:creationId xmlns:a16="http://schemas.microsoft.com/office/drawing/2014/main" id="{DA2CF85F-D4D1-5354-9D20-2443F0B5E99D}"/>
                  </a:ext>
                </a:extLst>
              </p:cNvPr>
              <p:cNvSpPr/>
              <p:nvPr/>
            </p:nvSpPr>
            <p:spPr>
              <a:xfrm>
                <a:off x="341585" y="1053865"/>
                <a:ext cx="11508828" cy="762566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 </a:t>
                </a:r>
                <a:r>
                  <a:rPr lang="en-US" i="1" dirty="0">
                    <a:solidFill>
                      <a:schemeClr val="tx1"/>
                    </a:solidFill>
                  </a:rPr>
                  <a:t>conditional Boltzmann generator </a:t>
                </a:r>
                <a:r>
                  <a:rPr lang="en-US" dirty="0">
                    <a:solidFill>
                      <a:schemeClr val="tx1"/>
                    </a:solidFill>
                  </a:rPr>
                  <a:t>transforms samples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serving as an alternative to NPT simulation.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generated from NPT simulation at reference state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7" name="Rounded Rectangle 96">
                <a:extLst>
                  <a:ext uri="{FF2B5EF4-FFF2-40B4-BE49-F238E27FC236}">
                    <a16:creationId xmlns:a16="http://schemas.microsoft.com/office/drawing/2014/main" id="{DA2CF85F-D4D1-5354-9D20-2443F0B5E9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85" y="1053865"/>
                <a:ext cx="11508828" cy="762566"/>
              </a:xfrm>
              <a:prstGeom prst="roundRect">
                <a:avLst/>
              </a:prstGeom>
              <a:blipFill>
                <a:blip r:embed="rId3"/>
                <a:stretch>
                  <a:fillRect b="-32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4" name="Picture 163" descr="A diagram of a diagram of a box&#10;&#10;AI-generated content may be incorrect.">
            <a:extLst>
              <a:ext uri="{FF2B5EF4-FFF2-40B4-BE49-F238E27FC236}">
                <a16:creationId xmlns:a16="http://schemas.microsoft.com/office/drawing/2014/main" id="{B139F5AC-896A-4C2F-F423-BE0F576794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14" r="41308"/>
          <a:stretch>
            <a:fillRect/>
          </a:stretch>
        </p:blipFill>
        <p:spPr>
          <a:xfrm>
            <a:off x="3171486" y="1870024"/>
            <a:ext cx="5849025" cy="2936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D60EC5BB-C127-5004-889F-649DEB1B7FAB}"/>
                  </a:ext>
                </a:extLst>
              </p:cNvPr>
              <p:cNvSpPr txBox="1"/>
              <p:nvPr/>
            </p:nvSpPr>
            <p:spPr>
              <a:xfrm>
                <a:off x="1383526" y="3222271"/>
                <a:ext cx="15823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D60EC5BB-C127-5004-889F-649DEB1B7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526" y="3222271"/>
                <a:ext cx="1582309" cy="369332"/>
              </a:xfrm>
              <a:prstGeom prst="rect">
                <a:avLst/>
              </a:prstGeom>
              <a:blipFill>
                <a:blip r:embed="rId5"/>
                <a:stretch>
                  <a:fillRect r="-8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644C6CAD-5C26-0872-0CBD-973776F063B9}"/>
                  </a:ext>
                </a:extLst>
              </p:cNvPr>
              <p:cNvSpPr txBox="1"/>
              <p:nvPr/>
            </p:nvSpPr>
            <p:spPr>
              <a:xfrm>
                <a:off x="8660295" y="3240162"/>
                <a:ext cx="15823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644C6CAD-5C26-0872-0CBD-973776F06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0295" y="3240162"/>
                <a:ext cx="1582309" cy="369332"/>
              </a:xfrm>
              <a:prstGeom prst="rect">
                <a:avLst/>
              </a:prstGeom>
              <a:blipFill>
                <a:blip r:embed="rId6"/>
                <a:stretch>
                  <a:fillRect r="-800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Rounded Rectangle 167">
                <a:extLst>
                  <a:ext uri="{FF2B5EF4-FFF2-40B4-BE49-F238E27FC236}">
                    <a16:creationId xmlns:a16="http://schemas.microsoft.com/office/drawing/2014/main" id="{C9F780CB-8191-BA8D-D538-9A0B0521853B}"/>
                  </a:ext>
                </a:extLst>
              </p:cNvPr>
              <p:cNvSpPr/>
              <p:nvPr/>
            </p:nvSpPr>
            <p:spPr>
              <a:xfrm>
                <a:off x="341585" y="4890472"/>
                <a:ext cx="11508828" cy="1669354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 KLD loss in this context must average over the “distribution” that generates the conditional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variables –</a:t>
                </a:r>
              </a:p>
              <a:p>
                <a:pPr algn="ctr"/>
                <a:endParaRPr lang="en-US" sz="8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𝔻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ℙ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en-US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det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𝐽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Φ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</m:e>
                                </m:d>
                              </m:e>
                            </m:func>
                          </m:e>
                        </m:d>
                      </m:e>
                      <m:sub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endParaRPr lang="en-US" sz="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uniform over the search space, </a:t>
                </a:r>
                <a:r>
                  <a:rPr lang="en-US" i="1" dirty="0">
                    <a:solidFill>
                      <a:schemeClr val="tx1"/>
                    </a:solidFill>
                  </a:rPr>
                  <a:t>no discretization of the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 plane is needed in this method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68" name="Rounded Rectangle 167">
                <a:extLst>
                  <a:ext uri="{FF2B5EF4-FFF2-40B4-BE49-F238E27FC236}">
                    <a16:creationId xmlns:a16="http://schemas.microsoft.com/office/drawing/2014/main" id="{C9F780CB-8191-BA8D-D538-9A0B052185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85" y="4890472"/>
                <a:ext cx="11508828" cy="1669354"/>
              </a:xfrm>
              <a:prstGeom prst="roundRect">
                <a:avLst/>
              </a:prstGeom>
              <a:blipFill>
                <a:blip r:embed="rId7"/>
                <a:stretch>
                  <a:fillRect b="-22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Slide Number Placeholder 168">
            <a:extLst>
              <a:ext uri="{FF2B5EF4-FFF2-40B4-BE49-F238E27FC236}">
                <a16:creationId xmlns:a16="http://schemas.microsoft.com/office/drawing/2014/main" id="{1EAADB95-3AED-7992-4BB1-B91D046FA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15839"/>
            <a:ext cx="2743200" cy="365125"/>
          </a:xfrm>
        </p:spPr>
        <p:txBody>
          <a:bodyPr/>
          <a:lstStyle/>
          <a:p>
            <a:fld id="{57FA8C4A-3364-AF4B-A283-FA38924849CE}" type="slidenum">
              <a:rPr lang="en-US" smtClean="0"/>
              <a:t>15</a:t>
            </a:fld>
            <a:endParaRPr lang="en-US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4598FFE-7F56-5A0F-01C1-CC500C8DBF6B}"/>
              </a:ext>
            </a:extLst>
          </p:cNvPr>
          <p:cNvSpPr txBox="1"/>
          <p:nvPr/>
        </p:nvSpPr>
        <p:spPr>
          <a:xfrm>
            <a:off x="335915" y="6590749"/>
            <a:ext cx="63746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[1] M.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Schebek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et al. 2024. Efficient mapping of phase diagrams with conditional Boltzmann Generators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. Mach. Learn.: Sci. Technol. 5 045045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557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1B17841-465E-A734-9C7B-5FEFD3B31BD5}"/>
              </a:ext>
            </a:extLst>
          </p:cNvPr>
          <p:cNvSpPr txBox="1">
            <a:spLocks/>
          </p:cNvSpPr>
          <p:nvPr/>
        </p:nvSpPr>
        <p:spPr>
          <a:xfrm>
            <a:off x="341585" y="182944"/>
            <a:ext cx="11203971" cy="613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Results – Training of Single-Point vs. Conditional Generators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77B548-2970-9531-431F-D8EC16C36285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B2AEAFE7-C45C-CB99-4091-F413B8C674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983"/>
          <a:stretch>
            <a:fillRect/>
          </a:stretch>
        </p:blipFill>
        <p:spPr>
          <a:xfrm>
            <a:off x="2833552" y="2267855"/>
            <a:ext cx="8225679" cy="44072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FFD2055-4492-D0F5-2F5F-E04991D4B6EA}"/>
                  </a:ext>
                </a:extLst>
              </p:cNvPr>
              <p:cNvSpPr/>
              <p:nvPr/>
            </p:nvSpPr>
            <p:spPr>
              <a:xfrm>
                <a:off x="341585" y="1004835"/>
                <a:ext cx="11508828" cy="1129901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is a better strategy - training a Boltzmann Generator (BG) to produce samples at a single point or throughout a continuous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region?</a:t>
                </a: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The authors compare these two approaches for a 180 particle, FCC Lennard-Jones Crystal. 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FFD2055-4492-D0F5-2F5F-E04991D4B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85" y="1004835"/>
                <a:ext cx="11508828" cy="11299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21E906E-FD25-1501-0ACC-1E1C4A22C7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843" t="3303" r="12468" b="2113"/>
          <a:stretch>
            <a:fillRect/>
          </a:stretch>
        </p:blipFill>
        <p:spPr>
          <a:xfrm>
            <a:off x="646576" y="3429000"/>
            <a:ext cx="1925492" cy="18288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BFD8166-6E09-B4AF-924A-3C1EF4FB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16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DA6C0-0979-DDE4-0A64-F517FAD5A495}"/>
              </a:ext>
            </a:extLst>
          </p:cNvPr>
          <p:cNvSpPr txBox="1"/>
          <p:nvPr/>
        </p:nvSpPr>
        <p:spPr>
          <a:xfrm>
            <a:off x="335915" y="6590749"/>
            <a:ext cx="63746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[1] M.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Schebek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et al. 2024. Efficient mapping of phase diagrams with conditional Boltzmann Generators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. Mach. Learn.: Sci. Technol. 5 045045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753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8B5FF12-DE22-0C79-3DAC-80CF01C2E460}"/>
              </a:ext>
            </a:extLst>
          </p:cNvPr>
          <p:cNvSpPr txBox="1">
            <a:spLocks/>
          </p:cNvSpPr>
          <p:nvPr/>
        </p:nvSpPr>
        <p:spPr>
          <a:xfrm>
            <a:off x="341585" y="182944"/>
            <a:ext cx="11203971" cy="613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Results – Phase Diagram of 180 LJ Particles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B580FF-ECB7-99D7-C542-8730F933CFDE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diagram of a liquid&#10;&#10;AI-generated content may be incorrect.">
            <a:extLst>
              <a:ext uri="{FF2B5EF4-FFF2-40B4-BE49-F238E27FC236}">
                <a16:creationId xmlns:a16="http://schemas.microsoft.com/office/drawing/2014/main" id="{1EFD084C-E193-DF17-12E0-EB9E47CE1B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00"/>
          <a:stretch>
            <a:fillRect/>
          </a:stretch>
        </p:blipFill>
        <p:spPr>
          <a:xfrm>
            <a:off x="250914" y="2010781"/>
            <a:ext cx="11385311" cy="3456431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8F00AE8-FA52-7AA1-207B-B97CB3009E1F}"/>
              </a:ext>
            </a:extLst>
          </p:cNvPr>
          <p:cNvSpPr/>
          <p:nvPr/>
        </p:nvSpPr>
        <p:spPr>
          <a:xfrm>
            <a:off x="341585" y="1004836"/>
            <a:ext cx="11508828" cy="72338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authors then use samples generated from a conditional Boltzmann Generator (CBG) to compute the solid-liquid coexistence line for 180 Lennard-Jones particles.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020CA49-540E-22E4-2EFF-AE450C6B6D16}"/>
              </a:ext>
            </a:extLst>
          </p:cNvPr>
          <p:cNvSpPr/>
          <p:nvPr/>
        </p:nvSpPr>
        <p:spPr>
          <a:xfrm>
            <a:off x="341585" y="5679312"/>
            <a:ext cx="11508828" cy="72338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CBG approach achieves very similar results and uncertainties to the MD+MBAR method, while the authors claim their results with the CBG </a:t>
            </a:r>
            <a:r>
              <a:rPr lang="en-US" b="1" i="1" dirty="0">
                <a:solidFill>
                  <a:schemeClr val="tx1"/>
                </a:solidFill>
              </a:rPr>
              <a:t>required 5 times less energy evaluations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6A76EA1-727F-048D-398E-05B61378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17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CC90DE-6212-0E73-7DE5-5B92578CA4A1}"/>
              </a:ext>
            </a:extLst>
          </p:cNvPr>
          <p:cNvSpPr txBox="1"/>
          <p:nvPr/>
        </p:nvSpPr>
        <p:spPr>
          <a:xfrm>
            <a:off x="335915" y="6590749"/>
            <a:ext cx="63746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[1] M.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</a:rPr>
              <a:t>Schebek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 et al. 2024. Efficient mapping of phase diagrams with conditional Boltzmann Generators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. Mach. Learn.: Sci. Technol. 5 045045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061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05AB52-43CB-655C-6883-C82EB90BB777}"/>
              </a:ext>
            </a:extLst>
          </p:cNvPr>
          <p:cNvSpPr txBox="1">
            <a:spLocks/>
          </p:cNvSpPr>
          <p:nvPr/>
        </p:nvSpPr>
        <p:spPr>
          <a:xfrm>
            <a:off x="341585" y="182944"/>
            <a:ext cx="11203971" cy="613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Open Questions / Food for Thought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EFE12E-EDF3-B7DC-33F4-879176F69DCB}"/>
              </a:ext>
            </a:extLst>
          </p:cNvPr>
          <p:cNvCxnSpPr/>
          <p:nvPr/>
        </p:nvCxnSpPr>
        <p:spPr>
          <a:xfrm>
            <a:off x="341586" y="881006"/>
            <a:ext cx="11508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3A984D9-6F8B-44D3-62CA-51ECBB57DE3E}"/>
              </a:ext>
            </a:extLst>
          </p:cNvPr>
          <p:cNvSpPr/>
          <p:nvPr/>
        </p:nvSpPr>
        <p:spPr>
          <a:xfrm>
            <a:off x="341586" y="1553466"/>
            <a:ext cx="11508828" cy="8605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How can we improve the efficiency/effectiveness of Boltzmann Generators for systems with large numbers of particles?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EAAC452-F6A4-95FD-D120-5078BFE8041F}"/>
              </a:ext>
            </a:extLst>
          </p:cNvPr>
          <p:cNvSpPr/>
          <p:nvPr/>
        </p:nvSpPr>
        <p:spPr>
          <a:xfrm>
            <a:off x="341585" y="2705620"/>
            <a:ext cx="11508828" cy="86054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We can efficiently map between systems at different temperature and pressure – can we map from an ideal gas state to liquid configurations? 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12DC85A-3D7B-8FBB-49A4-39DA79DE2FE3}"/>
              </a:ext>
            </a:extLst>
          </p:cNvPr>
          <p:cNvSpPr/>
          <p:nvPr/>
        </p:nvSpPr>
        <p:spPr>
          <a:xfrm>
            <a:off x="341585" y="3857764"/>
            <a:ext cx="11508828" cy="86054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Is there a way to efficiently generate mappings “on-the-fly” for any new system encountered? On the other hand, can we construct a BG “foundation model”?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003AC03-AF1E-B200-5661-000127DBB8EB}"/>
              </a:ext>
            </a:extLst>
          </p:cNvPr>
          <p:cNvSpPr/>
          <p:nvPr/>
        </p:nvSpPr>
        <p:spPr>
          <a:xfrm>
            <a:off x="341585" y="5009908"/>
            <a:ext cx="11508828" cy="72338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Does a mapping need to be “fully-expressive” to improve free energy estimates?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10946B4-2E7C-1FC1-8645-493371E25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8C4A-3364-AF4B-A283-FA38924849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2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7136</TotalTime>
  <Words>1780</Words>
  <Application>Microsoft Macintosh PowerPoint</Application>
  <PresentationFormat>Widescreen</PresentationFormat>
  <Paragraphs>229</Paragraphs>
  <Slides>18</Slides>
  <Notes>14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Baron</dc:creator>
  <cp:lastModifiedBy>Philippe Baron</cp:lastModifiedBy>
  <cp:revision>46</cp:revision>
  <dcterms:created xsi:type="dcterms:W3CDTF">2026-02-26T16:46:01Z</dcterms:created>
  <dcterms:modified xsi:type="dcterms:W3CDTF">2026-03-03T16:10:55Z</dcterms:modified>
</cp:coreProperties>
</file>